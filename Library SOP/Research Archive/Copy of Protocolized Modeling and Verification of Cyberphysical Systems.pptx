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y="6858000" cx="9144000"/>
  <p:notesSz cx="7559675" cy="10691800"/>
  <p:embeddedFontLst>
    <p:embeddedFont>
      <p:font typeface="Helvetica Neue"/>
      <p:regular r:id="rId101"/>
      <p:bold r:id="rId102"/>
      <p:italic r:id="rId103"/>
      <p:boldItalic r:id="rId104"/>
    </p:embeddedFont>
    <p:embeddedFont>
      <p:font typeface="Helvetica Neue Light"/>
      <p:regular r:id="rId105"/>
      <p:bold r:id="rId106"/>
      <p:italic r:id="rId107"/>
      <p:boldItalic r:id="rId10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5EF46D-E4A7-42D9-A3F4-12AEAF0B6DF7}">
  <a:tblStyle styleId="{0D5EF46D-E4A7-42D9-A3F4-12AEAF0B6D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8042A8D-3FC0-4FC3-A497-B9AE98D5CD2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HelveticaNeueLight-italic.fntdata"/><Relationship Id="rId106" Type="http://schemas.openxmlformats.org/officeDocument/2006/relationships/font" Target="fonts/HelveticaNeueLight-bold.fntdata"/><Relationship Id="rId105" Type="http://schemas.openxmlformats.org/officeDocument/2006/relationships/font" Target="fonts/HelveticaNeueLight-regular.fntdata"/><Relationship Id="rId104" Type="http://schemas.openxmlformats.org/officeDocument/2006/relationships/font" Target="fonts/HelveticaNeue-boldItalic.fntdata"/><Relationship Id="rId108" Type="http://schemas.openxmlformats.org/officeDocument/2006/relationships/font" Target="fonts/HelveticaNeueLight-bold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HelveticaNeue-italic.fntdata"/><Relationship Id="rId102" Type="http://schemas.openxmlformats.org/officeDocument/2006/relationships/font" Target="fonts/HelveticaNeue-bold.fntdata"/><Relationship Id="rId101" Type="http://schemas.openxmlformats.org/officeDocument/2006/relationships/font" Target="fonts/HelveticaNeue-regular.fntdata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b48c8fc5_0_3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6b48c8fc5_0_3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c6507fe51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c6507fe51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88efe08e9_0_10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88efe08e9_0_10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88efe08e9_0_1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88efe08e9_0_1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eab886f55_0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5eab886f55_0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e40eae9ca_0_3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e40eae9ca_0_3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88efe08e9_0_1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88efe08e9_0_1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d6c051119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d6c051119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d6c051119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d6c051119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d6c051119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d6c051119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d6c051119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d6c051119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d6c051119_0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d6c051119_0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d7dad31be_0_462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7d7dad31be_0_462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d7dad31be_0_518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7d7dad31be_0_518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7d7dad31be_0_518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d7dad31be_0_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d7dad31be_0_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d7dad31be_0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d7dad31be_0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d7dad31be_0_652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g37d7dad31be_0_652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7d7dad31be_0_652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d7dad31be_0_725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g37d7dad31be_0_725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7d7dad31be_0_725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d7dad31be_0_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d7dad31be_0_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d7dad31be_0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7d7dad31be_0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d7dad31be_0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d7dad31be_0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d7dad31be_0_8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7d7dad31be_0_8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d7dad31be_0_9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d7dad31be_0_9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e40eae9ca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7e40eae9ca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7d7dad31be_0_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7d7dad31be_0_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7d7dad31be_0_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7d7dad31be_0_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7d7dad31be_0_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7d7dad31be_0_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7d7dad31be_0_10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7d7dad31be_0_10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d7dad31be_0_5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7d7dad31be_0_5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7e40eae9ca_0_56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g37e40eae9ca_0_56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7e40eae9ca_0_56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7d7dad31be_0_35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7d7dad31be_0_35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d7dad31be_0_1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7d7dad31be_0_1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7d7dad31be_0_1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7d7dad31be_0_1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d7dad31be_0_10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7d7dad31be_0_10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d7dad31be_0_1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7d7dad31be_0_1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7e40eae9ca_0_157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7e40eae9ca_0_157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7e40eae9ca_0_157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e40eae9ca_0_170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g37e40eae9ca_0_170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7e40eae9ca_0_170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7e40eae9ca_0_183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g37e40eae9ca_0_183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7e40eae9ca_0_183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7e40eae9ca_0_196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0" name="Google Shape;610;g37e40eae9ca_0_196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7e40eae9ca_0_196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7e40eae9ca_0_289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7e40eae9ca_0_289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7e40eae9ca_0_289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0"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7e40eae9ca_0_379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g37e40eae9ca_0_379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7e40eae9ca_0_379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7e40eae9ca_0_407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g37e40eae9ca_0_407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7e40eae9ca_0_407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7e40eae9ca_0_415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1" name="Google Shape;681;g37e40eae9ca_0_415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7e40eae9ca_0_415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7d7dad31be_0_20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7d7dad31be_0_20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7d7dad31be_0_2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7d7dad31be_0_2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7d7dad31be_0_1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7d7dad31be_0_1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7d7dad31be_0_1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7d7dad31be_0_1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7e40eae9ca_0_495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7e40eae9ca_0_495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7e40eae9ca_0_553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7" name="Google Shape;747;g37e40eae9ca_0_553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7e40eae9ca_0_553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7e40eae9ca_0_566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g37e40eae9ca_0_566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7e40eae9ca_0_566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7e40eae9ca_0_583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3" name="Google Shape;783;g37e40eae9ca_0_583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7e40eae9ca_0_583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7e40eae9ca_0_603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g37e40eae9ca_0_603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7e40eae9ca_0_603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7e40eae9ca_0_629:notes"/>
          <p:cNvSpPr/>
          <p:nvPr>
            <p:ph idx="2" type="sldImg"/>
          </p:nvPr>
        </p:nvSpPr>
        <p:spPr>
          <a:xfrm>
            <a:off x="1300960" y="800825"/>
            <a:ext cx="49611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5" name="Google Shape;835;g37e40eae9ca_0_629:notes"/>
          <p:cNvSpPr txBox="1"/>
          <p:nvPr>
            <p:ph idx="1" type="body"/>
          </p:nvPr>
        </p:nvSpPr>
        <p:spPr>
          <a:xfrm>
            <a:off x="1007300" y="5078959"/>
            <a:ext cx="55452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25" spcFirstLastPara="1" rIns="102425" wrap="square" tIns="5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7e40eae9ca_0_629:notes"/>
          <p:cNvSpPr txBox="1"/>
          <p:nvPr>
            <p:ph idx="12" type="sldNum"/>
          </p:nvPr>
        </p:nvSpPr>
        <p:spPr>
          <a:xfrm>
            <a:off x="4283488" y="10156150"/>
            <a:ext cx="3276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00" lIns="102425" spcFirstLastPara="1" rIns="102425" wrap="square" tIns="51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7d7dad31be_0_20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7d7dad31be_0_20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d7dad31be_0_2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d7dad31be_0_2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7d7dad31be_0_2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7d7dad31be_0_2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7d7dad31be_0_25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7d7dad31be_0_25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7d7dad31be_0_2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7d7dad31be_0_2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7d7dad31be_0_26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7d7dad31be_0_26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7d7dad31be_0_27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7d7dad31be_0_27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7d7dad31be_0_2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7d7dad31be_0_2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7d7dad31be_0_2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7d7dad31be_0_2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7d7dad31be_0_2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7d7dad31be_0_2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7d7dad31be_0_2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7d7dad31be_0_2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7d7dad31be_0_29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7d7dad31be_0_29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7d7dad31be_0_27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7d7dad31be_0_27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7d7dad31be_0_30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7d7dad31be_0_30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7d7dad31be_0_3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7d7dad31be_0_3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7d7dad31be_0_3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7d7dad31be_0_3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7d7dad31be_0_3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7d7dad31be_0_3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7e40eae9ca_0_7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7e40eae9ca_0_7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7d7dad31be_0_3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7d7dad31be_0_3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7ed8f175b5_0_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7ed8f175b5_0_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7d7dad31be_0_3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7d7dad31be_0_3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7ef88a6c58_0_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37ef88a6c58_0_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7ef88a6c58_0_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7ef88a6c58_0_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7ef88a6c58_0_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7ef88a6c58_0_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5eab886f55_0_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g35eab886f55_0_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5eab886f55_0_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5eab886f55_0_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5eab886f55_0_8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5eab886f55_0_8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5eab886f55_0_20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g35eab886f55_0_20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5eab886f55_0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g35eab886f55_0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5eab886f55_0_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g35eab886f55_0_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5eab886f55_0_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35eab886f55_0_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5eab886f55_0_9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g35eab886f55_0_9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5eab886f55_0_1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g35eab886f55_0_1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7ef88a6c58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g37ef88a6c58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488efe08e9_0_5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488efe08e9_0_5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488efe08e9_0_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488efe08e9_0_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488efe08e9_0_9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3488efe08e9_0_9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488efe08e9_0_6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3488efe08e9_0_6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488efe08e9_0_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488efe08e9_0_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5eab886f55_0_1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g35eab886f55_0_1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457200" y="273600"/>
            <a:ext cx="82293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8"/>
          <p:cNvSpPr txBox="1"/>
          <p:nvPr>
            <p:ph idx="3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9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10"/>
          <p:cNvSpPr txBox="1"/>
          <p:nvPr>
            <p:ph idx="3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2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2"/>
          <p:cNvSpPr txBox="1"/>
          <p:nvPr>
            <p:ph idx="4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800" cy="39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800" cy="39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457200" y="273600"/>
            <a:ext cx="82293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21"/>
          <p:cNvSpPr txBox="1"/>
          <p:nvPr>
            <p:ph idx="3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6" name="Google Shape;106;p22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4"/>
          <p:cNvSpPr txBox="1"/>
          <p:nvPr>
            <p:ph idx="2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5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5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5"/>
          <p:cNvSpPr txBox="1"/>
          <p:nvPr>
            <p:ph idx="4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9" name="Google Shape;129;p26"/>
          <p:cNvSpPr txBox="1"/>
          <p:nvPr>
            <p:ph idx="2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130" name="Google Shape;13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800" cy="39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800" cy="397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3675600"/>
            <a:ext cx="9141000" cy="13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15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0"/>
            <a:ext cx="9141000" cy="3699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15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0"/>
            <a:ext cx="9141000" cy="3078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15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0" y="308160"/>
            <a:ext cx="9141000" cy="88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15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gineering-in-computer-science.cdl.unime.it" TargetMode="External"/><Relationship Id="rId4" Type="http://schemas.openxmlformats.org/officeDocument/2006/relationships/hyperlink" Target="https://unime.coursecatalogue.cineca.it/corsi/2025/10817?annoOrdinamento=2025" TargetMode="External"/><Relationship Id="rId5" Type="http://schemas.openxmlformats.org/officeDocument/2006/relationships/hyperlink" Target="https://unime.coursecatalogue.cineca.it/insegnamenti/2025/13302/2025/9999/10817?coorte=2025&amp;schemaid=13052" TargetMode="External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7.xml"/><Relationship Id="rId3" Type="http://schemas.openxmlformats.org/officeDocument/2006/relationships/hyperlink" Target="https://madebyevan.com/fsm/" TargetMode="External"/><Relationship Id="rId4" Type="http://schemas.openxmlformats.org/officeDocument/2006/relationships/hyperlink" Target="https://docs.google.com/document/d/1DzvnsMzFkEFj_1LLG4X4RuBPn5hr0HfKDQnxgUW4A4E/edit?usp=sharing" TargetMode="External"/><Relationship Id="rId5" Type="http://schemas.openxmlformats.org/officeDocument/2006/relationships/image" Target="../media/image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Relationship Id="rId3" Type="http://schemas.openxmlformats.org/officeDocument/2006/relationships/hyperlink" Target="https://books.google.it/books/about/Assembling_Smart_Cyber_Physical_Systems.html?id=_6smEQAAQBAJ" TargetMode="External"/><Relationship Id="rId4" Type="http://schemas.openxmlformats.org/officeDocument/2006/relationships/image" Target="../media/image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4.xml"/><Relationship Id="rId3" Type="http://schemas.openxmlformats.org/officeDocument/2006/relationships/hyperlink" Target="mailto:gmerlino@unime.it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0" y="2269097"/>
            <a:ext cx="91440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Cyber-Physical Systems</a:t>
            </a:r>
            <a:endParaRPr b="1" sz="4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3712" y="5993632"/>
            <a:ext cx="42099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prof. Giovanni Merlino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00" y="304800"/>
            <a:ext cx="4521201" cy="168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/>
          <p:nvPr/>
        </p:nvSpPr>
        <p:spPr>
          <a:xfrm>
            <a:off x="5153975" y="304800"/>
            <a:ext cx="3907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rgbClr val="FBFB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 Symposium </a:t>
            </a:r>
            <a:r>
              <a:rPr b="1" lang="it-IT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2025</a:t>
            </a:r>
            <a:endParaRPr sz="1800">
              <a:solidFill>
                <a:srgbClr val="FBFBF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FBFBF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15-19 September</a:t>
            </a:r>
            <a:endParaRPr sz="1600">
              <a:solidFill>
                <a:srgbClr val="FBFBF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FBFBF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FBFBF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Protocol </a:t>
            </a:r>
            <a:r>
              <a:rPr b="1" i="1" lang="it-IT" sz="1800">
                <a:solidFill>
                  <a:srgbClr val="FBFBF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School</a:t>
            </a:r>
            <a:endParaRPr sz="1600">
              <a:solidFill>
                <a:srgbClr val="FBFBF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0" y="4021697"/>
            <a:ext cx="91440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Protocolized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modeling and verification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42" name="Google Shape;142;p27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8121" y="5932196"/>
            <a:ext cx="2033475" cy="76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/>
        </p:nvSpPr>
        <p:spPr>
          <a:xfrm>
            <a:off x="3477000" y="6432481"/>
            <a:ext cx="2190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15 September 2025</a:t>
            </a:r>
            <a:endParaRPr b="1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9" name="Google Shape;149;p2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Agenda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Course summary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Domain topics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Protocolization in action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Prompts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Action items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Foresight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Related work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1" name="Google Shape;151;p2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7" name="Google Shape;157;p2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Curriculum: context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8" name="Google Shape;158;p29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egree course: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M.Eng. in Computer Science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(2-year)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direct offshoot of a CPS-oriented “track” which included, at the time, a CSE Ph.D. program in “Cyber-Physical Systems”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■"/>
            </a:pP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in turn, as an outcome of the infrastructure/automation/embedded systems-orientation, 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 researchers,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of the (core) team of instructors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in-person, taught in English (</a:t>
            </a: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cohorts with a 50/50 mix of Italian and international students</a:t>
            </a: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)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~50 students enrolled last year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frontpage: </a:t>
            </a:r>
            <a:r>
              <a:rPr lang="it-IT" sz="13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https://engineering-in-computer-science.cdl.unime.it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○"/>
            </a:pPr>
            <a:r>
              <a:rPr lang="it-IT" sz="13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https://unime.coursecatalogue.cineca.it/corsi/2025/10817?annoOrdinamento=2025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My involvement: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as </a:t>
            </a:r>
            <a:r>
              <a:rPr b="1" lang="it-IT" sz="1700">
                <a:latin typeface="Cambria"/>
                <a:ea typeface="Cambria"/>
                <a:cs typeface="Cambria"/>
                <a:sym typeface="Cambria"/>
              </a:rPr>
              <a:t>professor</a:t>
            </a: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 for one first-year subject (see below)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as </a:t>
            </a:r>
            <a:r>
              <a:rPr b="1" lang="it-IT" sz="1700">
                <a:latin typeface="Cambria"/>
                <a:ea typeface="Cambria"/>
                <a:cs typeface="Cambria"/>
                <a:sym typeface="Cambria"/>
              </a:rPr>
              <a:t>international </a:t>
            </a: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programs head for the degree course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mbria"/>
              <a:buChar char="○"/>
            </a:pP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as </a:t>
            </a:r>
            <a:r>
              <a:rPr b="1" lang="it-IT" sz="1700">
                <a:latin typeface="Cambria"/>
                <a:ea typeface="Cambria"/>
                <a:cs typeface="Cambria"/>
                <a:sym typeface="Cambria"/>
              </a:rPr>
              <a:t>deputy</a:t>
            </a: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 head (and curriculum </a:t>
            </a:r>
            <a:r>
              <a:rPr i="1" lang="it-IT" sz="1700">
                <a:latin typeface="Cambria"/>
                <a:ea typeface="Cambria"/>
                <a:cs typeface="Cambria"/>
                <a:sym typeface="Cambria"/>
              </a:rPr>
              <a:t>ghostwriter</a:t>
            </a:r>
            <a:r>
              <a:rPr lang="it-IT" sz="1700">
                <a:latin typeface="Cambria"/>
                <a:ea typeface="Cambria"/>
                <a:cs typeface="Cambria"/>
                <a:sym typeface="Cambria"/>
              </a:rPr>
              <a:t>) for the degree course</a:t>
            </a: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Subject: </a:t>
            </a:r>
            <a:r>
              <a:rPr b="1"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Industrial IoT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(spring semester, 24x 2-hr classes/labs)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○"/>
            </a:pPr>
            <a:r>
              <a:rPr lang="it-IT" sz="1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https://unime.coursecatalogue.cineca.it/insegnamenti/2025/13302/2025/9999/10817?coorte=2025&amp;schemaid=13052</a:t>
            </a:r>
            <a:r>
              <a:rPr lang="it-IT" sz="13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9" name="Google Shape;159;p29" title="SoP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IIoT c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ourse: syllabus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Summary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(spring ‘26)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Intro to IIoT/CPS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Enabling technologies for IIoT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Service-oriented IIoT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Industrial communication systems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CPS modeling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■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Digital Twin, Actor model, FSMs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Hybrid systems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■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modal/timed models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■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composition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■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hierarchy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Concurrency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■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SR, dataflow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Real-time (basics)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 programming (Rust)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Middleware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Design analysis and verification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7" name="Google Shape;167;p30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Background: What is the Internet of Things (aka IoT)</a:t>
            </a:r>
            <a:endParaRPr i="0" sz="31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</a:rPr>
              <a:t>🧠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Core Idea: IoT = Physical Objects + Internet + Intelligence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Devices that </a:t>
            </a:r>
            <a:r>
              <a:rPr lang="it-IT" sz="105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sense</a:t>
            </a:r>
            <a:r>
              <a:rPr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, communicate, and </a:t>
            </a:r>
            <a:r>
              <a:rPr lang="it-IT" sz="1050">
                <a:solidFill>
                  <a:srgbClr val="CC0000"/>
                </a:solidFill>
                <a:latin typeface="Cambria"/>
                <a:ea typeface="Cambria"/>
                <a:cs typeface="Cambria"/>
                <a:sym typeface="Cambria"/>
              </a:rPr>
              <a:t>act</a:t>
            </a:r>
            <a:r>
              <a:rPr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— without needing constant human input.</a:t>
            </a:r>
            <a:endParaRPr sz="1050">
              <a:solidFill>
                <a:srgbClr val="0E0E0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📱Examples You </a:t>
            </a:r>
            <a:r>
              <a:rPr b="1" lang="it-IT" sz="11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Already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Know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Smart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thermostats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Nest)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Wearables (e.g.,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smartwatches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Connected cars,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fridges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light bulbs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🌍 How It Works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Sensing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Data from the environment (temperature, motion, etc.)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Connectivity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Via Wi-Fi, Bluetooth, 5G, etc.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Processing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Locally (edge) or in the cloud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Action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Alerts, automation, or remote control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⚙️ Why It Matters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Efficiency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Automation saves time and resources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Data-driven insights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Real-time decision making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New capabilities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Smart homes, smart cities, industrial automation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🔐 Also Consider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Security &amp; Privacy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More devices = more risks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Interoperability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Devices need to “speak” the same language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🧩 In One Line: </a:t>
            </a:r>
            <a:r>
              <a:rPr i="1"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IoT </a:t>
            </a:r>
            <a:r>
              <a:rPr b="1" i="1" lang="it-IT" sz="105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connects</a:t>
            </a:r>
            <a:r>
              <a:rPr i="1"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the physical and digital worlds to make systems </a:t>
            </a:r>
            <a:r>
              <a:rPr b="1" i="1" lang="it-IT" sz="105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smarter</a:t>
            </a:r>
            <a:r>
              <a:rPr i="1"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, faster, and more responsive.</a:t>
            </a:r>
            <a:endParaRPr sz="2000">
              <a:solidFill>
                <a:schemeClr val="dk2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75" name="Google Shape;175;p3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Background: </a:t>
            </a: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What is a Cyber-Physical System, then</a:t>
            </a:r>
            <a:endParaRPr i="0" sz="31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</a:rPr>
              <a:t>🧠 C</a:t>
            </a: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ore Idea: CPS = Physical Systems + Computation + Control + Communication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They don’t just “connect” — they </a:t>
            </a:r>
            <a:r>
              <a:rPr b="1"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interact</a:t>
            </a:r>
            <a:r>
              <a:rPr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with the physical world in real-time.</a:t>
            </a:r>
            <a:endParaRPr sz="1150">
              <a:solidFill>
                <a:srgbClr val="0E0E0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🔄 How It Differs from IoT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See Table on the right </a:t>
            </a:r>
            <a:endParaRPr sz="2100">
              <a:solidFill>
                <a:schemeClr val="dk2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🏗️ Typical Components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Sensors &amp; </a:t>
            </a:r>
            <a:r>
              <a:rPr b="1" lang="it-IT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Actuators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Measure &amp; act on the physical world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t-IT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Embedded</a:t>
            </a: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Computers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Local decision-making, real-time control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t-IT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Communication</a:t>
            </a: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Network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Coordinated behavior (wired/wireless)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it-IT" sz="12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Control</a:t>
            </a: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Algorithms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Feedback loops (e.g., PID, MPC)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🚗 Examples in Action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Self-driving cars maintaining lane &amp; speed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Industrial robots assembling parts in sync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Smart grids balancing supply/demand in real time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⚠️ Why It’s Critical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Timing matters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Delays can be catastrophic (e.g., braking system)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Safety-critical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Often (heavily-)regulated (e.g., aerospace, medical devices)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🧩 In One Line: </a:t>
            </a:r>
            <a:r>
              <a:rPr i="1"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CPS are intelligent systems where software and </a:t>
            </a:r>
            <a:r>
              <a:rPr b="1" i="1" lang="it-IT" sz="115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physical processes</a:t>
            </a:r>
            <a:r>
              <a:rPr i="1"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are </a:t>
            </a:r>
            <a:r>
              <a:rPr b="1" i="1" lang="it-IT" sz="1150" u="sng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tightly intertwined</a:t>
            </a:r>
            <a:r>
              <a:rPr i="1" lang="it-IT" sz="11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3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aphicFrame>
        <p:nvGraphicFramePr>
          <p:cNvPr id="183" name="Google Shape;183;p32"/>
          <p:cNvGraphicFramePr/>
          <p:nvPr/>
        </p:nvGraphicFramePr>
        <p:xfrm>
          <a:off x="4895938" y="400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{0D5EF46D-E4A7-42D9-A3F4-12AEAF0B6DF7}</a:tableStyleId>
              </a:tblPr>
              <a:tblGrid>
                <a:gridCol w="768950"/>
                <a:gridCol w="1324525"/>
                <a:gridCol w="18656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7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Feature</a:t>
                      </a:r>
                      <a:endParaRPr b="1" sz="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7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IoT</a:t>
                      </a:r>
                      <a:endParaRPr b="1" sz="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7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CPS</a:t>
                      </a:r>
                      <a:endParaRPr b="1" sz="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24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Focus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Connectivity &amp; data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Real-time control &amp; system behavior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24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Intelligence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Often cloud-based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Often embedded, feedback-driven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24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Examples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Smart plugs, fitness trackers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it-IT" sz="9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Autonomous cars, drones, robotic arms</a:t>
                      </a:r>
                      <a:endParaRPr sz="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4" name="Google Shape;184;p3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0" name="Google Shape;190;p3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9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IIoT course: SoP’25 module development</a:t>
            </a:r>
            <a:endParaRPr i="0" sz="39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Cambria"/>
              <a:buChar char="●"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Design analysis and verification (3-4 classes/labs)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invariants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logics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equivalence/refinement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simulation/bisimilarity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reachability analysis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protocol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1" lang="it-IT" sz="1800">
                <a:latin typeface="Cambria"/>
                <a:ea typeface="Cambria"/>
                <a:cs typeface="Cambria"/>
                <a:sym typeface="Cambria"/>
              </a:rPr>
              <a:t>pilled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modeling and verification/synthesis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mbria"/>
              <a:buChar char="■"/>
            </a:pP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not about “protocols” (i.e., </a:t>
            </a:r>
            <a:r>
              <a:rPr b="1" lang="it-IT" sz="1500">
                <a:latin typeface="Cambria"/>
                <a:ea typeface="Cambria"/>
                <a:cs typeface="Cambria"/>
                <a:sym typeface="Cambria"/>
              </a:rPr>
              <a:t>Internet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protocols per se), as there’s a </a:t>
            </a:r>
            <a:r>
              <a:rPr i="1" lang="it-IT" sz="1500">
                <a:latin typeface="Cambria"/>
                <a:ea typeface="Cambria"/>
                <a:cs typeface="Cambria"/>
                <a:sym typeface="Cambria"/>
              </a:rPr>
              <a:t>whole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first half of the course on that!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●"/>
            </a:pPr>
            <a:r>
              <a:rPr lang="it-IT" sz="1200">
                <a:latin typeface="Cambria"/>
                <a:ea typeface="Cambria"/>
                <a:cs typeface="Cambria"/>
                <a:sym typeface="Cambria"/>
              </a:rPr>
              <a:t>not even about (CPS) modeling/verification per se, given it was part of the syllabus already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mbria"/>
              <a:buChar char="■"/>
            </a:pP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more about </a:t>
            </a:r>
            <a:r>
              <a:rPr b="1" lang="it-IT" sz="1500">
                <a:latin typeface="Cambria"/>
                <a:ea typeface="Cambria"/>
                <a:cs typeface="Cambria"/>
                <a:sym typeface="Cambria"/>
              </a:rPr>
              <a:t>explicitation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of trade-offs, constraints, </a:t>
            </a:r>
            <a:r>
              <a:rPr i="1" lang="it-IT" sz="1500">
                <a:latin typeface="Cambria"/>
                <a:ea typeface="Cambria"/>
                <a:cs typeface="Cambria"/>
                <a:sym typeface="Cambria"/>
              </a:rPr>
              <a:t>hidden assumptions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b="1" i="1" lang="it-IT" sz="1500">
                <a:latin typeface="Cambria"/>
                <a:ea typeface="Cambria"/>
                <a:cs typeface="Cambria"/>
                <a:sym typeface="Cambria"/>
              </a:rPr>
              <a:t>observability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, cf. SIGFPT), modeling </a:t>
            </a:r>
            <a:r>
              <a:rPr b="1" lang="it-IT" sz="1500">
                <a:latin typeface="Cambria"/>
                <a:ea typeface="Cambria"/>
                <a:cs typeface="Cambria"/>
                <a:sym typeface="Cambria"/>
              </a:rPr>
              <a:t>streamlining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(notation/calculi generalizations, Fermi-Dyson </a:t>
            </a:r>
            <a:r>
              <a:rPr b="1" i="1" lang="it-IT" sz="1500">
                <a:latin typeface="Cambria"/>
                <a:ea typeface="Cambria"/>
                <a:cs typeface="Cambria"/>
                <a:sym typeface="Cambria"/>
              </a:rPr>
              <a:t>shortcuts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; again, cf. SIGFPT) and </a:t>
            </a:r>
            <a:r>
              <a:rPr b="1" lang="it-IT" sz="1500">
                <a:latin typeface="Cambria"/>
                <a:ea typeface="Cambria"/>
                <a:cs typeface="Cambria"/>
                <a:sym typeface="Cambria"/>
              </a:rPr>
              <a:t>higher-order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quantifiers (</a:t>
            </a:r>
            <a:r>
              <a:rPr b="1" i="1" lang="it-IT" sz="1500">
                <a:latin typeface="Cambria"/>
                <a:ea typeface="Cambria"/>
                <a:cs typeface="Cambria"/>
                <a:sym typeface="Cambria"/>
              </a:rPr>
              <a:t>hyperproperties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)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mbria"/>
              <a:buChar char="■"/>
            </a:pP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starting to </a:t>
            </a:r>
            <a:r>
              <a:rPr b="1" lang="it-IT" sz="1500">
                <a:latin typeface="Cambria"/>
                <a:ea typeface="Cambria"/>
                <a:cs typeface="Cambria"/>
                <a:sym typeface="Cambria"/>
              </a:rPr>
              <a:t>internalize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man-machine interactions in the </a:t>
            </a:r>
            <a:r>
              <a:rPr i="1" lang="it-IT" sz="1500">
                <a:latin typeface="Cambria"/>
                <a:ea typeface="Cambria"/>
                <a:cs typeface="Cambria"/>
                <a:sym typeface="Cambria"/>
              </a:rPr>
              <a:t>design phase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, at modeling (and model-checking/verification) stage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mbria"/>
              <a:buChar char="■"/>
            </a:pP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trying to state (and </a:t>
            </a:r>
            <a:r>
              <a:rPr b="1" lang="it-IT" sz="1500">
                <a:latin typeface="Cambria"/>
                <a:ea typeface="Cambria"/>
                <a:cs typeface="Cambria"/>
                <a:sym typeface="Cambria"/>
              </a:rPr>
              <a:t>improve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upon) what is </a:t>
            </a:r>
            <a:r>
              <a:rPr i="1" lang="it-IT" sz="1500">
                <a:latin typeface="Cambria"/>
                <a:ea typeface="Cambria"/>
                <a:cs typeface="Cambria"/>
                <a:sym typeface="Cambria"/>
              </a:rPr>
              <a:t>out-of-scope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as well (what protocol </a:t>
            </a:r>
            <a:r>
              <a:rPr i="1" lang="it-IT" sz="1500">
                <a:latin typeface="Cambria"/>
                <a:ea typeface="Cambria"/>
                <a:cs typeface="Cambria"/>
                <a:sym typeface="Cambria"/>
              </a:rPr>
              <a:t>“is not”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about, very </a:t>
            </a:r>
            <a:r>
              <a:rPr lang="it-IT" sz="1500" u="sng">
                <a:latin typeface="Cambria"/>
                <a:ea typeface="Cambria"/>
                <a:cs typeface="Cambria"/>
                <a:sym typeface="Cambria"/>
              </a:rPr>
              <a:t>hard</a:t>
            </a:r>
            <a:r>
              <a:rPr lang="it-IT" sz="1500">
                <a:latin typeface="Cambria"/>
                <a:ea typeface="Cambria"/>
                <a:cs typeface="Cambria"/>
                <a:sym typeface="Cambria"/>
              </a:rPr>
              <a:t> of course)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2" name="Google Shape;192;p3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8" name="Google Shape;198;p3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Design analysis and verification</a:t>
            </a: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(current)</a:t>
            </a: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 deep-dive</a:t>
            </a:r>
            <a:endParaRPr sz="3100">
              <a:solidFill>
                <a:srgbClr val="424456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1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(hopefully, “vibe-dive” actually)</a:t>
            </a:r>
            <a:endParaRPr sz="3100">
              <a:solidFill>
                <a:srgbClr val="424456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455525" y="1249675"/>
            <a:ext cx="8173800" cy="4920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temporal logics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Linear Temporal Logic (LTL)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equivalence/refinement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compatibility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language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containment</a:t>
            </a:r>
            <a:endParaRPr i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simulation/bisimilarity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specialization as dual to sim (“matching game”) 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bisim as stronger form of equivalence (e.g., non-deterministic FSMs)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reachability analysis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safety/liveness (invariants)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explicit-state/symbolic approaches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modeling and verification/synthesis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abstractions (vs. refinements; soundness)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counterexample-guided abstraction refinement (CEGAR)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automata-theoretic approaches (e.g., liveness, based on Büchi automata)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(semi)automatic synthesis (specs + examples -&gt; solver + components)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0" name="Google Shape;200;p3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4"/>
          <p:cNvSpPr txBox="1"/>
          <p:nvPr/>
        </p:nvSpPr>
        <p:spPr>
          <a:xfrm>
            <a:off x="455525" y="6283300"/>
            <a:ext cx="663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credits: contents here draw heavily from Berkeley’s E. A. Lee textbook “Introduction to Embedded Systems - a Cyber-Physical Systems approach”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3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A step back: Models of Computation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8" name="Google Shape;208;p35"/>
          <p:cNvSpPr/>
          <p:nvPr/>
        </p:nvSpPr>
        <p:spPr>
          <a:xfrm>
            <a:off x="455525" y="1249675"/>
            <a:ext cx="8173800" cy="56082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MoC - </a:t>
            </a: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semantics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concurrent composition of components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omponents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Actors),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oncurrency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ommunication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(mechanisms)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Actors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encapsulate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some internal behavioral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modeling atom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e.g.,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FSM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classes of concurrent MoCs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Synchronous-Reactive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(SR) - still FSM-alike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feedback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with operating point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DataFlow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(DF) - actor-like only, tokens (vs. state)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firing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rules/actions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Petri Nets as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token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-based variant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Kahn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process networks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(PN)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process/token-based, blocking reads, non-blocking writes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Rendezvous</a:t>
            </a:r>
            <a:endParaRPr i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blocking writes, basis for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Communicating Sequential Processes, aka CSP (</a:t>
            </a:r>
            <a:r>
              <a:rPr i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Tony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Hoare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alculus of Communicating Systems, aka CCS (</a:t>
            </a:r>
            <a:r>
              <a:rPr i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Robin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Milner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○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π-calculus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○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bigraphs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Timed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(concurrent) MoCs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Discrete-Event, e.g., DEVS - event-driven (Actor-like)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non-zero (Moore FSM) state lifespan, timestamped event queue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9" name="Google Shape;209;p3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5" name="Google Shape;215;p3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>
                <a:latin typeface="Helvetica Neue Light"/>
                <a:ea typeface="Helvetica Neue Light"/>
                <a:cs typeface="Helvetica Neue Light"/>
                <a:sym typeface="Helvetica Neue Light"/>
              </a:rPr>
              <a:t>The engineering perspective: when is a design correct?</a:t>
            </a:r>
            <a:endParaRPr i="0" sz="29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6" name="Google Shape;216;p36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●"/>
            </a:pP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when it meets its 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specification</a:t>
            </a: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(requirements) in its operating environment</a:t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●"/>
            </a:pP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design without specification cannot be right or wrong, it can only be </a:t>
            </a:r>
            <a:r>
              <a:rPr b="1"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surprising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!”</a:t>
            </a:r>
            <a:endParaRPr i="1"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(paraphrased, Young et al. 1986)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●"/>
            </a:pP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simply running a few (ad-hoc) tests is not enough!</a:t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○"/>
            </a:pP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many embedded systems are deployed in 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safety-critical</a:t>
            </a: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applications (avionics, automotive, medical, …).</a:t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7" name="Google Shape;217;p36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3" name="Google Shape;223;p3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Specification, verification, and synthesis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4" name="Google Shape;224;p37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ria"/>
              <a:buChar char="●"/>
            </a:pPr>
            <a:r>
              <a:rPr b="1" lang="it-IT" sz="3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Specification</a:t>
            </a:r>
            <a:endParaRPr b="1" sz="3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○"/>
            </a:pP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mathematical 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statement</a:t>
            </a: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the design goals - desired properties of the system</a:t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ria"/>
              <a:buChar char="●"/>
            </a:pPr>
            <a:r>
              <a:rPr b="1" lang="it-IT" sz="3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Verification</a:t>
            </a:r>
            <a:endParaRPr b="1" sz="3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○"/>
            </a:pP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does the designed system 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meet</a:t>
            </a: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prospected goals, in the operating environment?</a:t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ria"/>
              <a:buChar char="●"/>
            </a:pPr>
            <a:r>
              <a:rPr b="1" lang="it-IT" sz="3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Synthesis (e.g., of a controller)</a:t>
            </a:r>
            <a:endParaRPr b="1" sz="3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○"/>
            </a:pP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given an 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incomplete</a:t>
            </a: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design, generate a </a:t>
            </a:r>
            <a:r>
              <a:rPr i="1"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strategy</a:t>
            </a:r>
            <a:r>
              <a:rPr lang="it-IT" sz="2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that guarantees the system meets its goals</a:t>
            </a:r>
            <a:endParaRPr sz="2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5" name="Google Shape;225;p3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1" name="Google Shape;231;p3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>
                <a:latin typeface="Helvetica Neue Light"/>
                <a:ea typeface="Helvetica Neue Light"/>
                <a:cs typeface="Helvetica Neue Light"/>
                <a:sym typeface="Helvetica Neue Light"/>
              </a:rPr>
              <a:t>Model-based Design: Verification &amp; Synthesis</a:t>
            </a:r>
            <a:endParaRPr i="0" sz="36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685795" y="2286005"/>
            <a:ext cx="548694" cy="623430"/>
          </a:xfrm>
          <a:prstGeom prst="flowChartDocument">
            <a:avLst/>
          </a:prstGeom>
          <a:solidFill>
            <a:srgbClr val="99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8"/>
          <p:cNvSpPr/>
          <p:nvPr/>
        </p:nvSpPr>
        <p:spPr>
          <a:xfrm>
            <a:off x="685795" y="3539830"/>
            <a:ext cx="548694" cy="623430"/>
          </a:xfrm>
          <a:prstGeom prst="flowChartDocumen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8"/>
          <p:cNvSpPr txBox="1"/>
          <p:nvPr/>
        </p:nvSpPr>
        <p:spPr>
          <a:xfrm>
            <a:off x="394862" y="1766461"/>
            <a:ext cx="110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Model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41564" y="4225636"/>
            <a:ext cx="193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Requirements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6" name="Google Shape;236;p38"/>
          <p:cNvSpPr/>
          <p:nvPr/>
        </p:nvSpPr>
        <p:spPr>
          <a:xfrm>
            <a:off x="2431475" y="2228161"/>
            <a:ext cx="4966800" cy="1787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latin typeface="Cambria"/>
                <a:ea typeface="Cambria"/>
                <a:cs typeface="Cambria"/>
                <a:sym typeface="Cambria"/>
              </a:rPr>
              <a:t>Verifier</a:t>
            </a:r>
            <a:endParaRPr sz="3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 ⊨</a:t>
            </a:r>
            <a:r>
              <a:rPr lang="it-IT" sz="1200">
                <a:solidFill>
                  <a:schemeClr val="dk1"/>
                </a:solidFill>
              </a:rPr>
              <a:t>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does model satisfy specs?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38"/>
          <p:cNvCxnSpPr/>
          <p:nvPr/>
        </p:nvCxnSpPr>
        <p:spPr>
          <a:xfrm>
            <a:off x="1234489" y="2535374"/>
            <a:ext cx="119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8"/>
          <p:cNvCxnSpPr/>
          <p:nvPr/>
        </p:nvCxnSpPr>
        <p:spPr>
          <a:xfrm>
            <a:off x="1241417" y="3789210"/>
            <a:ext cx="119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8"/>
          <p:cNvCxnSpPr/>
          <p:nvPr/>
        </p:nvCxnSpPr>
        <p:spPr>
          <a:xfrm>
            <a:off x="7377548" y="2493811"/>
            <a:ext cx="78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8"/>
          <p:cNvCxnSpPr/>
          <p:nvPr/>
        </p:nvCxnSpPr>
        <p:spPr>
          <a:xfrm>
            <a:off x="7405257" y="3747648"/>
            <a:ext cx="78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8"/>
          <p:cNvSpPr txBox="1"/>
          <p:nvPr/>
        </p:nvSpPr>
        <p:spPr>
          <a:xfrm>
            <a:off x="8342826" y="2232211"/>
            <a:ext cx="5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No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8245848" y="3486036"/>
            <a:ext cx="78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Yes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43" name="Google Shape;243;p38"/>
          <p:cNvCxnSpPr/>
          <p:nvPr/>
        </p:nvCxnSpPr>
        <p:spPr>
          <a:xfrm rot="10800000">
            <a:off x="8167250" y="3761336"/>
            <a:ext cx="0" cy="87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4" name="Google Shape;244;p38"/>
          <p:cNvSpPr txBox="1"/>
          <p:nvPr/>
        </p:nvSpPr>
        <p:spPr>
          <a:xfrm>
            <a:off x="7272799" y="4578111"/>
            <a:ext cx="178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Synthesize system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45" name="Google Shape;245;p38"/>
          <p:cNvCxnSpPr/>
          <p:nvPr/>
        </p:nvCxnSpPr>
        <p:spPr>
          <a:xfrm>
            <a:off x="8146475" y="1787243"/>
            <a:ext cx="0" cy="70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8"/>
          <p:cNvCxnSpPr/>
          <p:nvPr/>
        </p:nvCxnSpPr>
        <p:spPr>
          <a:xfrm rot="10800000">
            <a:off x="1828775" y="1808018"/>
            <a:ext cx="631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8"/>
          <p:cNvCxnSpPr/>
          <p:nvPr/>
        </p:nvCxnSpPr>
        <p:spPr>
          <a:xfrm>
            <a:off x="1849593" y="1808018"/>
            <a:ext cx="0" cy="477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8"/>
          <p:cNvSpPr txBox="1"/>
          <p:nvPr/>
        </p:nvSpPr>
        <p:spPr>
          <a:xfrm>
            <a:off x="1669506" y="1295400"/>
            <a:ext cx="668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Use </a:t>
            </a:r>
            <a:r>
              <a:rPr b="1" lang="it-IT" sz="2200">
                <a:latin typeface="Cambria"/>
                <a:ea typeface="Cambria"/>
                <a:cs typeface="Cambria"/>
                <a:sym typeface="Cambria"/>
              </a:rPr>
              <a:t>error trace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 information to revise model/specs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455525" y="5440000"/>
            <a:ext cx="8173800" cy="1239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mbria"/>
              <a:buChar char="●"/>
            </a:pPr>
            <a:r>
              <a:rPr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need for a </a:t>
            </a:r>
            <a:r>
              <a:rPr i="1"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formal</a:t>
            </a:r>
            <a:r>
              <a:rPr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way to write </a:t>
            </a:r>
            <a:r>
              <a:rPr b="1"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models</a:t>
            </a:r>
            <a:r>
              <a:rPr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requirements </a:t>
            </a:r>
            <a:r>
              <a:rPr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specifications</a:t>
            </a:r>
            <a:r>
              <a:rPr lang="it-IT" sz="2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so that an algorithm can process them</a:t>
            </a:r>
            <a:endParaRPr sz="2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p38"/>
          <p:cNvSpPr/>
          <p:nvPr/>
        </p:nvSpPr>
        <p:spPr>
          <a:xfrm rot="5400000">
            <a:off x="884202" y="4431809"/>
            <a:ext cx="172500" cy="1035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7" name="Google Shape;257;p3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Temporal Logic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8" name="Google Shape;258;p39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formal way to express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properties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a system </a:t>
            </a:r>
            <a:r>
              <a:rPr i="1" lang="it-IT" sz="2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over time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more precisely, along its </a:t>
            </a:r>
            <a:r>
              <a:rPr b="1"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 evolution</a:t>
            </a:r>
            <a:endParaRPr b="1" i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behavior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an FSM (or hybrid system representation)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many flavors of Temporal Logic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Propositional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Temporal Logic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Real-Time Temporal Logic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Signal Temporal Logic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Amir Pnueli won ACM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Turing Award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in part, for the idea of using temporal logic for specification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59" name="Google Shape;259;p39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Atomic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formulas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statements about an input, output, or state of a state machine (at the current time)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Examples: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These are propositions (true or false statements) about a state machine with input or output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state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65" name="Google Shape;265;p40"/>
          <p:cNvGraphicFramePr/>
          <p:nvPr/>
        </p:nvGraphicFramePr>
        <p:xfrm>
          <a:off x="1494414" y="32413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{A8042A8D-3FC0-4FC3-A497-B9AE98D5CD2B}</a:tableStyleId>
              </a:tblPr>
              <a:tblGrid>
                <a:gridCol w="1676400"/>
                <a:gridCol w="44196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formula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meaning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</a:t>
                      </a:r>
                      <a:endParaRPr i="0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is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present</a:t>
                      </a:r>
                      <a:endParaRPr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= 1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endParaRPr i="0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is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present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and has value 1</a:t>
                      </a:r>
                      <a:endParaRPr i="1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</a:t>
                      </a:r>
                      <a:endParaRPr i="0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machine is in state </a:t>
                      </a:r>
                      <a:r>
                        <a:rPr i="1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</a:t>
                      </a:r>
                      <a:endParaRPr i="0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p4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Propositional Logic: atoms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7" name="Google Shape;267;p4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68" name="Google Shape;268;p40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Propositional logic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formulas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more elaborate statements about an input, output, or state of a state machine (at the current time)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Examples: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Here,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are propositional logic formulas (which could be atomic formulas)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75" name="Google Shape;275;p41"/>
          <p:cNvGraphicFramePr/>
          <p:nvPr/>
        </p:nvGraphicFramePr>
        <p:xfrm>
          <a:off x="16002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{A8042A8D-3FC0-4FC3-A497-B9AE98D5CD2B}</a:tableStyleId>
              </a:tblPr>
              <a:tblGrid>
                <a:gridCol w="1676400"/>
                <a:gridCol w="44196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formula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meaning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lang="it-IT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∧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and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are both true </a:t>
                      </a:r>
                      <a:endParaRPr sz="24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∨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either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or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is true</a:t>
                      </a:r>
                      <a:endParaRPr b="0" i="1" sz="2400" u="none" cap="none" strike="noStrike">
                        <a:solidFill>
                          <a:srgbClr val="33666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⟹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if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is true, then so is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¬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aseline="-25000" i="0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true if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is false</a:t>
                      </a:r>
                      <a:endParaRPr b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4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Propositional Logic: formulas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77" name="Google Shape;277;p4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78" name="Google Shape;278;p4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4" name="Google Shape;284;p4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Execution Trace of a State Machine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5" name="Google Shape;285;p42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execution trace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sequence of the form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with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(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where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the state at step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the input valuation at step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the output valuation at step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endParaRPr i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Alternative notation: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     s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     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86" name="Google Shape;286;p42"/>
          <p:cNvCxnSpPr/>
          <p:nvPr/>
        </p:nvCxnSpPr>
        <p:spPr>
          <a:xfrm>
            <a:off x="2501495" y="6152323"/>
            <a:ext cx="78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p42"/>
          <p:cNvCxnSpPr/>
          <p:nvPr/>
        </p:nvCxnSpPr>
        <p:spPr>
          <a:xfrm>
            <a:off x="3575056" y="6152605"/>
            <a:ext cx="78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" name="Google Shape;288;p42"/>
          <p:cNvCxnSpPr/>
          <p:nvPr/>
        </p:nvCxnSpPr>
        <p:spPr>
          <a:xfrm>
            <a:off x="4665519" y="6144435"/>
            <a:ext cx="78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9" name="Google Shape;289;p42"/>
          <p:cNvSpPr txBox="1"/>
          <p:nvPr/>
        </p:nvSpPr>
        <p:spPr>
          <a:xfrm>
            <a:off x="2501494" y="5628381"/>
            <a:ext cx="7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2000"/>
          </a:p>
        </p:txBody>
      </p:sp>
      <p:sp>
        <p:nvSpPr>
          <p:cNvPr id="290" name="Google Shape;290;p42"/>
          <p:cNvSpPr txBox="1"/>
          <p:nvPr/>
        </p:nvSpPr>
        <p:spPr>
          <a:xfrm>
            <a:off x="3575055" y="5628663"/>
            <a:ext cx="7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/>
          </a:p>
        </p:txBody>
      </p:sp>
      <p:sp>
        <p:nvSpPr>
          <p:cNvPr id="291" name="Google Shape;291;p42"/>
          <p:cNvSpPr txBox="1"/>
          <p:nvPr/>
        </p:nvSpPr>
        <p:spPr>
          <a:xfrm>
            <a:off x="4640165" y="5628944"/>
            <a:ext cx="7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/>
          </a:p>
        </p:txBody>
      </p:sp>
      <p:sp>
        <p:nvSpPr>
          <p:cNvPr id="292" name="Google Shape;292;p42"/>
          <p:cNvSpPr txBox="1"/>
          <p:nvPr/>
        </p:nvSpPr>
        <p:spPr>
          <a:xfrm>
            <a:off x="5257371" y="5848953"/>
            <a:ext cx="7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</a:t>
            </a:r>
            <a:endParaRPr sz="2000"/>
          </a:p>
        </p:txBody>
      </p:sp>
      <p:pic>
        <p:nvPicPr>
          <p:cNvPr id="293" name="Google Shape;293;p4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9" name="Google Shape;299;p4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Propositional Logic on Traces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propositional logic formula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trace</a:t>
            </a:r>
            <a:endParaRPr b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 it holds for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i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may seem odd at first…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 but we will provide temporal logic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operators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reason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about the trace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01" name="Google Shape;301;p4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457200" y="1604526"/>
            <a:ext cx="82293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formulas: statements about an execution trace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here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propositional logic formula and </a:t>
            </a:r>
            <a:r>
              <a:rPr lang="it-I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either a propositional logic formula, or an LTL one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08" name="Google Shape;308;p44"/>
          <p:cNvGraphicFramePr/>
          <p:nvPr/>
        </p:nvGraphicFramePr>
        <p:xfrm>
          <a:off x="1219200" y="2591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{A8042A8D-3FC0-4FC3-A497-B9AE98D5CD2B}</a:tableStyleId>
              </a:tblPr>
              <a:tblGrid>
                <a:gridCol w="1676400"/>
                <a:gridCol w="5029200"/>
              </a:tblGrid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formula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meaning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1" lang="it-IT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p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holds in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0" baseline="-25000" sz="2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endParaRPr sz="2000" u="none" cap="none" strike="noStrike">
                        <a:solidFill>
                          <a:srgbClr val="33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Φ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holds for every suffix of the trace</a:t>
                      </a:r>
                      <a:endParaRPr i="1" sz="2400" u="none" cap="none" strike="noStrike">
                        <a:solidFill>
                          <a:srgbClr val="336666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holds for some suffix of the trace</a:t>
                      </a:r>
                      <a:endParaRPr sz="2400">
                        <a:solidFill>
                          <a:srgbClr val="336666"/>
                        </a:solidFill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holds for the trace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, </a:t>
                      </a:r>
                      <a:r>
                        <a:rPr i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</a:t>
                      </a:r>
                      <a:r>
                        <a:rPr baseline="-25000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, …</a:t>
                      </a:r>
                      <a:endParaRPr sz="2400">
                        <a:solidFill>
                          <a:srgbClr val="336666"/>
                        </a:solidFill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baseline="-25000"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baseline="-25000"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baseline="-2500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baseline="-25000"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holds for all suffixes of the trace until a suffix for which 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baseline="-25000"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holds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4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Linear Temporal Logic (LTL)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0" name="Google Shape;310;p4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11" name="Google Shape;311;p4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>
            <p:ph idx="1" type="body"/>
          </p:nvPr>
        </p:nvSpPr>
        <p:spPr>
          <a:xfrm>
            <a:off x="457200" y="1604526"/>
            <a:ext cx="82293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formulas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statements about an execution trace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here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propositional logic formula and </a:t>
            </a:r>
            <a:r>
              <a:rPr lang="it-I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either a propositional logic formula, or an LTL one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18" name="Google Shape;318;p45"/>
          <p:cNvGraphicFramePr/>
          <p:nvPr/>
        </p:nvGraphicFramePr>
        <p:xfrm>
          <a:off x="1219200" y="2599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{A8042A8D-3FC0-4FC3-A497-B9AE98D5CD2B}</a:tableStyleId>
              </a:tblPr>
              <a:tblGrid>
                <a:gridCol w="1676400"/>
                <a:gridCol w="5029200"/>
              </a:tblGrid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formula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it-IT" sz="2400" u="none" cap="none" strike="noStrik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mnemonic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lang="it-IT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b="0" i="1" lang="it-IT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proposition</a:t>
                      </a:r>
                      <a:endParaRPr i="1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endParaRPr b="0" i="0" sz="2000" u="none" cap="none" strike="noStrike">
                        <a:solidFill>
                          <a:srgbClr val="33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globally</a:t>
                      </a:r>
                      <a:endParaRPr i="1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finally, future, eventually</a:t>
                      </a:r>
                      <a:endParaRPr sz="24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  <a:tr h="45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X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endParaRPr b="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next state</a:t>
                      </a:r>
                      <a:endParaRPr sz="24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6"/>
                    </a:solidFill>
                  </a:tcPr>
                </a:tc>
              </a:tr>
              <a:tr h="53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rgbClr val="336666"/>
                          </a:solidFill>
                        </a:rPr>
                        <a:t> 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baseline="-25000"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1"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</a:t>
                      </a:r>
                      <a:r>
                        <a:rPr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Φ</a:t>
                      </a:r>
                      <a:r>
                        <a:rPr baseline="-25000" lang="it-IT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baseline="-25000" i="0" sz="2400" u="none" cap="none" strike="noStrike">
                        <a:solidFill>
                          <a:srgbClr val="33666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6666"/>
                        </a:buClr>
                        <a:buSzPts val="2400"/>
                        <a:buFont typeface="Arial"/>
                        <a:buNone/>
                      </a:pPr>
                      <a:r>
                        <a:rPr lang="it-IT" sz="24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i="0" lang="it-IT" sz="24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until</a:t>
                      </a:r>
                      <a:endParaRPr i="0" sz="24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CEC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4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LTL mnemonics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20" name="Google Shape;320;p4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321" name="Google Shape;321;p4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3464905" y="1952183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6"/>
          <p:cNvSpPr/>
          <p:nvPr/>
        </p:nvSpPr>
        <p:spPr>
          <a:xfrm>
            <a:off x="3887738" y="1952188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6"/>
          <p:cNvSpPr/>
          <p:nvPr/>
        </p:nvSpPr>
        <p:spPr>
          <a:xfrm>
            <a:off x="4310543" y="1952167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6"/>
          <p:cNvSpPr/>
          <p:nvPr/>
        </p:nvSpPr>
        <p:spPr>
          <a:xfrm>
            <a:off x="4733368" y="1952167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6"/>
          <p:cNvSpPr/>
          <p:nvPr/>
        </p:nvSpPr>
        <p:spPr>
          <a:xfrm>
            <a:off x="3464905" y="3255761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6"/>
          <p:cNvSpPr/>
          <p:nvPr/>
        </p:nvSpPr>
        <p:spPr>
          <a:xfrm>
            <a:off x="3887738" y="3695495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6"/>
          <p:cNvSpPr/>
          <p:nvPr/>
        </p:nvSpPr>
        <p:spPr>
          <a:xfrm>
            <a:off x="4356587" y="4084244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6"/>
          <p:cNvSpPr/>
          <p:nvPr/>
        </p:nvSpPr>
        <p:spPr>
          <a:xfrm>
            <a:off x="4784093" y="4481444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5" name="Google Shape;335;p4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LTL operators: G (Globally)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36" name="Google Shape;336;p46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LTL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formula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 trace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for every suffix of the trace: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propositional logic formula, this means it holds for each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aseline="-25000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note: </a:t>
            </a:r>
            <a:r>
              <a:rPr b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for propositional formula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is also termed an </a:t>
            </a:r>
            <a:r>
              <a:rPr b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invariant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(for an execution, i.e., in a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stepwise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sense)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7" name="Google Shape;337;p46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/>
          <p:nvPr/>
        </p:nvSpPr>
        <p:spPr>
          <a:xfrm>
            <a:off x="4310543" y="1952167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7"/>
          <p:cNvSpPr/>
          <p:nvPr/>
        </p:nvSpPr>
        <p:spPr>
          <a:xfrm>
            <a:off x="4356587" y="4084244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5" name="Google Shape;345;p4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LTL operators: F (Finally, eventually)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6" name="Google Shape;346;p47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LTL formula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 trace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for some suffix of the trace: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propositional logic formula, this means it holds for some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aseline="-25000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47" name="Google Shape;347;p4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3" name="Google Shape;353;p4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Propositional LTL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54" name="Google Shape;354;p48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 operators can apply to LTL formulas as well as to propositional logic formulas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“every input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eventually followed by an output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⟹ </a:t>
            </a:r>
            <a:r>
              <a:rPr b="1"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3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b="1" sz="3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5" name="Google Shape;355;p48"/>
          <p:cNvSpPr txBox="1"/>
          <p:nvPr/>
        </p:nvSpPr>
        <p:spPr>
          <a:xfrm>
            <a:off x="1371625" y="4320550"/>
            <a:ext cx="260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Globally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(at any point in time)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6" name="Google Shape;356;p48"/>
          <p:cNvSpPr txBox="1"/>
          <p:nvPr/>
        </p:nvSpPr>
        <p:spPr>
          <a:xfrm>
            <a:off x="3261375" y="5320213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if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occurs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7" name="Google Shape;357;p48"/>
          <p:cNvSpPr txBox="1"/>
          <p:nvPr/>
        </p:nvSpPr>
        <p:spPr>
          <a:xfrm>
            <a:off x="4846275" y="4858525"/>
            <a:ext cx="3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it is eventually followed by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y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58" name="Google Shape;358;p48"/>
          <p:cNvCxnSpPr/>
          <p:nvPr/>
        </p:nvCxnSpPr>
        <p:spPr>
          <a:xfrm flipH="1" rot="10800000">
            <a:off x="3200400" y="4000500"/>
            <a:ext cx="27450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48"/>
          <p:cNvCxnSpPr/>
          <p:nvPr/>
        </p:nvCxnSpPr>
        <p:spPr>
          <a:xfrm flipH="1" rot="10800000">
            <a:off x="3779425" y="4229200"/>
            <a:ext cx="289800" cy="115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48"/>
          <p:cNvCxnSpPr/>
          <p:nvPr/>
        </p:nvCxnSpPr>
        <p:spPr>
          <a:xfrm rot="10800000">
            <a:off x="4960550" y="4251775"/>
            <a:ext cx="548700" cy="61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1" name="Google Shape;361;p4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/>
          <p:nvPr/>
        </p:nvSpPr>
        <p:spPr>
          <a:xfrm>
            <a:off x="4716470" y="3871494"/>
            <a:ext cx="371700" cy="397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9"/>
          <p:cNvSpPr/>
          <p:nvPr/>
        </p:nvSpPr>
        <p:spPr>
          <a:xfrm>
            <a:off x="3887738" y="3871494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9"/>
          <p:cNvSpPr/>
          <p:nvPr/>
        </p:nvSpPr>
        <p:spPr>
          <a:xfrm>
            <a:off x="4716468" y="1889619"/>
            <a:ext cx="371700" cy="397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9"/>
          <p:cNvSpPr/>
          <p:nvPr/>
        </p:nvSpPr>
        <p:spPr>
          <a:xfrm>
            <a:off x="3887738" y="1889615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9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LTL formula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⟹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 trace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 for any suffix of the trace where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holds, there is a suffix of that suffix where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holds: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LTL formula is satisfied by a state machine iff </a:t>
            </a:r>
            <a:r>
              <a:rPr b="1"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 trace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that state machine satisfies the LTL formula (again, an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invariant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but globally)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System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⊨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iff ∀traces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∈ Traces(System) :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⊨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72" name="Google Shape;372;p4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Example LTL formula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73" name="Google Shape;373;p49"/>
          <p:cNvSpPr txBox="1"/>
          <p:nvPr/>
        </p:nvSpPr>
        <p:spPr>
          <a:xfrm>
            <a:off x="3050796" y="4267773"/>
            <a:ext cx="8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holds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4" name="Google Shape;374;p49"/>
          <p:cNvSpPr txBox="1"/>
          <p:nvPr/>
        </p:nvSpPr>
        <p:spPr>
          <a:xfrm>
            <a:off x="5130039" y="4149739"/>
            <a:ext cx="8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holds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75" name="Google Shape;375;p49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Does the following temporal logic property hold for the state machine below?</a:t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⟹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not, what’s the error trace?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1" name="Google Shape;381;p5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82" name="Google Shape;382;p5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Example FSMs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83" name="Google Shape;383;p50"/>
          <p:cNvSpPr txBox="1"/>
          <p:nvPr/>
        </p:nvSpPr>
        <p:spPr>
          <a:xfrm>
            <a:off x="3375075" y="2658184"/>
            <a:ext cx="16821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input: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:  pure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3321175" y="2961533"/>
            <a:ext cx="182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out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put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:  pure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5" name="Google Shape;385;p50"/>
          <p:cNvSpPr/>
          <p:nvPr/>
        </p:nvSpPr>
        <p:spPr>
          <a:xfrm>
            <a:off x="3978942" y="4162250"/>
            <a:ext cx="453000" cy="32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0"/>
          <p:cNvSpPr/>
          <p:nvPr/>
        </p:nvSpPr>
        <p:spPr>
          <a:xfrm>
            <a:off x="5241993" y="4163688"/>
            <a:ext cx="453000" cy="3234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0"/>
          <p:cNvSpPr txBox="1"/>
          <p:nvPr/>
        </p:nvSpPr>
        <p:spPr>
          <a:xfrm>
            <a:off x="4065242" y="4062193"/>
            <a:ext cx="2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8" name="Google Shape;388;p50"/>
          <p:cNvSpPr txBox="1"/>
          <p:nvPr/>
        </p:nvSpPr>
        <p:spPr>
          <a:xfrm>
            <a:off x="5306727" y="4085197"/>
            <a:ext cx="2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b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9" name="Google Shape;389;p50"/>
          <p:cNvSpPr txBox="1"/>
          <p:nvPr/>
        </p:nvSpPr>
        <p:spPr>
          <a:xfrm>
            <a:off x="4605825" y="3395075"/>
            <a:ext cx="4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x /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0" name="Google Shape;390;p50"/>
          <p:cNvSpPr txBox="1"/>
          <p:nvPr/>
        </p:nvSpPr>
        <p:spPr>
          <a:xfrm>
            <a:off x="4399524" y="4755175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true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 / y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1" name="Google Shape;391;p50"/>
          <p:cNvSpPr/>
          <p:nvPr/>
        </p:nvSpPr>
        <p:spPr>
          <a:xfrm>
            <a:off x="3720150" y="3903465"/>
            <a:ext cx="377400" cy="269575"/>
          </a:xfrm>
          <a:custGeom>
            <a:rect b="b" l="l" r="r" t="t"/>
            <a:pathLst>
              <a:path extrusionOk="0" h="10783" w="15096">
                <a:moveTo>
                  <a:pt x="0" y="0"/>
                </a:moveTo>
                <a:cubicBezTo>
                  <a:pt x="1150" y="288"/>
                  <a:pt x="4960" y="863"/>
                  <a:pt x="6901" y="1725"/>
                </a:cubicBezTo>
                <a:cubicBezTo>
                  <a:pt x="8842" y="2588"/>
                  <a:pt x="10279" y="3665"/>
                  <a:pt x="11645" y="5175"/>
                </a:cubicBezTo>
                <a:cubicBezTo>
                  <a:pt x="13011" y="6685"/>
                  <a:pt x="14521" y="9848"/>
                  <a:pt x="15096" y="1078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92" name="Google Shape;392;p50"/>
          <p:cNvSpPr/>
          <p:nvPr/>
        </p:nvSpPr>
        <p:spPr>
          <a:xfrm rot="2490187">
            <a:off x="4509341" y="3799665"/>
            <a:ext cx="744272" cy="708770"/>
          </a:xfrm>
          <a:prstGeom prst="bentArrow">
            <a:avLst>
              <a:gd fmla="val 3683" name="adj1"/>
              <a:gd fmla="val 6158" name="adj2"/>
              <a:gd fmla="val 15111" name="adj3"/>
              <a:gd fmla="val 75770" name="adj4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0"/>
          <p:cNvSpPr/>
          <p:nvPr/>
        </p:nvSpPr>
        <p:spPr>
          <a:xfrm rot="-8326498">
            <a:off x="4451347" y="4129288"/>
            <a:ext cx="744289" cy="708758"/>
          </a:xfrm>
          <a:prstGeom prst="bentArrow">
            <a:avLst>
              <a:gd fmla="val 3683" name="adj1"/>
              <a:gd fmla="val 6158" name="adj2"/>
              <a:gd fmla="val 15111" name="adj3"/>
              <a:gd fmla="val 75770" name="adj4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50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Does the following temporal logic property hold for the state machine below?</a:t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⟹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not, what’s the error trace?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0" name="Google Shape;400;p5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1" name="Google Shape;401;p5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Example FSMs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2" name="Google Shape;402;p51"/>
          <p:cNvSpPr txBox="1"/>
          <p:nvPr/>
        </p:nvSpPr>
        <p:spPr>
          <a:xfrm>
            <a:off x="3375075" y="2658184"/>
            <a:ext cx="16821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input: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:  pure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3" name="Google Shape;403;p51"/>
          <p:cNvSpPr txBox="1"/>
          <p:nvPr/>
        </p:nvSpPr>
        <p:spPr>
          <a:xfrm>
            <a:off x="3321175" y="2961533"/>
            <a:ext cx="182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:  pure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4" name="Google Shape;404;p51"/>
          <p:cNvSpPr/>
          <p:nvPr/>
        </p:nvSpPr>
        <p:spPr>
          <a:xfrm>
            <a:off x="3978942" y="4162250"/>
            <a:ext cx="453000" cy="32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1"/>
          <p:cNvSpPr txBox="1"/>
          <p:nvPr/>
        </p:nvSpPr>
        <p:spPr>
          <a:xfrm>
            <a:off x="4065242" y="4062193"/>
            <a:ext cx="2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6" name="Google Shape;406;p51"/>
          <p:cNvSpPr txBox="1"/>
          <p:nvPr/>
        </p:nvSpPr>
        <p:spPr>
          <a:xfrm>
            <a:off x="4605825" y="3395075"/>
            <a:ext cx="4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x /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7" name="Google Shape;407;p51"/>
          <p:cNvSpPr txBox="1"/>
          <p:nvPr/>
        </p:nvSpPr>
        <p:spPr>
          <a:xfrm>
            <a:off x="4399524" y="4755175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true / y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8" name="Google Shape;408;p51"/>
          <p:cNvSpPr/>
          <p:nvPr/>
        </p:nvSpPr>
        <p:spPr>
          <a:xfrm>
            <a:off x="3720150" y="3903465"/>
            <a:ext cx="377400" cy="269575"/>
          </a:xfrm>
          <a:custGeom>
            <a:rect b="b" l="l" r="r" t="t"/>
            <a:pathLst>
              <a:path extrusionOk="0" h="10783" w="15096">
                <a:moveTo>
                  <a:pt x="0" y="0"/>
                </a:moveTo>
                <a:cubicBezTo>
                  <a:pt x="1150" y="288"/>
                  <a:pt x="4960" y="863"/>
                  <a:pt x="6901" y="1725"/>
                </a:cubicBezTo>
                <a:cubicBezTo>
                  <a:pt x="8842" y="2588"/>
                  <a:pt x="10279" y="3665"/>
                  <a:pt x="11645" y="5175"/>
                </a:cubicBezTo>
                <a:cubicBezTo>
                  <a:pt x="13011" y="6685"/>
                  <a:pt x="14521" y="9848"/>
                  <a:pt x="15096" y="1078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409" name="Google Shape;409;p51"/>
          <p:cNvSpPr/>
          <p:nvPr/>
        </p:nvSpPr>
        <p:spPr>
          <a:xfrm>
            <a:off x="5497860" y="3971931"/>
            <a:ext cx="763800" cy="730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1"/>
          <p:cNvSpPr/>
          <p:nvPr/>
        </p:nvSpPr>
        <p:spPr>
          <a:xfrm rot="2490187">
            <a:off x="4509341" y="3799665"/>
            <a:ext cx="744272" cy="708770"/>
          </a:xfrm>
          <a:prstGeom prst="bentArrow">
            <a:avLst>
              <a:gd fmla="val 3683" name="adj1"/>
              <a:gd fmla="val 6158" name="adj2"/>
              <a:gd fmla="val 15111" name="adj3"/>
              <a:gd fmla="val 75770" name="adj4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1"/>
          <p:cNvSpPr/>
          <p:nvPr/>
        </p:nvSpPr>
        <p:spPr>
          <a:xfrm rot="-8326498">
            <a:off x="4451347" y="4129288"/>
            <a:ext cx="744289" cy="708758"/>
          </a:xfrm>
          <a:prstGeom prst="bentArrow">
            <a:avLst>
              <a:gd fmla="val 3683" name="adj1"/>
              <a:gd fmla="val 6158" name="adj2"/>
              <a:gd fmla="val 15111" name="adj3"/>
              <a:gd fmla="val 75770" name="adj4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1"/>
          <p:cNvSpPr/>
          <p:nvPr/>
        </p:nvSpPr>
        <p:spPr>
          <a:xfrm>
            <a:off x="5316113" y="4136700"/>
            <a:ext cx="377400" cy="377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1"/>
          <p:cNvSpPr txBox="1"/>
          <p:nvPr/>
        </p:nvSpPr>
        <p:spPr>
          <a:xfrm>
            <a:off x="5306727" y="4085197"/>
            <a:ext cx="2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b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5241993" y="4163688"/>
            <a:ext cx="453000" cy="3234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5" name="Google Shape;415;p51"/>
          <p:cNvCxnSpPr/>
          <p:nvPr/>
        </p:nvCxnSpPr>
        <p:spPr>
          <a:xfrm flipH="1">
            <a:off x="5535029" y="4068305"/>
            <a:ext cx="83100" cy="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16" name="Google Shape;416;p5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1"/>
          <p:cNvSpPr txBox="1"/>
          <p:nvPr/>
        </p:nvSpPr>
        <p:spPr>
          <a:xfrm>
            <a:off x="5497849" y="3441775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true /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/>
          <p:nvPr/>
        </p:nvSpPr>
        <p:spPr>
          <a:xfrm>
            <a:off x="3464905" y="1952183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2"/>
          <p:cNvSpPr/>
          <p:nvPr/>
        </p:nvSpPr>
        <p:spPr>
          <a:xfrm>
            <a:off x="3887738" y="3695495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25" name="Google Shape;425;p5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LTL operators: X (neXt)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26" name="Google Shape;426;p52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LTL formula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 trace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for the suffix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27" name="Google Shape;427;p5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/>
          <p:nvPr/>
        </p:nvSpPr>
        <p:spPr>
          <a:xfrm>
            <a:off x="3464905" y="1952183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3"/>
          <p:cNvSpPr/>
          <p:nvPr/>
        </p:nvSpPr>
        <p:spPr>
          <a:xfrm>
            <a:off x="3887738" y="1952188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3"/>
          <p:cNvSpPr/>
          <p:nvPr/>
        </p:nvSpPr>
        <p:spPr>
          <a:xfrm>
            <a:off x="4310543" y="1952167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3"/>
          <p:cNvSpPr/>
          <p:nvPr/>
        </p:nvSpPr>
        <p:spPr>
          <a:xfrm>
            <a:off x="4733368" y="1952167"/>
            <a:ext cx="371700" cy="397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3"/>
          <p:cNvSpPr/>
          <p:nvPr/>
        </p:nvSpPr>
        <p:spPr>
          <a:xfrm>
            <a:off x="3464905" y="3652959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3"/>
          <p:cNvSpPr/>
          <p:nvPr/>
        </p:nvSpPr>
        <p:spPr>
          <a:xfrm>
            <a:off x="3887738" y="4092693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3"/>
          <p:cNvSpPr/>
          <p:nvPr/>
        </p:nvSpPr>
        <p:spPr>
          <a:xfrm>
            <a:off x="4356587" y="4481442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3"/>
          <p:cNvSpPr/>
          <p:nvPr/>
        </p:nvSpPr>
        <p:spPr>
          <a:xfrm>
            <a:off x="4784093" y="4878642"/>
            <a:ext cx="371700" cy="397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41" name="Google Shape;441;p5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LTL operators: U (Until)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2" name="Google Shape;442;p53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LTL formula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 trace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 if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for some suffix of the trace, and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for all previous suffixes: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</a:t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(and maybe </a:t>
            </a:r>
            <a:r>
              <a:rPr i="1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also)</a:t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3" name="Google Shape;443;p53"/>
          <p:cNvSpPr/>
          <p:nvPr/>
        </p:nvSpPr>
        <p:spPr>
          <a:xfrm>
            <a:off x="300387" y="5360644"/>
            <a:ext cx="371700" cy="3972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3"/>
          <p:cNvSpPr/>
          <p:nvPr/>
        </p:nvSpPr>
        <p:spPr>
          <a:xfrm>
            <a:off x="300387" y="5817296"/>
            <a:ext cx="371700" cy="397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3"/>
          <p:cNvSpPr txBox="1"/>
          <p:nvPr/>
        </p:nvSpPr>
        <p:spPr>
          <a:xfrm>
            <a:off x="5984275" y="3479450"/>
            <a:ext cx="2754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note: a variant, called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weak until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written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does not require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eventually hold; the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version does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6" name="Google Shape;446;p5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2" name="Google Shape;452;p5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Alternate notation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53" name="Google Shape;453;p54"/>
          <p:cNvSpPr txBox="1"/>
          <p:nvPr>
            <p:ph idx="4294967295" type="body"/>
          </p:nvPr>
        </p:nvSpPr>
        <p:spPr>
          <a:xfrm>
            <a:off x="457200" y="1604526"/>
            <a:ext cx="82293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You’ll find alternative notations in the literature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Most common alternative: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	</a:t>
            </a:r>
            <a:r>
              <a:rPr lang="it-IT" sz="2800">
                <a:solidFill>
                  <a:srgbClr val="373637"/>
                </a:solidFill>
                <a:latin typeface="Cambria"/>
                <a:ea typeface="Cambria"/>
                <a:cs typeface="Cambria"/>
                <a:sym typeface="Cambria"/>
              </a:rPr>
              <a:t>☐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	 </a:t>
            </a:r>
            <a:r>
              <a:rPr lang="it-IT" sz="2800">
                <a:solidFill>
                  <a:srgbClr val="373637"/>
                </a:solidFill>
                <a:latin typeface="Cambria"/>
                <a:ea typeface="Cambria"/>
                <a:cs typeface="Cambria"/>
                <a:sym typeface="Cambria"/>
              </a:rPr>
              <a:t>◊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	</a:t>
            </a:r>
            <a:r>
              <a:rPr lang="it-IT" sz="2800">
                <a:solidFill>
                  <a:srgbClr val="373637"/>
                </a:solidFill>
                <a:latin typeface="Cambria"/>
                <a:ea typeface="Cambria"/>
                <a:cs typeface="Cambria"/>
                <a:sym typeface="Cambria"/>
              </a:rPr>
              <a:t>◯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54" name="Google Shape;454;p5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60" name="Google Shape;460;p5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Notable examples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1" name="Google Shape;461;p55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515937" lvl="0" marL="51593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i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holds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infinitely often</a:t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i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eventually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p holds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henceforth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(i.e., forever after)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⟹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eventually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followed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by a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endParaRPr i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⟹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) )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eventually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at some reaction,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either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false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or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holds and is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followed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 a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two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reactions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later</a:t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62" name="Google Shape;462;p5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68" name="Google Shape;468;p5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</a:t>
            </a: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elationships among </a:t>
            </a: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operators 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9" name="Google Shape;469;p56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515937" lvl="0" marL="51593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515937" lvl="0" marL="51593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all express properties along system traces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you express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b="1"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purely in terms of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boolean operators?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about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terms of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about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terms of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or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0" name="Google Shape;470;p56"/>
          <p:cNvSpPr txBox="1"/>
          <p:nvPr/>
        </p:nvSpPr>
        <p:spPr>
          <a:xfrm>
            <a:off x="6515725" y="3288350"/>
            <a:ext cx="17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b="1"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＝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</a:t>
            </a:r>
            <a:r>
              <a:rPr b="1" lang="it-IT" sz="2400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="1"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1" name="Google Shape;471;p56"/>
          <p:cNvSpPr txBox="1"/>
          <p:nvPr/>
        </p:nvSpPr>
        <p:spPr>
          <a:xfrm>
            <a:off x="6515725" y="4370350"/>
            <a:ext cx="18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="1"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＝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true </a:t>
            </a:r>
            <a:r>
              <a:rPr b="1" lang="it-IT" sz="2400"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b="1"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2" name="Google Shape;472;p56"/>
          <p:cNvSpPr txBox="1"/>
          <p:nvPr/>
        </p:nvSpPr>
        <p:spPr>
          <a:xfrm>
            <a:off x="6515727" y="5558992"/>
            <a:ext cx="176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can’t be done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73" name="Google Shape;473;p56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/>
          <p:nvPr/>
        </p:nvSpPr>
        <p:spPr>
          <a:xfrm>
            <a:off x="1371600" y="2362200"/>
            <a:ext cx="6172200" cy="175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57"/>
          <p:cNvCxnSpPr/>
          <p:nvPr/>
        </p:nvCxnSpPr>
        <p:spPr>
          <a:xfrm>
            <a:off x="18288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57"/>
          <p:cNvCxnSpPr/>
          <p:nvPr/>
        </p:nvCxnSpPr>
        <p:spPr>
          <a:xfrm>
            <a:off x="22860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57"/>
          <p:cNvCxnSpPr/>
          <p:nvPr/>
        </p:nvCxnSpPr>
        <p:spPr>
          <a:xfrm>
            <a:off x="27432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57"/>
          <p:cNvCxnSpPr/>
          <p:nvPr/>
        </p:nvCxnSpPr>
        <p:spPr>
          <a:xfrm>
            <a:off x="32004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57"/>
          <p:cNvCxnSpPr/>
          <p:nvPr/>
        </p:nvCxnSpPr>
        <p:spPr>
          <a:xfrm>
            <a:off x="36576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57"/>
          <p:cNvCxnSpPr/>
          <p:nvPr/>
        </p:nvCxnSpPr>
        <p:spPr>
          <a:xfrm>
            <a:off x="41148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57"/>
          <p:cNvCxnSpPr/>
          <p:nvPr/>
        </p:nvCxnSpPr>
        <p:spPr>
          <a:xfrm>
            <a:off x="45720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57"/>
          <p:cNvCxnSpPr/>
          <p:nvPr/>
        </p:nvCxnSpPr>
        <p:spPr>
          <a:xfrm>
            <a:off x="50292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57"/>
          <p:cNvCxnSpPr/>
          <p:nvPr/>
        </p:nvCxnSpPr>
        <p:spPr>
          <a:xfrm>
            <a:off x="54864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57"/>
          <p:cNvCxnSpPr/>
          <p:nvPr/>
        </p:nvCxnSpPr>
        <p:spPr>
          <a:xfrm>
            <a:off x="59436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57"/>
          <p:cNvCxnSpPr/>
          <p:nvPr/>
        </p:nvCxnSpPr>
        <p:spPr>
          <a:xfrm>
            <a:off x="64008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57"/>
          <p:cNvCxnSpPr/>
          <p:nvPr/>
        </p:nvCxnSpPr>
        <p:spPr>
          <a:xfrm>
            <a:off x="6934200" y="23622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57"/>
          <p:cNvCxnSpPr/>
          <p:nvPr/>
        </p:nvCxnSpPr>
        <p:spPr>
          <a:xfrm>
            <a:off x="1371600" y="3657600"/>
            <a:ext cx="6172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57"/>
          <p:cNvCxnSpPr/>
          <p:nvPr/>
        </p:nvCxnSpPr>
        <p:spPr>
          <a:xfrm>
            <a:off x="1371600" y="3200400"/>
            <a:ext cx="6172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57"/>
          <p:cNvCxnSpPr/>
          <p:nvPr/>
        </p:nvCxnSpPr>
        <p:spPr>
          <a:xfrm>
            <a:off x="1371600" y="2743200"/>
            <a:ext cx="6172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57"/>
          <p:cNvSpPr/>
          <p:nvPr/>
        </p:nvSpPr>
        <p:spPr>
          <a:xfrm>
            <a:off x="1828800" y="27432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2286000" y="27432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7"/>
          <p:cNvSpPr/>
          <p:nvPr/>
        </p:nvSpPr>
        <p:spPr>
          <a:xfrm>
            <a:off x="3200400" y="27432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7"/>
          <p:cNvSpPr/>
          <p:nvPr/>
        </p:nvSpPr>
        <p:spPr>
          <a:xfrm>
            <a:off x="3657600" y="32004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4114800" y="2362200"/>
            <a:ext cx="457200" cy="381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7"/>
          <p:cNvSpPr/>
          <p:nvPr/>
        </p:nvSpPr>
        <p:spPr>
          <a:xfrm>
            <a:off x="4572000" y="32004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7"/>
          <p:cNvSpPr/>
          <p:nvPr/>
        </p:nvSpPr>
        <p:spPr>
          <a:xfrm>
            <a:off x="5943600" y="32004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7"/>
          <p:cNvSpPr/>
          <p:nvPr/>
        </p:nvSpPr>
        <p:spPr>
          <a:xfrm>
            <a:off x="5486400" y="3657600"/>
            <a:ext cx="457200" cy="45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7"/>
          <p:cNvSpPr/>
          <p:nvPr/>
        </p:nvSpPr>
        <p:spPr>
          <a:xfrm>
            <a:off x="6934200" y="2727325"/>
            <a:ext cx="609600" cy="489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95300" lvl="0" marL="4953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7"/>
          <p:cNvSpPr txBox="1"/>
          <p:nvPr/>
        </p:nvSpPr>
        <p:spPr>
          <a:xfrm>
            <a:off x="7620000" y="2782389"/>
            <a:ext cx="3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20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505" name="Google Shape;505;p57"/>
          <p:cNvSpPr/>
          <p:nvPr/>
        </p:nvSpPr>
        <p:spPr>
          <a:xfrm>
            <a:off x="1371600" y="3657600"/>
            <a:ext cx="457200" cy="45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7"/>
          <p:cNvSpPr txBox="1"/>
          <p:nvPr/>
        </p:nvSpPr>
        <p:spPr>
          <a:xfrm>
            <a:off x="228600" y="3746863"/>
            <a:ext cx="217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rgbClr val="4A86E8"/>
                </a:solidFill>
                <a:latin typeface="Cambria"/>
                <a:ea typeface="Cambria"/>
                <a:cs typeface="Cambria"/>
                <a:sym typeface="Cambria"/>
              </a:rPr>
              <a:t>Starting</a:t>
            </a:r>
            <a:endParaRPr sz="2100">
              <a:solidFill>
                <a:srgbClr val="4A86E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rgbClr val="4A86E8"/>
                </a:solidFill>
                <a:latin typeface="Cambria"/>
                <a:ea typeface="Cambria"/>
                <a:cs typeface="Cambria"/>
                <a:sym typeface="Cambria"/>
              </a:rPr>
              <a:t>position of robot</a:t>
            </a:r>
            <a:endParaRPr sz="2100">
              <a:solidFill>
                <a:srgbClr val="4A86E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304800" y="1789611"/>
            <a:ext cx="136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obstacles</a:t>
            </a:r>
            <a:endParaRPr sz="2100">
              <a:solidFill>
                <a:srgbClr val="43434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508" name="Google Shape;508;p57"/>
          <p:cNvCxnSpPr/>
          <p:nvPr/>
        </p:nvCxnSpPr>
        <p:spPr>
          <a:xfrm>
            <a:off x="1600200" y="2018211"/>
            <a:ext cx="2514600" cy="4572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57"/>
          <p:cNvCxnSpPr/>
          <p:nvPr/>
        </p:nvCxnSpPr>
        <p:spPr>
          <a:xfrm>
            <a:off x="1219200" y="2170611"/>
            <a:ext cx="1981200" cy="5334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57"/>
          <p:cNvSpPr/>
          <p:nvPr/>
        </p:nvSpPr>
        <p:spPr>
          <a:xfrm>
            <a:off x="455525" y="4620128"/>
            <a:ext cx="8173800" cy="1706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Spec: the robot eventually reaches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suppose now there are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destinations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…,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(new) Spec (could be): the robot visits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…, 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that order</a:t>
            </a:r>
            <a:endParaRPr b="1" i="1"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1" name="Google Shape;511;p5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12" name="Google Shape;512;p5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Specs example: robot navigation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13" name="Google Shape;513;p5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7"/>
          <p:cNvSpPr txBox="1"/>
          <p:nvPr/>
        </p:nvSpPr>
        <p:spPr>
          <a:xfrm>
            <a:off x="2802000" y="4151873"/>
            <a:ext cx="354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2100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100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= destination for robot</a:t>
            </a:r>
            <a:endParaRPr sz="2100">
              <a:solidFill>
                <a:srgbClr val="FF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20" name="Google Shape;520;p5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2700">
                <a:latin typeface="Helvetica Neue Light"/>
                <a:ea typeface="Helvetica Neue Light"/>
                <a:cs typeface="Helvetica Neue Light"/>
                <a:sym typeface="Helvetica Neue Light"/>
              </a:rPr>
              <a:t>Multi-Robot motion planning from Temporal Logic:</a:t>
            </a:r>
            <a:endParaRPr sz="27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2700">
                <a:latin typeface="Helvetica Neue Light"/>
                <a:ea typeface="Helvetica Neue Light"/>
                <a:cs typeface="Helvetica Neue Light"/>
                <a:sym typeface="Helvetica Neue Light"/>
              </a:rPr>
              <a:t>software synthesis</a:t>
            </a:r>
            <a:endParaRPr sz="2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21" name="Google Shape;521;p58"/>
          <p:cNvSpPr txBox="1"/>
          <p:nvPr/>
        </p:nvSpPr>
        <p:spPr>
          <a:xfrm>
            <a:off x="3516474" y="1478264"/>
            <a:ext cx="217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(d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eclarative) task 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pecs (e.g., LTL)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[+ examples]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2" name="Google Shape;522;p58"/>
          <p:cNvSpPr txBox="1"/>
          <p:nvPr/>
        </p:nvSpPr>
        <p:spPr>
          <a:xfrm>
            <a:off x="3516475" y="5736981"/>
            <a:ext cx="182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xecutable software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3" name="Google Shape;523;p58"/>
          <p:cNvSpPr/>
          <p:nvPr/>
        </p:nvSpPr>
        <p:spPr>
          <a:xfrm>
            <a:off x="4649678" y="3706245"/>
            <a:ext cx="914400" cy="612648"/>
          </a:xfrm>
          <a:prstGeom prst="flowChartMagneticDisk">
            <a:avLst/>
          </a:prstGeom>
          <a:solidFill>
            <a:srgbClr val="99CCCC"/>
          </a:solidFill>
          <a:ln cap="flat" cmpd="sng" w="25400">
            <a:solidFill>
              <a:srgbClr val="6F9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58"/>
          <p:cNvCxnSpPr/>
          <p:nvPr/>
        </p:nvCxnSpPr>
        <p:spPr>
          <a:xfrm>
            <a:off x="4274500" y="2599500"/>
            <a:ext cx="0" cy="31629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25" name="Google Shape;525;p58"/>
          <p:cNvSpPr txBox="1"/>
          <p:nvPr/>
        </p:nvSpPr>
        <p:spPr>
          <a:xfrm>
            <a:off x="4326626" y="4356525"/>
            <a:ext cx="159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omponent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ibrary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6" name="Google Shape;526;p58"/>
          <p:cNvSpPr txBox="1"/>
          <p:nvPr/>
        </p:nvSpPr>
        <p:spPr>
          <a:xfrm>
            <a:off x="2913025" y="3706250"/>
            <a:ext cx="141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(e.g.,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SMT) solver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27" name="Google Shape;527;p5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33" name="Google Shape;533;p5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Exercises: write in LTL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34" name="Google Shape;534;p59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“Whenever the iRobot is at the ramp-edge (cliff), eventually it moves 5 cm away from the cliff”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iRobot is at the cliff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iRobot is 5 cm away from the cliff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79730" lvl="0" marL="4953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“Whenever the distance between cars is less than 2m, cruise control is deactivated”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distance between cars is less than 2m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○"/>
            </a:pP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cruise control is active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35" name="Google Shape;535;p59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41" name="Google Shape;541;p6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Safety and liveness properties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42" name="Google Shape;542;p60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●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 property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informally, 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“nothing bad happens” during execution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formally, execution does not satisfy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∃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finite-length prefix of the execution that cannot be extended to an infinite execution satisfying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some violation occurs)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●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Liveness property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informally, “something good will happen” (eventually)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formally, every finite-length execution trace can be extended to an infinite execution that satisfies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trivially,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specifies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performance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progress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requirements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bounded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aseline="-2500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≤k</a:t>
            </a:r>
            <a:r>
              <a:rPr i="1" lang="it-I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 actually a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one too!) or unbounded (default)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●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“Whenever an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interrupt is asserted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), the corresponding interrupt service routine (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ISR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eventually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executed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)”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⇒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- liveness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●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both can constitute (stepwise) </a:t>
            </a:r>
            <a:r>
              <a:rPr b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invariants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the system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⇒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must hold for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3" name="Google Shape;543;p60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49" name="Google Shape;549;p6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Considerations on specs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50" name="Google Shape;550;p6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mathematical specification </a:t>
            </a:r>
            <a:r>
              <a:rPr b="1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only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includes properties that the system must (or must not) have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it requires human </a:t>
            </a:r>
            <a:r>
              <a:rPr b="1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judgment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decide whether that specification constitutes “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correctness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getting the specification right is often as hard as getting the design right!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interesting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research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directions: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○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inferring temporal logic from system traces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■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specification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mining</a:t>
            </a:r>
            <a:endParaRPr i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○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translating natural language into (temporal) logic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■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GenAI to the rescue!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51" name="Google Shape;551;p6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57" name="Google Shape;557;p6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Comparing models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58" name="Google Shape;558;p62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we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replace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one component in a system by another and be assured that the system overall will continue to work correctly?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○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Approach: compare models, e.g., state machines, to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check if component substitution is fine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check conformance with a specification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optimize a model by reducing complexity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can we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compare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two state machines?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○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Equivalence: do they “do the same thing”?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○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Refinement: does one “do more” than the other?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exhibit different behaviors? produce different outputs?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59" name="Google Shape;559;p6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3"/>
          <p:cNvSpPr/>
          <p:nvPr/>
        </p:nvSpPr>
        <p:spPr>
          <a:xfrm>
            <a:off x="304800" y="4084320"/>
            <a:ext cx="4343400" cy="2667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3"/>
          <p:cNvSpPr/>
          <p:nvPr/>
        </p:nvSpPr>
        <p:spPr>
          <a:xfrm>
            <a:off x="304800" y="1341120"/>
            <a:ext cx="4343400" cy="2514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FSM controller for iRobot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68" name="Google Shape;568;p63"/>
          <p:cNvSpPr txBox="1"/>
          <p:nvPr/>
        </p:nvSpPr>
        <p:spPr>
          <a:xfrm>
            <a:off x="4876800" y="1909354"/>
            <a:ext cx="4114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ssum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ing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time-triggered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FSM: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indent="-265112" lvl="0" marL="28416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•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 the 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input is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present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then it drives forward for a fixed amount of time by issuing a 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drive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command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indent="-265112" lvl="0" marL="28416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•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 the 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input is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absent</a:t>
            </a: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then it rotates for a fixed amount of time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9" name="Google Shape;56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0309"/>
            <a:ext cx="3925888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110446"/>
            <a:ext cx="25781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3"/>
          <p:cNvSpPr txBox="1"/>
          <p:nvPr/>
        </p:nvSpPr>
        <p:spPr>
          <a:xfrm>
            <a:off x="4876800" y="4352517"/>
            <a:ext cx="4114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i="0" lang="it-IT" sz="17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lternative FSM:</a:t>
            </a:r>
            <a:endParaRPr i="0" sz="1800">
              <a:solidFill>
                <a:srgbClr val="0E0E0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00"/>
              <a:buFont typeface="Cambria"/>
              <a:buChar char="●"/>
            </a:pPr>
            <a:r>
              <a:rPr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s machine </a:t>
            </a:r>
            <a:r>
              <a:rPr i="1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equivalent</a:t>
            </a:r>
            <a:r>
              <a:rPr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to </a:t>
            </a:r>
            <a:r>
              <a:rPr i="1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1500">
              <a:solidFill>
                <a:srgbClr val="0E0E0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00"/>
              <a:buFont typeface="Cambria"/>
              <a:buChar char="●"/>
            </a:pPr>
            <a:r>
              <a:rPr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i="0" lang="it-IT" sz="150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n what sense?</a:t>
            </a:r>
            <a:endParaRPr sz="1500">
              <a:solidFill>
                <a:srgbClr val="0E0E0E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2" name="Google Shape;572;p63"/>
          <p:cNvSpPr txBox="1"/>
          <p:nvPr/>
        </p:nvSpPr>
        <p:spPr>
          <a:xfrm>
            <a:off x="4114800" y="6305233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3" name="Google Shape;573;p63"/>
          <p:cNvSpPr txBox="1"/>
          <p:nvPr/>
        </p:nvSpPr>
        <p:spPr>
          <a:xfrm>
            <a:off x="4114800" y="339852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74" name="Google Shape;574;p6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575" name="Google Shape;575;p63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0309"/>
            <a:ext cx="3925888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64"/>
          <p:cNvSpPr txBox="1"/>
          <p:nvPr/>
        </p:nvSpPr>
        <p:spPr>
          <a:xfrm>
            <a:off x="4876800" y="2000794"/>
            <a:ext cx="41148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●"/>
            </a:pP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actor models for these machines have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○"/>
            </a:pP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same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input ports</a:t>
            </a:r>
            <a:endParaRPr i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○"/>
            </a:pP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same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ports</a:t>
            </a:r>
            <a:endParaRPr i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●"/>
            </a:pP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ports have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○"/>
            </a:pPr>
            <a:r>
              <a:rPr i="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same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types</a:t>
            </a:r>
            <a:endParaRPr i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3" name="Google Shape;583;p64"/>
          <p:cNvSpPr txBox="1"/>
          <p:nvPr/>
        </p:nvSpPr>
        <p:spPr>
          <a:xfrm>
            <a:off x="4876800" y="5037909"/>
            <a:ext cx="426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herefore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</a:t>
            </a:r>
            <a:r>
              <a:rPr b="1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equivalent 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4" name="Google Shape;584;p6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5" name="Google Shape;585;p6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Type equivalence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86" name="Google Shape;586;p64"/>
          <p:cNvSpPr/>
          <p:nvPr/>
        </p:nvSpPr>
        <p:spPr>
          <a:xfrm>
            <a:off x="304800" y="1341120"/>
            <a:ext cx="4343400" cy="2514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4"/>
          <p:cNvSpPr/>
          <p:nvPr/>
        </p:nvSpPr>
        <p:spPr>
          <a:xfrm>
            <a:off x="304800" y="4084320"/>
            <a:ext cx="4343400" cy="2667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64"/>
          <p:cNvSpPr txBox="1"/>
          <p:nvPr/>
        </p:nvSpPr>
        <p:spPr>
          <a:xfrm>
            <a:off x="4114800" y="6305233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89" name="Google Shape;589;p64"/>
          <p:cNvSpPr txBox="1"/>
          <p:nvPr/>
        </p:nvSpPr>
        <p:spPr>
          <a:xfrm>
            <a:off x="4114800" y="339852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pic>
        <p:nvPicPr>
          <p:cNvPr id="590" name="Google Shape;59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110446"/>
            <a:ext cx="25781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4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0309"/>
            <a:ext cx="3925888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5"/>
          <p:cNvSpPr txBox="1"/>
          <p:nvPr/>
        </p:nvSpPr>
        <p:spPr>
          <a:xfrm>
            <a:off x="4907250" y="2280416"/>
            <a:ext cx="411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 input sequence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●"/>
            </a:pP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two machines produce the same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sequence</a:t>
            </a:r>
            <a:endParaRPr i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9" name="Google Shape;599;p65"/>
          <p:cNvSpPr txBox="1"/>
          <p:nvPr/>
        </p:nvSpPr>
        <p:spPr>
          <a:xfrm>
            <a:off x="4876800" y="5037909"/>
            <a:ext cx="417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herefore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</a:t>
            </a:r>
            <a:r>
              <a:rPr b="1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equivalent 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0" name="Google Shape;600;p6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01" name="Google Shape;601;p6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Language equivalence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02" name="Google Shape;602;p65"/>
          <p:cNvSpPr/>
          <p:nvPr/>
        </p:nvSpPr>
        <p:spPr>
          <a:xfrm>
            <a:off x="304800" y="1341120"/>
            <a:ext cx="4343400" cy="2514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5"/>
          <p:cNvSpPr/>
          <p:nvPr/>
        </p:nvSpPr>
        <p:spPr>
          <a:xfrm>
            <a:off x="304800" y="4084320"/>
            <a:ext cx="4343400" cy="2667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5"/>
          <p:cNvSpPr txBox="1"/>
          <p:nvPr/>
        </p:nvSpPr>
        <p:spPr>
          <a:xfrm>
            <a:off x="4114800" y="6305233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05" name="Google Shape;605;p65"/>
          <p:cNvSpPr txBox="1"/>
          <p:nvPr/>
        </p:nvSpPr>
        <p:spPr>
          <a:xfrm>
            <a:off x="4114800" y="339852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pic>
        <p:nvPicPr>
          <p:cNvPr id="606" name="Google Shape;60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110446"/>
            <a:ext cx="25781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5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6"/>
          <p:cNvSpPr/>
          <p:nvPr/>
        </p:nvSpPr>
        <p:spPr>
          <a:xfrm>
            <a:off x="304800" y="4084320"/>
            <a:ext cx="4343400" cy="2667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66"/>
          <p:cNvSpPr txBox="1"/>
          <p:nvPr/>
        </p:nvSpPr>
        <p:spPr>
          <a:xfrm>
            <a:off x="4876800" y="1452154"/>
            <a:ext cx="41148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very </a:t>
            </a:r>
            <a:r>
              <a:rPr b="1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subtle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every state of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aseline="-25000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●"/>
            </a:pP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there is a corresponding state of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that will </a:t>
            </a:r>
            <a:r>
              <a:rPr i="0" lang="it-IT" sz="17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react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</a:t>
            </a:r>
            <a:r>
              <a:rPr i="0" lang="it-IT" sz="17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inputs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exactly the </a:t>
            </a:r>
            <a:r>
              <a:rPr i="0" lang="it-IT" sz="17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same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way and will then </a:t>
            </a:r>
            <a:r>
              <a:rPr i="0" lang="it-IT" sz="17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transition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another similarly </a:t>
            </a:r>
            <a:r>
              <a:rPr i="0" lang="it-IT" sz="17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corresponding</a:t>
            </a:r>
            <a:r>
              <a:rPr i="0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 (and vice-versa)</a:t>
            </a:r>
            <a:endParaRPr i="0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chemeClr val="dk1"/>
                </a:solidFill>
              </a:rPr>
              <a:t>t</a:t>
            </a:r>
            <a:r>
              <a:rPr i="0" lang="it-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herefore </a:t>
            </a:r>
            <a:r>
              <a:rPr i="1" lang="it-IT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0" lang="it-IT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it-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i="0" lang="it-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bisimilar </a:t>
            </a:r>
            <a:r>
              <a:rPr i="0" lang="it-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i="1" lang="it-IT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6"/>
          <p:cNvSpPr txBox="1"/>
          <p:nvPr/>
        </p:nvSpPr>
        <p:spPr>
          <a:xfrm>
            <a:off x="4882551" y="4355098"/>
            <a:ext cx="41148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 </a:t>
            </a:r>
            <a:r>
              <a:rPr b="1" i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deterministic</a:t>
            </a: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machines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b="1"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equivalence</a:t>
            </a: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bisimilarity</a:t>
            </a: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are the </a:t>
            </a:r>
            <a:r>
              <a:rPr b="1" i="0" lang="it-IT" sz="1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same</a:t>
            </a:r>
            <a:endParaRPr b="1" sz="1800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 </a:t>
            </a:r>
            <a:r>
              <a:rPr b="1" i="1" lang="it-IT" sz="1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nondeterministic</a:t>
            </a: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machines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i="0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they are </a:t>
            </a:r>
            <a:r>
              <a:rPr b="1" i="0" lang="it-IT" sz="1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endParaRPr b="1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00339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will come back to this!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i="0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ut first,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refinement</a:t>
            </a:r>
            <a:endParaRPr b="1" i="0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6" name="Google Shape;616;p6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17" name="Google Shape;617;p6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Bisimulation as (stronger) equivalence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18" name="Google Shape;618;p66"/>
          <p:cNvSpPr/>
          <p:nvPr/>
        </p:nvSpPr>
        <p:spPr>
          <a:xfrm>
            <a:off x="304800" y="1341120"/>
            <a:ext cx="4343400" cy="2514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66"/>
          <p:cNvSpPr txBox="1"/>
          <p:nvPr/>
        </p:nvSpPr>
        <p:spPr>
          <a:xfrm>
            <a:off x="4114800" y="6305233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pic>
        <p:nvPicPr>
          <p:cNvPr id="620" name="Google Shape;62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0309"/>
            <a:ext cx="3925888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110446"/>
            <a:ext cx="2578100" cy="2619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6"/>
          <p:cNvGrpSpPr/>
          <p:nvPr/>
        </p:nvGrpSpPr>
        <p:grpSpPr>
          <a:xfrm>
            <a:off x="1371600" y="3045823"/>
            <a:ext cx="2286000" cy="2440500"/>
            <a:chOff x="1371600" y="3045823"/>
            <a:chExt cx="2286000" cy="2440500"/>
          </a:xfrm>
        </p:grpSpPr>
        <p:cxnSp>
          <p:nvCxnSpPr>
            <p:cNvPr id="623" name="Google Shape;623;p66"/>
            <p:cNvCxnSpPr/>
            <p:nvPr/>
          </p:nvCxnSpPr>
          <p:spPr>
            <a:xfrm flipH="1" rot="-5400000">
              <a:off x="457200" y="4036423"/>
              <a:ext cx="2362200" cy="533400"/>
            </a:xfrm>
            <a:prstGeom prst="straightConnector1">
              <a:avLst/>
            </a:prstGeom>
            <a:noFill/>
            <a:ln cap="flat" cmpd="sng" w="28575">
              <a:solidFill>
                <a:srgbClr val="800000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624" name="Google Shape;624;p66"/>
            <p:cNvSpPr txBox="1"/>
            <p:nvPr/>
          </p:nvSpPr>
          <p:spPr>
            <a:xfrm>
              <a:off x="1564108" y="3779520"/>
              <a:ext cx="153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rgbClr val="800000"/>
                  </a:solidFill>
                  <a:latin typeface="Cambria"/>
                  <a:ea typeface="Cambria"/>
                  <a:cs typeface="Cambria"/>
                  <a:sym typeface="Cambria"/>
                </a:rPr>
                <a:t>corresponding</a:t>
              </a:r>
              <a:endParaRPr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cxnSp>
          <p:nvCxnSpPr>
            <p:cNvPr id="625" name="Google Shape;625;p66"/>
            <p:cNvCxnSpPr/>
            <p:nvPr/>
          </p:nvCxnSpPr>
          <p:spPr>
            <a:xfrm flipH="1">
              <a:off x="2090100" y="3045823"/>
              <a:ext cx="1567500" cy="2440500"/>
            </a:xfrm>
            <a:prstGeom prst="straightConnector1">
              <a:avLst/>
            </a:prstGeom>
            <a:noFill/>
            <a:ln cap="flat" cmpd="sng" w="28575">
              <a:solidFill>
                <a:srgbClr val="800000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</p:grpSp>
      <p:sp>
        <p:nvSpPr>
          <p:cNvPr id="626" name="Google Shape;626;p66"/>
          <p:cNvSpPr txBox="1"/>
          <p:nvPr/>
        </p:nvSpPr>
        <p:spPr>
          <a:xfrm>
            <a:off x="4114800" y="339852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pic>
        <p:nvPicPr>
          <p:cNvPr id="627" name="Google Shape;627;p66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7"/>
          <p:cNvSpPr txBox="1"/>
          <p:nvPr/>
        </p:nvSpPr>
        <p:spPr>
          <a:xfrm>
            <a:off x="304800" y="13716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 state machines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that are</a:t>
            </a:r>
            <a:r>
              <a:rPr i="0" lang="it-IT" sz="2000">
                <a:solidFill>
                  <a:srgbClr val="003399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equivalent</a:t>
            </a:r>
            <a:r>
              <a:rPr i="0" lang="it-IT" sz="2000">
                <a:solidFill>
                  <a:srgbClr val="003399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may nonetheless be related: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may be </a:t>
            </a:r>
            <a:r>
              <a:rPr b="1"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type</a:t>
            </a:r>
            <a:r>
              <a:rPr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compatible</a:t>
            </a:r>
            <a:r>
              <a:rPr i="0" lang="it-IT" sz="2000">
                <a:solidFill>
                  <a:srgbClr val="003399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with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that it can replace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without causing a type conflict (</a:t>
            </a:r>
            <a:r>
              <a:rPr b="1" i="0" lang="it-IT" sz="2000">
                <a:solidFill>
                  <a:srgbClr val="003399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ype refinement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may be a specialization of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that it can</a:t>
            </a:r>
            <a:r>
              <a:rPr i="0" lang="it-IT" sz="2000">
                <a:solidFill>
                  <a:srgbClr val="003399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produce only </a:t>
            </a:r>
            <a:r>
              <a:rPr b="1"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r>
              <a:rPr i="0" lang="it-IT" sz="20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sequences that </a:t>
            </a:r>
            <a:r>
              <a:rPr i="1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can produce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given the same input sequences. (</a:t>
            </a:r>
            <a:r>
              <a:rPr b="1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containment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may be a specialization of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that at every reaction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produce only output values that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produce (</a:t>
            </a:r>
            <a:r>
              <a:rPr i="1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(</a:t>
            </a:r>
            <a:r>
              <a:rPr b="1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simulation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all cases, if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“valid” in a system, then so is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where only the meaning of “valid” varies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type/language/simulation refinement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implements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(here,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taken to be a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specification</a:t>
            </a:r>
            <a:r>
              <a:rPr i="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0" sz="20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6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Equivalence vs. refinement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35" name="Google Shape;635;p6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36" name="Google Shape;636;p6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8"/>
          <p:cNvSpPr txBox="1"/>
          <p:nvPr/>
        </p:nvSpPr>
        <p:spPr>
          <a:xfrm>
            <a:off x="4419600" y="1676400"/>
            <a:ext cx="472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</a:t>
            </a:r>
            <a:r>
              <a:rPr b="1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refinement </a:t>
            </a:r>
            <a:r>
              <a:rPr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3" name="Google Shape;643;p68"/>
          <p:cNvSpPr/>
          <p:nvPr/>
        </p:nvSpPr>
        <p:spPr>
          <a:xfrm>
            <a:off x="1371600" y="1676400"/>
            <a:ext cx="1676400" cy="1295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68"/>
          <p:cNvSpPr txBox="1"/>
          <p:nvPr/>
        </p:nvSpPr>
        <p:spPr>
          <a:xfrm>
            <a:off x="2590800" y="5421313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45" name="Google Shape;645;p68"/>
          <p:cNvSpPr txBox="1"/>
          <p:nvPr/>
        </p:nvSpPr>
        <p:spPr>
          <a:xfrm>
            <a:off x="2590800" y="2514600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46" name="Google Shape;646;p68"/>
          <p:cNvSpPr/>
          <p:nvPr/>
        </p:nvSpPr>
        <p:spPr>
          <a:xfrm>
            <a:off x="1371600" y="4572000"/>
            <a:ext cx="1676400" cy="1295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68"/>
          <p:cNvSpPr/>
          <p:nvPr/>
        </p:nvSpPr>
        <p:spPr>
          <a:xfrm rot="5400000">
            <a:off x="3048000" y="48768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68"/>
          <p:cNvSpPr/>
          <p:nvPr/>
        </p:nvSpPr>
        <p:spPr>
          <a:xfrm rot="5400000">
            <a:off x="3048000" y="5410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8"/>
          <p:cNvSpPr/>
          <p:nvPr/>
        </p:nvSpPr>
        <p:spPr>
          <a:xfrm rot="5400000">
            <a:off x="3048000" y="1981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8"/>
          <p:cNvSpPr/>
          <p:nvPr/>
        </p:nvSpPr>
        <p:spPr>
          <a:xfrm rot="5400000">
            <a:off x="1219200" y="1981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68"/>
          <p:cNvSpPr/>
          <p:nvPr/>
        </p:nvSpPr>
        <p:spPr>
          <a:xfrm rot="5400000">
            <a:off x="1219200" y="2514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68"/>
          <p:cNvSpPr/>
          <p:nvPr/>
        </p:nvSpPr>
        <p:spPr>
          <a:xfrm rot="5400000">
            <a:off x="1219200" y="48768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68"/>
          <p:cNvSpPr txBox="1"/>
          <p:nvPr/>
        </p:nvSpPr>
        <p:spPr>
          <a:xfrm>
            <a:off x="533400" y="1828800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68"/>
          <p:cNvSpPr txBox="1"/>
          <p:nvPr/>
        </p:nvSpPr>
        <p:spPr>
          <a:xfrm>
            <a:off x="533400" y="2362200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68"/>
          <p:cNvSpPr txBox="1"/>
          <p:nvPr/>
        </p:nvSpPr>
        <p:spPr>
          <a:xfrm>
            <a:off x="3200400" y="1828800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68"/>
          <p:cNvSpPr txBox="1"/>
          <p:nvPr/>
        </p:nvSpPr>
        <p:spPr>
          <a:xfrm>
            <a:off x="533400" y="4735513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V'</a:t>
            </a:r>
            <a:r>
              <a:rPr baseline="-2500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7" name="Google Shape;657;p68"/>
          <p:cNvSpPr txBox="1"/>
          <p:nvPr/>
        </p:nvSpPr>
        <p:spPr>
          <a:xfrm>
            <a:off x="3200400" y="5268913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V'</a:t>
            </a:r>
            <a:r>
              <a:rPr baseline="-2500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68"/>
          <p:cNvSpPr txBox="1"/>
          <p:nvPr/>
        </p:nvSpPr>
        <p:spPr>
          <a:xfrm>
            <a:off x="3200400" y="4735513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V'</a:t>
            </a:r>
            <a:r>
              <a:rPr baseline="-2500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68"/>
          <p:cNvSpPr txBox="1"/>
          <p:nvPr/>
        </p:nvSpPr>
        <p:spPr>
          <a:xfrm>
            <a:off x="533400" y="3124200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68"/>
          <p:cNvSpPr txBox="1"/>
          <p:nvPr/>
        </p:nvSpPr>
        <p:spPr>
          <a:xfrm>
            <a:off x="533400" y="5954713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68"/>
          <p:cNvSpPr txBox="1"/>
          <p:nvPr/>
        </p:nvSpPr>
        <p:spPr>
          <a:xfrm>
            <a:off x="2819400" y="3124200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68"/>
          <p:cNvSpPr txBox="1"/>
          <p:nvPr/>
        </p:nvSpPr>
        <p:spPr>
          <a:xfrm>
            <a:off x="2819400" y="5954713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aseline="-25000"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i="0" lang="it-IT" sz="18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aseline="-25000" i="0" sz="1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atex-image-1.pdf" id="663" name="Google Shape;66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2362200"/>
            <a:ext cx="2879724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8"/>
          <p:cNvSpPr txBox="1"/>
          <p:nvPr/>
        </p:nvSpPr>
        <p:spPr>
          <a:xfrm>
            <a:off x="4419600" y="4872038"/>
            <a:ext cx="4724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can replace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without causing a type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conflict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665" name="Google Shape;665;p6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Type refinement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66" name="Google Shape;666;p6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67" name="Google Shape;667;p68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371600"/>
            <a:ext cx="8547100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674" name="Google Shape;67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810000"/>
            <a:ext cx="8064500" cy="26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69"/>
          <p:cNvSpPr/>
          <p:nvPr/>
        </p:nvSpPr>
        <p:spPr>
          <a:xfrm>
            <a:off x="381000" y="3733800"/>
            <a:ext cx="8077200" cy="838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6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900">
                <a:latin typeface="Helvetica Neue Light"/>
                <a:ea typeface="Helvetica Neue Light"/>
                <a:cs typeface="Helvetica Neue Light"/>
                <a:sym typeface="Helvetica Neue Light"/>
              </a:rPr>
              <a:t>Example</a:t>
            </a:r>
            <a:r>
              <a:rPr lang="it-IT" sz="3900">
                <a:latin typeface="Helvetica Neue Light"/>
                <a:ea typeface="Helvetica Neue Light"/>
                <a:cs typeface="Helvetica Neue Light"/>
                <a:sym typeface="Helvetica Neue Light"/>
              </a:rPr>
              <a:t>: garage counter</a:t>
            </a:r>
            <a:endParaRPr sz="39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77" name="Google Shape;677;p6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78" name="Google Shape;678;p69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0"/>
          <p:cNvSpPr txBox="1"/>
          <p:nvPr>
            <p:ph idx="1" type="body"/>
          </p:nvPr>
        </p:nvSpPr>
        <p:spPr>
          <a:xfrm>
            <a:off x="304800" y="3200400"/>
            <a:ext cx="8610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Consider a garage counter </a:t>
            </a: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latin typeface="Cambria"/>
                <a:ea typeface="Cambria"/>
                <a:cs typeface="Cambria"/>
                <a:sym typeface="Cambria"/>
              </a:rPr>
              <a:t>1  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with </a:t>
            </a: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 = 99</a:t>
            </a:r>
            <a:r>
              <a:rPr baseline="-25000" lang="it-IT" sz="24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spaces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Suppose another garage counter </a:t>
            </a: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has </a:t>
            </a: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 = 90</a:t>
            </a:r>
            <a:r>
              <a:rPr baseline="-25000" lang="it-IT" sz="2400"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spaces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is a type refinement of </a:t>
            </a:r>
            <a:r>
              <a:rPr i="1" lang="it-IT" sz="2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latin typeface="Cambria"/>
                <a:ea typeface="Cambria"/>
                <a:cs typeface="Cambria"/>
                <a:sym typeface="Cambria"/>
              </a:rPr>
              <a:t>1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it always OK to replace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with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3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85" name="Google Shape;68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295400"/>
            <a:ext cx="6108700" cy="14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7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Example of type refinement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87" name="Google Shape;687;p7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688" name="Google Shape;688;p70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94" name="Google Shape;694;p7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Behavior (Execution Trace) of a State Machine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95" name="Google Shape;695;p7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Definition of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behavior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○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recall: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execution trace</a:t>
            </a:r>
            <a:endParaRPr i="1"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○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language </a:t>
            </a:r>
            <a:r>
              <a:rPr b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refinement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traces comprise only I/O, not states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Consider a port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a state machine with type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This port will have a sequence of values from the set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∪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absent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}, one value at each reaction. We can represent this sequence as a function of the form: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ℕ →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∪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absent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is the signal received on that port - if it is an input - or produced on that port - if it is an output.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behavior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a state machine is an assignment of such a signal to each port such that the signal on any output port is the output sequence produced for the given input signals.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96" name="Google Shape;696;p7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2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of a state machine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the set of all behaviors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type-equivalent state machines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language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refinement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⊆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can replace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 its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observable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(I/O) behavior is a subset of that of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2" name="Google Shape;702;p7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03" name="Google Shape;703;p7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Language refinement (containment)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04" name="Google Shape;704;p72"/>
          <p:cNvSpPr/>
          <p:nvPr/>
        </p:nvSpPr>
        <p:spPr>
          <a:xfrm>
            <a:off x="6553200" y="1699077"/>
            <a:ext cx="1143000" cy="762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2"/>
          <p:cNvSpPr/>
          <p:nvPr/>
        </p:nvSpPr>
        <p:spPr>
          <a:xfrm rot="5400000">
            <a:off x="7696200" y="2003877"/>
            <a:ext cx="152400" cy="1524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2"/>
          <p:cNvSpPr txBox="1"/>
          <p:nvPr/>
        </p:nvSpPr>
        <p:spPr>
          <a:xfrm>
            <a:off x="5715000" y="1851477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aseline="-25000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72"/>
          <p:cNvSpPr/>
          <p:nvPr/>
        </p:nvSpPr>
        <p:spPr>
          <a:xfrm rot="5400000">
            <a:off x="6400800" y="2003877"/>
            <a:ext cx="152400" cy="1524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72"/>
          <p:cNvSpPr txBox="1"/>
          <p:nvPr/>
        </p:nvSpPr>
        <p:spPr>
          <a:xfrm>
            <a:off x="7848600" y="1851477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aseline="-25000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72"/>
          <p:cNvSpPr/>
          <p:nvPr/>
        </p:nvSpPr>
        <p:spPr>
          <a:xfrm>
            <a:off x="6553200" y="2765877"/>
            <a:ext cx="1143000" cy="762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72"/>
          <p:cNvSpPr/>
          <p:nvPr/>
        </p:nvSpPr>
        <p:spPr>
          <a:xfrm rot="5400000">
            <a:off x="7696200" y="3070677"/>
            <a:ext cx="152400" cy="1524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2"/>
          <p:cNvSpPr/>
          <p:nvPr/>
        </p:nvSpPr>
        <p:spPr>
          <a:xfrm rot="5400000">
            <a:off x="6400800" y="3070677"/>
            <a:ext cx="152400" cy="152400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72"/>
          <p:cNvSpPr txBox="1"/>
          <p:nvPr/>
        </p:nvSpPr>
        <p:spPr>
          <a:xfrm>
            <a:off x="5715000" y="2918277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aseline="-25000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72"/>
          <p:cNvSpPr txBox="1"/>
          <p:nvPr/>
        </p:nvSpPr>
        <p:spPr>
          <a:xfrm>
            <a:off x="7848600" y="2918277"/>
            <a:ext cx="7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aseline="-25000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72"/>
          <p:cNvSpPr txBox="1"/>
          <p:nvPr/>
        </p:nvSpPr>
        <p:spPr>
          <a:xfrm>
            <a:off x="7239000" y="2054724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5" name="Google Shape;715;p72"/>
          <p:cNvSpPr txBox="1"/>
          <p:nvPr/>
        </p:nvSpPr>
        <p:spPr>
          <a:xfrm>
            <a:off x="7239000" y="3121524"/>
            <a:ext cx="5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i="0" lang="it-IT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6" name="Google Shape;716;p7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22" name="Google Shape;722;p7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Finite sequences and accepting states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3" name="Google Shape;723;p73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 default, FSM executions considered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infinite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the sake of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finite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executions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○"/>
            </a:pP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accepting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 - typically represented by double-outlined bubble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): subset of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resulting from executions that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terminate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an accepting state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baseline="-2500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is defined as a language </a:t>
            </a:r>
            <a:r>
              <a:rPr b="1"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accepted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by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i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quivalently, including only behaviors in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with an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infinite tail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</a:t>
            </a: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stuttering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reactions that remain in an accepting state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■"/>
            </a:pP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stuttering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where inputs and outputs are all absent (machine does not change state)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 of language </a:t>
            </a: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containment</a:t>
            </a:r>
            <a:endParaRPr b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behavior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specifies for each port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 finite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string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other terms, a finite sequence of values from the type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baseline="-25000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any behavior in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), the accepting state is also the last one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■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hence the alternative namesake (</a:t>
            </a:r>
            <a:r>
              <a:rPr b="1"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final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for an accepting one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24" name="Google Shape;724;p7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30" name="Google Shape;730;p7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700">
                <a:latin typeface="Helvetica Neue Light"/>
                <a:ea typeface="Helvetica Neue Light"/>
                <a:cs typeface="Helvetica Neue Light"/>
                <a:sym typeface="Helvetica Neue Light"/>
              </a:rPr>
              <a:t>Regular languages and Regular Expressions</a:t>
            </a:r>
            <a:endParaRPr sz="3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31" name="Google Shape;731;p74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language </a:t>
            </a: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accepted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by an FSM aka as </a:t>
            </a:r>
            <a:r>
              <a:rPr b="1"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regular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language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set of sequences of values from some set called its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alphabet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b="1"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 regular example: has sequences of the form 0</a:t>
            </a:r>
            <a:r>
              <a:rPr baseline="30000"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aseline="30000"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i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sequence of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zeros followed by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ones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regular expression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b="1"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regex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- (typically, convenient) notation for describing regular languages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examples of convenience notations - the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Kleene star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(*)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b="1"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ω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regular language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generalization of regular languages to infinite executions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b="1"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Büchi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automata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(possibly nondeterministic) FSMs that have one (or more) accepting states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language accepted by the FSM defined as the set of behaviors that visit one or more of the accepting states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infinitely often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■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other words, these behaviors satisfy the LTL formula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∨ ··· ∨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), where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,···,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are the accepting states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most modelchecking questions expressed by giving a Büchi (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baseline="-25000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φ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or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or just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and then checking whether the ω-regular language it defines contains any sequences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32" name="Google Shape;732;p7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5"/>
          <p:cNvSpPr txBox="1"/>
          <p:nvPr>
            <p:ph idx="1" type="body"/>
          </p:nvPr>
        </p:nvSpPr>
        <p:spPr>
          <a:xfrm>
            <a:off x="309146" y="4776652"/>
            <a:ext cx="861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Suppose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the specification (everything it does is OK)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It is fine to replace it with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because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 each step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any move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make is OK (because any move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make is OK)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8" name="Google Shape;738;p75"/>
          <p:cNvSpPr txBox="1"/>
          <p:nvPr>
            <p:ph idx="1" type="body"/>
          </p:nvPr>
        </p:nvSpPr>
        <p:spPr>
          <a:xfrm>
            <a:off x="304791" y="4406538"/>
            <a:ext cx="861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Conversely,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Suppose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the specification (everything it does is OK)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It is </a:t>
            </a:r>
            <a:r>
              <a:rPr lang="it-IT" sz="2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OK to replace it with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because in state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always capable of making a move that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cannot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match from state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or state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endParaRPr b="1"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9" name="Google Shape;739;p75"/>
          <p:cNvSpPr txBox="1"/>
          <p:nvPr>
            <p:ph idx="1" type="body"/>
          </p:nvPr>
        </p:nvSpPr>
        <p:spPr>
          <a:xfrm>
            <a:off x="304800" y="4419600"/>
            <a:ext cx="86106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Note that these two machines are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language equivalent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Yet…</a:t>
            </a:r>
            <a:endParaRPr/>
          </a:p>
        </p:txBody>
      </p:sp>
      <p:pic>
        <p:nvPicPr>
          <p:cNvPr id="740" name="Google Shape;74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8026400" cy="26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7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Language equivalence is not enough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42" name="Google Shape;742;p75"/>
          <p:cNvSpPr txBox="1"/>
          <p:nvPr>
            <p:ph idx="1" type="body"/>
          </p:nvPr>
        </p:nvSpPr>
        <p:spPr>
          <a:xfrm>
            <a:off x="313500" y="5512527"/>
            <a:ext cx="861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There is a context in which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</a:t>
            </a:r>
            <a:r>
              <a:rPr lang="it-IT" sz="2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 valid replacement for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743" name="Google Shape;743;p7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44" name="Google Shape;744;p75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6"/>
          <p:cNvSpPr txBox="1"/>
          <p:nvPr>
            <p:ph idx="1" type="body"/>
          </p:nvPr>
        </p:nvSpPr>
        <p:spPr>
          <a:xfrm>
            <a:off x="304800" y="4191000"/>
            <a:ext cx="86106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Game: each machine starts in its initial state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51" name="Google Shape;75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8026400" cy="260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752" name="Google Shape;75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5435600"/>
            <a:ext cx="4800601" cy="107949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76"/>
          <p:cNvSpPr/>
          <p:nvPr/>
        </p:nvSpPr>
        <p:spPr>
          <a:xfrm>
            <a:off x="9906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76"/>
          <p:cNvSpPr/>
          <p:nvPr/>
        </p:nvSpPr>
        <p:spPr>
          <a:xfrm>
            <a:off x="54102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p76"/>
          <p:cNvCxnSpPr>
            <a:stCxn id="753" idx="4"/>
            <a:endCxn id="754" idx="4"/>
          </p:cNvCxnSpPr>
          <p:nvPr/>
        </p:nvCxnSpPr>
        <p:spPr>
          <a:xfrm flipH="1" rot="-5400000">
            <a:off x="3581100" y="1219500"/>
            <a:ext cx="600" cy="4419600"/>
          </a:xfrm>
          <a:prstGeom prst="curvedConnector3">
            <a:avLst>
              <a:gd fmla="val 102334089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76"/>
          <p:cNvCxnSpPr/>
          <p:nvPr/>
        </p:nvCxnSpPr>
        <p:spPr>
          <a:xfrm flipH="1">
            <a:off x="1447800" y="4038600"/>
            <a:ext cx="2209800" cy="22098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7" name="Google Shape;757;p76"/>
          <p:cNvSpPr txBox="1"/>
          <p:nvPr/>
        </p:nvSpPr>
        <p:spPr>
          <a:xfrm>
            <a:off x="6553200" y="5410200"/>
            <a:ext cx="23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moves first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58" name="Google Shape;758;p7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relation: the “matching” game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9" name="Google Shape;759;p7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60" name="Google Shape;760;p76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77"/>
          <p:cNvSpPr txBox="1"/>
          <p:nvPr>
            <p:ph idx="1" type="body"/>
          </p:nvPr>
        </p:nvSpPr>
        <p:spPr>
          <a:xfrm>
            <a:off x="304800" y="4191000"/>
            <a:ext cx="86106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Game: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moves first, and then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matches the move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67" name="Google Shape;7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8026400" cy="26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77"/>
          <p:cNvSpPr/>
          <p:nvPr/>
        </p:nvSpPr>
        <p:spPr>
          <a:xfrm>
            <a:off x="22860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77"/>
          <p:cNvSpPr/>
          <p:nvPr/>
        </p:nvSpPr>
        <p:spPr>
          <a:xfrm>
            <a:off x="6553200" y="24384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tex-image-1.pdf" id="770" name="Google Shape;770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5473700"/>
            <a:ext cx="4800601" cy="1079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1" name="Google Shape;771;p77"/>
          <p:cNvCxnSpPr/>
          <p:nvPr/>
        </p:nvCxnSpPr>
        <p:spPr>
          <a:xfrm flipH="1">
            <a:off x="2286000" y="4038600"/>
            <a:ext cx="2209800" cy="22098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2" name="Google Shape;772;p77"/>
          <p:cNvSpPr/>
          <p:nvPr/>
        </p:nvSpPr>
        <p:spPr>
          <a:xfrm>
            <a:off x="9906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95B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7"/>
          <p:cNvSpPr/>
          <p:nvPr/>
        </p:nvSpPr>
        <p:spPr>
          <a:xfrm>
            <a:off x="54102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95B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4" name="Google Shape;774;p77"/>
          <p:cNvCxnSpPr>
            <a:stCxn id="772" idx="4"/>
            <a:endCxn id="773" idx="4"/>
          </p:cNvCxnSpPr>
          <p:nvPr/>
        </p:nvCxnSpPr>
        <p:spPr>
          <a:xfrm flipH="1" rot="-5400000">
            <a:off x="3581100" y="1219500"/>
            <a:ext cx="600" cy="4419600"/>
          </a:xfrm>
          <a:prstGeom prst="curvedConnector3">
            <a:avLst>
              <a:gd fmla="val 111784249" name="adj1"/>
            </a:avLst>
          </a:prstGeom>
          <a:noFill/>
          <a:ln cap="flat" cmpd="sng" w="28575">
            <a:solidFill>
              <a:srgbClr val="95BA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77"/>
          <p:cNvCxnSpPr>
            <a:stCxn id="768" idx="4"/>
            <a:endCxn id="769" idx="4"/>
          </p:cNvCxnSpPr>
          <p:nvPr/>
        </p:nvCxnSpPr>
        <p:spPr>
          <a:xfrm rot="-5400000">
            <a:off x="4572000" y="1066800"/>
            <a:ext cx="457200" cy="4267200"/>
          </a:xfrm>
          <a:prstGeom prst="curvedConnector3">
            <a:avLst>
              <a:gd fmla="val -134333" name="adj1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77"/>
          <p:cNvSpPr txBox="1"/>
          <p:nvPr/>
        </p:nvSpPr>
        <p:spPr>
          <a:xfrm>
            <a:off x="4495800" y="4038600"/>
            <a:ext cx="217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first possibility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7" name="Google Shape;777;p77"/>
          <p:cNvSpPr txBox="1"/>
          <p:nvPr/>
        </p:nvSpPr>
        <p:spPr>
          <a:xfrm>
            <a:off x="6553200" y="5410200"/>
            <a:ext cx="23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moves first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8" name="Google Shape;778;p7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779" name="Google Shape;779;p77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7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relation: the “matching” game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8"/>
          <p:cNvSpPr txBox="1"/>
          <p:nvPr>
            <p:ph idx="1" type="body"/>
          </p:nvPr>
        </p:nvSpPr>
        <p:spPr>
          <a:xfrm>
            <a:off x="304800" y="4191000"/>
            <a:ext cx="8839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Game: “matching” the move - same input, same output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87" name="Google Shape;78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8026400" cy="26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8"/>
          <p:cNvSpPr/>
          <p:nvPr/>
        </p:nvSpPr>
        <p:spPr>
          <a:xfrm>
            <a:off x="22860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E8B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78"/>
          <p:cNvSpPr/>
          <p:nvPr/>
        </p:nvSpPr>
        <p:spPr>
          <a:xfrm>
            <a:off x="6553200" y="24384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E8B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78"/>
          <p:cNvCxnSpPr/>
          <p:nvPr/>
        </p:nvCxnSpPr>
        <p:spPr>
          <a:xfrm rot="5400000">
            <a:off x="2743200" y="4343400"/>
            <a:ext cx="2133600" cy="167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1" name="Google Shape;791;p78"/>
          <p:cNvSpPr/>
          <p:nvPr/>
        </p:nvSpPr>
        <p:spPr>
          <a:xfrm>
            <a:off x="9906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95B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78"/>
          <p:cNvSpPr/>
          <p:nvPr/>
        </p:nvSpPr>
        <p:spPr>
          <a:xfrm>
            <a:off x="54102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95B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78"/>
          <p:cNvCxnSpPr>
            <a:stCxn id="791" idx="4"/>
            <a:endCxn id="792" idx="4"/>
          </p:cNvCxnSpPr>
          <p:nvPr/>
        </p:nvCxnSpPr>
        <p:spPr>
          <a:xfrm flipH="1" rot="-5400000">
            <a:off x="3581100" y="1219500"/>
            <a:ext cx="600" cy="4419600"/>
          </a:xfrm>
          <a:prstGeom prst="curvedConnector3">
            <a:avLst>
              <a:gd fmla="val 113674258" name="adj1"/>
            </a:avLst>
          </a:prstGeom>
          <a:noFill/>
          <a:ln cap="flat" cmpd="sng" w="28575">
            <a:solidFill>
              <a:srgbClr val="95BA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78"/>
          <p:cNvCxnSpPr>
            <a:stCxn id="788" idx="4"/>
            <a:endCxn id="789" idx="4"/>
          </p:cNvCxnSpPr>
          <p:nvPr/>
        </p:nvCxnSpPr>
        <p:spPr>
          <a:xfrm rot="-5400000">
            <a:off x="4572000" y="1066800"/>
            <a:ext cx="457200" cy="4267200"/>
          </a:xfrm>
          <a:prstGeom prst="curvedConnector3">
            <a:avLst>
              <a:gd fmla="val -134333" name="adj1"/>
            </a:avLst>
          </a:prstGeom>
          <a:noFill/>
          <a:ln cap="flat" cmpd="sng" w="28575">
            <a:solidFill>
              <a:srgbClr val="E8BA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78"/>
          <p:cNvSpPr txBox="1"/>
          <p:nvPr/>
        </p:nvSpPr>
        <p:spPr>
          <a:xfrm>
            <a:off x="4565650" y="4038600"/>
            <a:ext cx="26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second possibility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96" name="Google Shape;796;p78"/>
          <p:cNvSpPr/>
          <p:nvPr/>
        </p:nvSpPr>
        <p:spPr>
          <a:xfrm>
            <a:off x="2209800" y="2819400"/>
            <a:ext cx="914400" cy="685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/>
          <p:nvPr/>
        </p:nvSpPr>
        <p:spPr>
          <a:xfrm>
            <a:off x="6553200" y="33528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78"/>
          <p:cNvCxnSpPr>
            <a:stCxn id="796" idx="4"/>
            <a:endCxn id="797" idx="4"/>
          </p:cNvCxnSpPr>
          <p:nvPr/>
        </p:nvCxnSpPr>
        <p:spPr>
          <a:xfrm flipH="1" rot="-5400000">
            <a:off x="4610100" y="1562100"/>
            <a:ext cx="381000" cy="4267200"/>
          </a:xfrm>
          <a:prstGeom prst="curvedConnector3">
            <a:avLst>
              <a:gd fmla="val 160000" name="adj1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latex-image-1.pdf" id="799" name="Google Shape;79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5473700"/>
            <a:ext cx="4800601" cy="1079499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8"/>
          <p:cNvSpPr txBox="1"/>
          <p:nvPr/>
        </p:nvSpPr>
        <p:spPr>
          <a:xfrm>
            <a:off x="6553200" y="5410200"/>
            <a:ext cx="23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moves first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1" name="Google Shape;801;p7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02" name="Google Shape;802;p78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relation: the “matching” game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9"/>
          <p:cNvSpPr txBox="1"/>
          <p:nvPr>
            <p:ph idx="1" type="body"/>
          </p:nvPr>
        </p:nvSpPr>
        <p:spPr>
          <a:xfrm>
            <a:off x="304800" y="4191000"/>
            <a:ext cx="8839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Game: get to all reachable states of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10" name="Google Shape;81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8026400" cy="26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9"/>
          <p:cNvSpPr/>
          <p:nvPr/>
        </p:nvSpPr>
        <p:spPr>
          <a:xfrm>
            <a:off x="22860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E8B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79"/>
          <p:cNvSpPr/>
          <p:nvPr/>
        </p:nvSpPr>
        <p:spPr>
          <a:xfrm>
            <a:off x="6553200" y="24384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E8B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/>
          <p:nvPr/>
        </p:nvSpPr>
        <p:spPr>
          <a:xfrm>
            <a:off x="9906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95B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79"/>
          <p:cNvSpPr/>
          <p:nvPr/>
        </p:nvSpPr>
        <p:spPr>
          <a:xfrm>
            <a:off x="5410200" y="28956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95BA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5" name="Google Shape;815;p79"/>
          <p:cNvCxnSpPr>
            <a:stCxn id="813" idx="4"/>
            <a:endCxn id="814" idx="4"/>
          </p:cNvCxnSpPr>
          <p:nvPr/>
        </p:nvCxnSpPr>
        <p:spPr>
          <a:xfrm flipH="1" rot="-5400000">
            <a:off x="3581100" y="1219500"/>
            <a:ext cx="600" cy="4419600"/>
          </a:xfrm>
          <a:prstGeom prst="curvedConnector3">
            <a:avLst>
              <a:gd fmla="val 113674258" name="adj1"/>
            </a:avLst>
          </a:prstGeom>
          <a:noFill/>
          <a:ln cap="flat" cmpd="sng" w="28575">
            <a:solidFill>
              <a:srgbClr val="95BA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79"/>
          <p:cNvCxnSpPr>
            <a:stCxn id="811" idx="4"/>
            <a:endCxn id="812" idx="4"/>
          </p:cNvCxnSpPr>
          <p:nvPr/>
        </p:nvCxnSpPr>
        <p:spPr>
          <a:xfrm rot="-5400000">
            <a:off x="4572000" y="1066800"/>
            <a:ext cx="457200" cy="4267200"/>
          </a:xfrm>
          <a:prstGeom prst="curvedConnector3">
            <a:avLst>
              <a:gd fmla="val -134333" name="adj1"/>
            </a:avLst>
          </a:prstGeom>
          <a:noFill/>
          <a:ln cap="flat" cmpd="sng" w="28575">
            <a:solidFill>
              <a:srgbClr val="E8BA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79"/>
          <p:cNvSpPr/>
          <p:nvPr/>
        </p:nvSpPr>
        <p:spPr>
          <a:xfrm>
            <a:off x="2209800" y="2819400"/>
            <a:ext cx="914400" cy="685800"/>
          </a:xfrm>
          <a:prstGeom prst="ellipse">
            <a:avLst/>
          </a:prstGeom>
          <a:noFill/>
          <a:ln cap="flat" cmpd="sng" w="28575">
            <a:solidFill>
              <a:srgbClr val="FFD4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9"/>
          <p:cNvSpPr/>
          <p:nvPr/>
        </p:nvSpPr>
        <p:spPr>
          <a:xfrm>
            <a:off x="6553200" y="33528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FFD4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9" name="Google Shape;819;p79"/>
          <p:cNvCxnSpPr>
            <a:stCxn id="817" idx="4"/>
            <a:endCxn id="818" idx="4"/>
          </p:cNvCxnSpPr>
          <p:nvPr/>
        </p:nvCxnSpPr>
        <p:spPr>
          <a:xfrm flipH="1" rot="-5400000">
            <a:off x="4610100" y="1562100"/>
            <a:ext cx="381000" cy="4267200"/>
          </a:xfrm>
          <a:prstGeom prst="curvedConnector3">
            <a:avLst>
              <a:gd fmla="val 160000" name="adj1"/>
            </a:avLst>
          </a:prstGeom>
          <a:noFill/>
          <a:ln cap="flat" cmpd="sng" w="28575">
            <a:solidFill>
              <a:srgbClr val="FFD4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79"/>
          <p:cNvSpPr/>
          <p:nvPr/>
        </p:nvSpPr>
        <p:spPr>
          <a:xfrm>
            <a:off x="3429000" y="24384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78E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79"/>
          <p:cNvSpPr/>
          <p:nvPr/>
        </p:nvSpPr>
        <p:spPr>
          <a:xfrm>
            <a:off x="7848600" y="2438400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78E8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2" name="Google Shape;822;p79"/>
          <p:cNvCxnSpPr>
            <a:stCxn id="820" idx="4"/>
            <a:endCxn id="821" idx="4"/>
          </p:cNvCxnSpPr>
          <p:nvPr/>
        </p:nvCxnSpPr>
        <p:spPr>
          <a:xfrm flipH="1" rot="-5400000">
            <a:off x="6019500" y="762300"/>
            <a:ext cx="600" cy="4419600"/>
          </a:xfrm>
          <a:prstGeom prst="curvedConnector3">
            <a:avLst>
              <a:gd fmla="val 196835837" name="adj1"/>
            </a:avLst>
          </a:prstGeom>
          <a:noFill/>
          <a:ln cap="flat" cmpd="sng" w="28575">
            <a:solidFill>
              <a:srgbClr val="78E8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79"/>
          <p:cNvSpPr/>
          <p:nvPr/>
        </p:nvSpPr>
        <p:spPr>
          <a:xfrm>
            <a:off x="3427413" y="3354388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8C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9"/>
          <p:cNvSpPr/>
          <p:nvPr/>
        </p:nvSpPr>
        <p:spPr>
          <a:xfrm>
            <a:off x="7847013" y="3354388"/>
            <a:ext cx="762000" cy="533400"/>
          </a:xfrm>
          <a:prstGeom prst="ellipse">
            <a:avLst/>
          </a:prstGeom>
          <a:noFill/>
          <a:ln cap="flat" cmpd="sng" w="28575">
            <a:solidFill>
              <a:srgbClr val="8C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79"/>
          <p:cNvCxnSpPr>
            <a:stCxn id="823" idx="4"/>
            <a:endCxn id="824" idx="4"/>
          </p:cNvCxnSpPr>
          <p:nvPr/>
        </p:nvCxnSpPr>
        <p:spPr>
          <a:xfrm flipH="1" rot="-5400000">
            <a:off x="6017913" y="1678288"/>
            <a:ext cx="600" cy="4419600"/>
          </a:xfrm>
          <a:prstGeom prst="curvedConnector3">
            <a:avLst>
              <a:gd fmla="val 98316499" name="adj1"/>
            </a:avLst>
          </a:prstGeom>
          <a:noFill/>
          <a:ln cap="flat" cmpd="sng" w="28575">
            <a:solidFill>
              <a:srgbClr val="8CE8E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latex-image-1.pdf" id="826" name="Google Shape;82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5481638"/>
            <a:ext cx="4800601" cy="1079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9"/>
          <p:cNvSpPr txBox="1"/>
          <p:nvPr/>
        </p:nvSpPr>
        <p:spPr>
          <a:xfrm>
            <a:off x="5508625" y="5943600"/>
            <a:ext cx="325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the simulation relation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828" name="Google Shape;828;p79"/>
          <p:cNvCxnSpPr>
            <a:stCxn id="827" idx="1"/>
          </p:cNvCxnSpPr>
          <p:nvPr/>
        </p:nvCxnSpPr>
        <p:spPr>
          <a:xfrm flipH="1">
            <a:off x="4953025" y="6174450"/>
            <a:ext cx="555600" cy="22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9" name="Google Shape;829;p79"/>
          <p:cNvSpPr txBox="1"/>
          <p:nvPr/>
        </p:nvSpPr>
        <p:spPr>
          <a:xfrm>
            <a:off x="6553200" y="5410200"/>
            <a:ext cx="23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moves first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30" name="Google Shape;830;p7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31" name="Google Shape;831;p79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relation: the “matching” game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80"/>
          <p:cNvSpPr txBox="1"/>
          <p:nvPr>
            <p:ph idx="1" type="body"/>
          </p:nvPr>
        </p:nvSpPr>
        <p:spPr>
          <a:xfrm>
            <a:off x="304800" y="4191000"/>
            <a:ext cx="86106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Since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refines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can replace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, everywhere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>
                <a:latin typeface="Cambria"/>
                <a:ea typeface="Cambria"/>
                <a:cs typeface="Cambria"/>
                <a:sym typeface="Cambria"/>
              </a:rPr>
              <a:t>is OK, so is </a:t>
            </a:r>
            <a:r>
              <a:rPr i="1" lang="it-IT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39" name="Google Shape;83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8026400" cy="260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840" name="Google Shape;840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5481638"/>
            <a:ext cx="4800601" cy="1079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8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842" name="Google Shape;842;p80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8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relation: the “matching” game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49" name="Google Shape;849;p8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When is replacement acceptable?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50" name="Google Shape;850;p8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two machines are  “equivalent”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○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to define equivalence?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deterministic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machines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○"/>
            </a:pP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refinement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nondeterministic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machines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○"/>
            </a:pP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simulation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51" name="Google Shape;851;p8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57" name="Google Shape;857;p8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Bisimulation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58" name="Google Shape;858;p82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925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equivalent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and, when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playing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game,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 each move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either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machine can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move first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the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other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machine can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match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its move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have two machines simulating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each other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that are </a:t>
            </a:r>
            <a:r>
              <a:rPr b="1" i="1" lang="it-IT" sz="19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bisimilar</a:t>
            </a:r>
            <a:endParaRPr i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59" name="Google Shape;859;p8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0" y="2698364"/>
            <a:ext cx="6543399" cy="35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2"/>
          <p:cNvSpPr txBox="1"/>
          <p:nvPr/>
        </p:nvSpPr>
        <p:spPr>
          <a:xfrm>
            <a:off x="685800" y="5257800"/>
            <a:ext cx="32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simulates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aseline="-25000" i="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and viceversa, but they are </a:t>
            </a:r>
            <a:r>
              <a:rPr lang="it-IT" sz="24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bisimila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67" name="Google Shape;867;p8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and trace containment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68" name="Google Shape;868;p83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Theorem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if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simulates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then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⊆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if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⊆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), it is not necessarily the case that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simulates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69" name="Google Shape;869;p8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75" name="Google Shape;875;p8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500">
                <a:latin typeface="Helvetica Neue Light"/>
                <a:ea typeface="Helvetica Neue Light"/>
                <a:cs typeface="Helvetica Neue Light"/>
                <a:sym typeface="Helvetica Neue Light"/>
              </a:rPr>
              <a:t>Replacement summary</a:t>
            </a:r>
            <a:endParaRPr sz="35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76" name="Google Shape;876;p84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a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refinement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b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replace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without causing a type conflict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a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refinement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b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produce only output sequences that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produce, given the same input sequences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a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simulation refinement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b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(equivalently,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simulates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b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 every reaction,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produce only outputs that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produce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</a:t>
            </a: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bisimilar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b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 every reaction, either machine can produce only outputs that the other can produce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4162" lvl="0" marL="28416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8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4162" lvl="0" marL="28416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all cases, if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“valid” in a system, then so is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where only the meaning of “valid” varies. Alternative terminology: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4162" lvl="0" marL="28416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implements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(here,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taken to be a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specification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77" name="Google Shape;877;p8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83" name="Google Shape;883;p8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900">
                <a:latin typeface="Helvetica Neue Light"/>
                <a:ea typeface="Helvetica Neue Light"/>
                <a:cs typeface="Helvetica Neue Light"/>
                <a:sym typeface="Helvetica Neue Light"/>
              </a:rPr>
              <a:t>Reachability analysis and model checking</a:t>
            </a:r>
            <a:endParaRPr sz="39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84" name="Google Shape;884;p85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Reachability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analysis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computing the set of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reachable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states for a system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verify whether a desirable outcome (goal, </a:t>
            </a:r>
            <a:r>
              <a:rPr i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is reached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aid in solving dependability problems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checking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algorithm to determine if a system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satisfies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 formal specification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e.g., expressed in temporal logic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○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typically, involving reachability analysis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85" name="Google Shape;885;p8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91" name="Google Shape;891;p8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Formal verification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892" name="Google Shape;89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0675"/>
            <a:ext cx="8839198" cy="341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6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99" name="Google Shape;899;p8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Open vs. closed systems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00" name="Google Shape;900;p8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7"/>
          <p:cNvSpPr/>
          <p:nvPr/>
        </p:nvSpPr>
        <p:spPr>
          <a:xfrm>
            <a:off x="455525" y="5133708"/>
            <a:ext cx="8173800" cy="9012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verification, we obtain a closed system by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composing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system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environment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models</a:t>
            </a:r>
            <a:endParaRPr b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2" name="Google Shape;902;p87"/>
          <p:cNvSpPr/>
          <p:nvPr/>
        </p:nvSpPr>
        <p:spPr>
          <a:xfrm>
            <a:off x="455525" y="1746104"/>
            <a:ext cx="8173800" cy="525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closed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system is one with </a:t>
            </a:r>
            <a:r>
              <a:rPr i="1" lang="it-IT" sz="28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inputs</a:t>
            </a:r>
            <a:endParaRPr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Figure_14_01" id="903" name="Google Shape;903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613" y="2271100"/>
            <a:ext cx="8640763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9" name="Google Shape;909;p8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Model checking G p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10" name="Google Shape;910;p8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8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Consider an LTL formula of the form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where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proposition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property on a single state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verify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on a system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one simply needs to </a:t>
            </a:r>
            <a:r>
              <a:rPr lang="it-IT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enumerate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all the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reachable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states and check that they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all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satisfy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i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 </a:t>
            </a:r>
            <a:r>
              <a:rPr b="1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space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found is typically represented as a directed graph called a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 </a:t>
            </a:r>
            <a:r>
              <a:rPr b="1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graph</a:t>
            </a:r>
            <a:endParaRPr b="1" i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When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finite-state machine, this reachability analysis will </a:t>
            </a:r>
            <a:r>
              <a:rPr lang="it-IT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terminate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in theory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practice, though, the number of states may be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prohibitively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large, consuming too much runtime or memory (the </a:t>
            </a:r>
            <a:r>
              <a:rPr b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 explosion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problem)</a:t>
            </a:r>
            <a:endParaRPr i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_14_03" id="916" name="Google Shape;91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63" y="1708701"/>
            <a:ext cx="8596678" cy="4650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8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18" name="Google Shape;918;p8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Traffic light controller example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19" name="Google Shape;919;p89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9"/>
          <p:cNvSpPr txBox="1"/>
          <p:nvPr/>
        </p:nvSpPr>
        <p:spPr>
          <a:xfrm>
            <a:off x="304800" y="1319350"/>
            <a:ext cx="85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Property: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green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∧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crossing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_14_04" id="925" name="Google Shape;92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825" y="2172379"/>
            <a:ext cx="7780340" cy="4278312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9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27" name="Google Shape;927;p9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600">
                <a:latin typeface="Helvetica Neue Light"/>
                <a:ea typeface="Helvetica Neue Light"/>
                <a:cs typeface="Helvetica Neue Light"/>
                <a:sym typeface="Helvetica Neue Light"/>
              </a:rPr>
              <a:t>FSM composition for the traffic light controller</a:t>
            </a:r>
            <a:endParaRPr sz="36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28" name="Google Shape;928;p90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90"/>
          <p:cNvSpPr txBox="1"/>
          <p:nvPr/>
        </p:nvSpPr>
        <p:spPr>
          <a:xfrm>
            <a:off x="304800" y="1319350"/>
            <a:ext cx="853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Property: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green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∧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crossing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FSM has </a:t>
            </a:r>
            <a:r>
              <a:rPr i="1" lang="it-IT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188</a:t>
            </a:r>
            <a:r>
              <a:rPr i="0" lang="it-IT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states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 </a:t>
            </a:r>
            <a:r>
              <a:rPr i="0" lang="it-IT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accounting for different values of count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9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35" name="Google Shape;935;p9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600">
                <a:latin typeface="Helvetica Neue Light"/>
                <a:ea typeface="Helvetica Neue Light"/>
                <a:cs typeface="Helvetica Neue Light"/>
                <a:sym typeface="Helvetica Neue Light"/>
              </a:rPr>
              <a:t>Reachability through graph traversal</a:t>
            </a:r>
            <a:endParaRPr sz="36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36" name="Google Shape;936;p9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91"/>
          <p:cNvSpPr/>
          <p:nvPr/>
        </p:nvSpPr>
        <p:spPr>
          <a:xfrm>
            <a:off x="455525" y="1249675"/>
            <a:ext cx="69249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Construct the state graph on the fly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Start with initial state, and explore next states using a suitable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graph-</a:t>
            </a:r>
            <a:r>
              <a:rPr b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traversal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strategy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●"/>
            </a:pP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</a:t>
            </a:r>
            <a:r>
              <a:rPr i="1"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DFS</a:t>
            </a:r>
            <a:endParaRPr i="1"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1" marL="9144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mbria"/>
              <a:buChar char="○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Maintain 2 data structures: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AutoNum type="romanLcPeriod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Set of visited states R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AutoNum type="romanLcPeriod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 with current path from the initial state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DFS-basic" id="938" name="Google Shape;938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3" y="1478275"/>
            <a:ext cx="2127625" cy="31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44" name="Google Shape;944;p9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600">
                <a:latin typeface="Helvetica Neue Light"/>
                <a:ea typeface="Helvetica Neue Light"/>
                <a:cs typeface="Helvetica Neue Light"/>
                <a:sym typeface="Helvetica Neue Light"/>
              </a:rPr>
              <a:t>Generating counterexamples</a:t>
            </a:r>
            <a:endParaRPr sz="36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45" name="Google Shape;945;p9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92"/>
          <p:cNvSpPr txBox="1"/>
          <p:nvPr/>
        </p:nvSpPr>
        <p:spPr>
          <a:xfrm>
            <a:off x="1104900" y="1563300"/>
            <a:ext cx="693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i="0" lang="it-IT" sz="2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the DFS algorithm finds the target (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i="0" lang="it-IT" sz="2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error</a:t>
            </a:r>
            <a:r>
              <a:rPr lang="it-IT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r>
              <a:rPr i="0" lang="it-IT" sz="2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state </a:t>
            </a:r>
            <a:r>
              <a:rPr i="1" lang="it-IT" sz="2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0" lang="it-IT" sz="2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how can we generate a trace from the initial state to that state?</a:t>
            </a:r>
            <a:endParaRPr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7" name="Google Shape;947;p92"/>
          <p:cNvSpPr/>
          <p:nvPr/>
        </p:nvSpPr>
        <p:spPr>
          <a:xfrm>
            <a:off x="1164771" y="3322320"/>
            <a:ext cx="838200" cy="685800"/>
          </a:xfrm>
          <a:prstGeom prst="ellipse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92"/>
          <p:cNvSpPr/>
          <p:nvPr/>
        </p:nvSpPr>
        <p:spPr>
          <a:xfrm>
            <a:off x="1164771" y="4312920"/>
            <a:ext cx="838200" cy="685800"/>
          </a:xfrm>
          <a:prstGeom prst="ellipse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92"/>
          <p:cNvSpPr/>
          <p:nvPr/>
        </p:nvSpPr>
        <p:spPr>
          <a:xfrm>
            <a:off x="1240971" y="5532120"/>
            <a:ext cx="838200" cy="685800"/>
          </a:xfrm>
          <a:prstGeom prst="ellipse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0" name="Google Shape;950;p92"/>
          <p:cNvCxnSpPr/>
          <p:nvPr/>
        </p:nvCxnSpPr>
        <p:spPr>
          <a:xfrm>
            <a:off x="1545771" y="2941320"/>
            <a:ext cx="0" cy="381000"/>
          </a:xfrm>
          <a:prstGeom prst="straightConnector1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1" name="Google Shape;951;p92"/>
          <p:cNvCxnSpPr/>
          <p:nvPr/>
        </p:nvCxnSpPr>
        <p:spPr>
          <a:xfrm>
            <a:off x="1621971" y="400812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2" name="Google Shape;952;p92"/>
          <p:cNvCxnSpPr/>
          <p:nvPr/>
        </p:nvCxnSpPr>
        <p:spPr>
          <a:xfrm>
            <a:off x="1698171" y="4998720"/>
            <a:ext cx="0" cy="533400"/>
          </a:xfrm>
          <a:prstGeom prst="straightConnector1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3" name="Google Shape;953;p92"/>
          <p:cNvSpPr txBox="1"/>
          <p:nvPr/>
        </p:nvSpPr>
        <p:spPr>
          <a:xfrm>
            <a:off x="1507671" y="5608320"/>
            <a:ext cx="3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Times New Roman"/>
              <a:buNone/>
            </a:pPr>
            <a:r>
              <a:rPr b="0" i="1" lang="it-IT" sz="24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92"/>
          <p:cNvSpPr txBox="1"/>
          <p:nvPr/>
        </p:nvSpPr>
        <p:spPr>
          <a:xfrm>
            <a:off x="1348921" y="3474720"/>
            <a:ext cx="4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b="0" i="1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0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955" name="Google Shape;955;p92"/>
          <p:cNvSpPr txBox="1"/>
          <p:nvPr/>
        </p:nvSpPr>
        <p:spPr>
          <a:xfrm>
            <a:off x="1348921" y="4389120"/>
            <a:ext cx="4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0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956" name="Google Shape;956;p92"/>
          <p:cNvSpPr txBox="1"/>
          <p:nvPr/>
        </p:nvSpPr>
        <p:spPr>
          <a:xfrm>
            <a:off x="2764971" y="4008120"/>
            <a:ext cx="10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6666"/>
              </a:buClr>
              <a:buSzPts val="2400"/>
              <a:buFont typeface="Arial"/>
              <a:buNone/>
            </a:pPr>
            <a:r>
              <a:rPr i="0" lang="it-IT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7" name="Google Shape;957;p92"/>
          <p:cNvSpPr txBox="1"/>
          <p:nvPr/>
        </p:nvSpPr>
        <p:spPr>
          <a:xfrm>
            <a:off x="3101521" y="5608320"/>
            <a:ext cx="4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0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958" name="Google Shape;958;p92"/>
          <p:cNvSpPr txBox="1"/>
          <p:nvPr/>
        </p:nvSpPr>
        <p:spPr>
          <a:xfrm>
            <a:off x="3101521" y="5151120"/>
            <a:ext cx="4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0" lang="it-IT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959" name="Google Shape;959;p92"/>
          <p:cNvSpPr txBox="1"/>
          <p:nvPr/>
        </p:nvSpPr>
        <p:spPr>
          <a:xfrm>
            <a:off x="3107871" y="4693920"/>
            <a:ext cx="32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Times New Roman"/>
              <a:buNone/>
            </a:pPr>
            <a:r>
              <a:rPr b="0" i="1" lang="it-IT" sz="2400" u="none" cap="none" strike="noStrik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0" name="Google Shape;960;p92"/>
          <p:cNvCxnSpPr/>
          <p:nvPr/>
        </p:nvCxnSpPr>
        <p:spPr>
          <a:xfrm>
            <a:off x="2993571" y="4770120"/>
            <a:ext cx="0" cy="1295400"/>
          </a:xfrm>
          <a:prstGeom prst="straightConnector1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92"/>
          <p:cNvCxnSpPr/>
          <p:nvPr/>
        </p:nvCxnSpPr>
        <p:spPr>
          <a:xfrm>
            <a:off x="2993571" y="6065520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92"/>
          <p:cNvCxnSpPr/>
          <p:nvPr/>
        </p:nvCxnSpPr>
        <p:spPr>
          <a:xfrm>
            <a:off x="3679371" y="4770120"/>
            <a:ext cx="0" cy="1295400"/>
          </a:xfrm>
          <a:prstGeom prst="straightConnector1">
            <a:avLst/>
          </a:prstGeom>
          <a:noFill/>
          <a:ln cap="flat" cmpd="sng" w="12700">
            <a:solidFill>
              <a:srgbClr val="33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92"/>
          <p:cNvSpPr txBox="1"/>
          <p:nvPr/>
        </p:nvSpPr>
        <p:spPr>
          <a:xfrm>
            <a:off x="3984171" y="3017520"/>
            <a:ext cx="373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2400"/>
              <a:buFont typeface="Arial"/>
              <a:buNone/>
            </a:pPr>
            <a:r>
              <a:rPr i="0" lang="it-IT" sz="24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Simply, read the trace        off the stack</a:t>
            </a:r>
            <a:r>
              <a:rPr lang="it-IT" sz="24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93"/>
          <p:cNvSpPr txBox="1"/>
          <p:nvPr/>
        </p:nvSpPr>
        <p:spPr>
          <a:xfrm>
            <a:off x="300448" y="5682525"/>
            <a:ext cx="505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(red, crossing, 1)}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69" name="Google Shape;969;p93"/>
          <p:cNvSpPr txBox="1"/>
          <p:nvPr/>
        </p:nvSpPr>
        <p:spPr>
          <a:xfrm>
            <a:off x="296104" y="5691225"/>
            <a:ext cx="826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 (red, crossing, 60)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0" name="Google Shape;970;p93"/>
          <p:cNvSpPr txBox="1"/>
          <p:nvPr/>
        </p:nvSpPr>
        <p:spPr>
          <a:xfrm>
            <a:off x="304800" y="5686879"/>
            <a:ext cx="826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(green, none, 0)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1" name="Google Shape;971;p93"/>
          <p:cNvSpPr txBox="1"/>
          <p:nvPr/>
        </p:nvSpPr>
        <p:spPr>
          <a:xfrm>
            <a:off x="300446" y="5682525"/>
            <a:ext cx="826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(green, none, 0),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(green, none, 1)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2" name="Google Shape;972;p93"/>
          <p:cNvSpPr txBox="1"/>
          <p:nvPr/>
        </p:nvSpPr>
        <p:spPr>
          <a:xfrm>
            <a:off x="296091" y="5691233"/>
            <a:ext cx="826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(green, none, 0), (green, none, 1),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 (green, none, 60)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3" name="Google Shape;973;p93"/>
          <p:cNvSpPr txBox="1"/>
          <p:nvPr/>
        </p:nvSpPr>
        <p:spPr>
          <a:xfrm>
            <a:off x="291009" y="5690722"/>
            <a:ext cx="826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(green, none, 0), (green, none, 1), … (green, none, 60),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(yellow, waiting, 0)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4" name="Google Shape;974;p93"/>
          <p:cNvSpPr txBox="1"/>
          <p:nvPr/>
        </p:nvSpPr>
        <p:spPr>
          <a:xfrm>
            <a:off x="299717" y="5686368"/>
            <a:ext cx="826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(green, none, 0), (green, none, 1), … (green, none, 60), (yellow, waiting, 0),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 (yellow, waiting, 5)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5" name="Google Shape;975;p93"/>
          <p:cNvSpPr txBox="1"/>
          <p:nvPr/>
        </p:nvSpPr>
        <p:spPr>
          <a:xfrm>
            <a:off x="297901" y="5682013"/>
            <a:ext cx="826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(green, none, 0), (green, none, 1), … (green, none, 60), (yellow, waiting, 0), … (yellow, waiting, 5),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(pending, waiting, 1)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6" name="Google Shape;976;p93"/>
          <p:cNvSpPr txBox="1"/>
          <p:nvPr/>
        </p:nvSpPr>
        <p:spPr>
          <a:xfrm>
            <a:off x="293546" y="5677659"/>
            <a:ext cx="826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0), (red, crossing, 1), … (red, crossing, 60), (green, none, 0), (green, none, 1), … (green, none, 60), (yellow, waiting, 0), … (yellow, waiting, 5), (pending, waiting, 1),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 (pending, waiting, 60)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7" name="Google Shape;977;p9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78" name="Google Shape;978;p9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Explicit-state modelchecking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79" name="Google Shape;979;p9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_14_04" id="980" name="Google Shape;980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124525"/>
            <a:ext cx="6477002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93"/>
          <p:cNvSpPr txBox="1"/>
          <p:nvPr/>
        </p:nvSpPr>
        <p:spPr>
          <a:xfrm>
            <a:off x="304800" y="1319350"/>
            <a:ext cx="85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Property: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green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∧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crossing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2" name="Google Shape;982;p93"/>
          <p:cNvSpPr txBox="1"/>
          <p:nvPr/>
        </p:nvSpPr>
        <p:spPr>
          <a:xfrm>
            <a:off x="304800" y="5686875"/>
            <a:ext cx="293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 = {(red, crossing, 0)}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88" name="Google Shape;988;p9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Symbolic approaches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89" name="Google Shape;989;p9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94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Rather than exploring new reachable states one at a time, we can explore new </a:t>
            </a:r>
            <a:r>
              <a:rPr lang="it-IT" sz="21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sets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reachable states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however, we only represent sets </a:t>
            </a:r>
            <a:r>
              <a:rPr lang="it-IT" sz="19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implicitly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as Boolean functions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66669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Set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operations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can be performed using </a:t>
            </a:r>
            <a:r>
              <a:rPr b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Boolean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algebra</a:t>
            </a:r>
            <a:endParaRPr i="1"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76250" lvl="0" marL="8001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mbria"/>
              <a:buChar char="●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represent a finite set of states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by its characteristic Boolean function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aseline="-25000"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i="1"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9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aseline="-25000"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 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= 1 iff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∈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9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Similarly, the state transition function δ yields a set δ(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of next states from current state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 and so can also be represented using a characteristic Boolean function for each </a:t>
            </a: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●"/>
            </a:pP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BFS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○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generate the state graph by repeated application of transition function (δ)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the goal state reached, stop &amp; report success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■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else, continue until all states are seen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95"/>
          <p:cNvSpPr txBox="1"/>
          <p:nvPr/>
        </p:nvSpPr>
        <p:spPr>
          <a:xfrm>
            <a:off x="117550" y="5422975"/>
            <a:ext cx="8817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green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none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pending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waiting ∧ 1 ≤ count ≤ 60)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yellow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waiting ∧ count = 0)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96" name="Google Shape;996;p95"/>
          <p:cNvSpPr txBox="1"/>
          <p:nvPr/>
        </p:nvSpPr>
        <p:spPr>
          <a:xfrm>
            <a:off x="118975" y="5424425"/>
            <a:ext cx="8817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green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none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pending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waiting ∧ 1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yellow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waiting ∧ 0 ≤ count ≤ 5)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97" name="Google Shape;997;p95"/>
          <p:cNvSpPr txBox="1"/>
          <p:nvPr/>
        </p:nvSpPr>
        <p:spPr>
          <a:xfrm>
            <a:off x="121925" y="5425100"/>
            <a:ext cx="429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≤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1)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98" name="Google Shape;998;p95"/>
          <p:cNvSpPr txBox="1"/>
          <p:nvPr/>
        </p:nvSpPr>
        <p:spPr>
          <a:xfrm>
            <a:off x="117575" y="5420750"/>
            <a:ext cx="445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≤ 60)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99" name="Google Shape;999;p95"/>
          <p:cNvSpPr txBox="1"/>
          <p:nvPr/>
        </p:nvSpPr>
        <p:spPr>
          <a:xfrm>
            <a:off x="113225" y="5429450"/>
            <a:ext cx="891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≤ 60) 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∨ (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green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none ∧ count = 0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0" name="Google Shape;1000;p9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01" name="Google Shape;1001;p9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Symbolic approach example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02" name="Google Shape;1002;p9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_14_04" id="1003" name="Google Shape;1003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824079"/>
            <a:ext cx="6477002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5"/>
          <p:cNvSpPr txBox="1"/>
          <p:nvPr/>
        </p:nvSpPr>
        <p:spPr>
          <a:xfrm>
            <a:off x="304800" y="1319350"/>
            <a:ext cx="85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Property: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green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∧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crossing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5" name="Google Shape;1005;p95"/>
          <p:cNvSpPr txBox="1"/>
          <p:nvPr/>
        </p:nvSpPr>
        <p:spPr>
          <a:xfrm>
            <a:off x="71836" y="4745546"/>
            <a:ext cx="286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R, set of reachable states,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represented by: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6" name="Google Shape;1006;p95"/>
          <p:cNvSpPr txBox="1"/>
          <p:nvPr/>
        </p:nvSpPr>
        <p:spPr>
          <a:xfrm>
            <a:off x="124100" y="5429450"/>
            <a:ext cx="404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count = 0)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7" name="Google Shape;1007;p95"/>
          <p:cNvSpPr txBox="1"/>
          <p:nvPr/>
        </p:nvSpPr>
        <p:spPr>
          <a:xfrm>
            <a:off x="114663" y="5430888"/>
            <a:ext cx="867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green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none ∧ 0 ≤ count ≤ 1)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pending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waiting ∧ count = 1)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8" name="Google Shape;1008;p95"/>
          <p:cNvSpPr txBox="1"/>
          <p:nvPr/>
        </p:nvSpPr>
        <p:spPr>
          <a:xfrm>
            <a:off x="116100" y="5421550"/>
            <a:ext cx="8817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95300" lvl="0" marL="49530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Noto Sans Symbols"/>
              <a:buNone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red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crossing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green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none ∧ 0 ≤ count ≤ 60) ∨ (ν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pending ∧ ν</a:t>
            </a:r>
            <a:r>
              <a:rPr baseline="-25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waiting ∧ 1 ≤ count ≤ 60)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14" name="Google Shape;1014;p9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Abstraction in modelchecking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15" name="Google Shape;1015;p96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6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Should use simplest model of a system that provides proof of safety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Simpler models mean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69875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i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smaller</a:t>
            </a: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 spaces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•"/>
            </a:pPr>
            <a:r>
              <a:rPr i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easier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check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challenge is to know </a:t>
            </a:r>
            <a:r>
              <a:rPr i="1"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which</a:t>
            </a: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details can be abstracted away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69875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simple and useful approach is called </a:t>
            </a:r>
            <a:r>
              <a:rPr i="1" lang="it-IT" sz="2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localization abstraction</a:t>
            </a:r>
            <a:endParaRPr sz="2000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•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localization abstraction </a:t>
            </a:r>
            <a:r>
              <a:rPr b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hides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state variables that are </a:t>
            </a:r>
            <a:r>
              <a:rPr i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irrelevant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the property being verified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Char char="•"/>
            </a:pP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still a major </a:t>
            </a:r>
            <a:r>
              <a:rPr i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challenge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</a:t>
            </a:r>
            <a:r>
              <a:rPr b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automatically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compute simple abstractions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15900" lvl="3" marL="160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•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typically 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tackled 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with strategies such as </a:t>
            </a:r>
            <a:r>
              <a:rPr b="1"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ounter</a:t>
            </a:r>
            <a:r>
              <a:rPr b="1"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xample-</a:t>
            </a:r>
            <a:r>
              <a:rPr b="1"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uided </a:t>
            </a:r>
            <a:r>
              <a:rPr b="1"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bstraction </a:t>
            </a:r>
            <a:r>
              <a:rPr b="1"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efinement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CEGAR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22" name="Google Shape;1022;p9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Abstraction example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23" name="Google Shape;1023;p9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_14_07" id="1024" name="Google Shape;1024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3363" y="2328275"/>
            <a:ext cx="6197274" cy="400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97"/>
          <p:cNvSpPr txBox="1"/>
          <p:nvPr/>
        </p:nvSpPr>
        <p:spPr>
          <a:xfrm>
            <a:off x="304800" y="1319350"/>
            <a:ext cx="85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Property: </a:t>
            </a:r>
            <a:r>
              <a:rPr b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¬(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green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∧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crossing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lang="it-IT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6" name="Google Shape;1026;p97"/>
          <p:cNvSpPr txBox="1"/>
          <p:nvPr/>
        </p:nvSpPr>
        <p:spPr>
          <a:xfrm>
            <a:off x="304800" y="1781050"/>
            <a:ext cx="853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Char char="●"/>
            </a:pPr>
            <a:r>
              <a:rPr lang="it-IT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what’s the hidden variable?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9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32" name="Google Shape;1032;p9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4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Modelchecking </a:t>
            </a: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l</a:t>
            </a:r>
            <a:r>
              <a:rPr lang="it-IT" sz="4000">
                <a:latin typeface="Helvetica Neue Light"/>
                <a:ea typeface="Helvetica Neue Light"/>
                <a:cs typeface="Helvetica Neue Light"/>
                <a:sym typeface="Helvetica Neue Light"/>
              </a:rPr>
              <a:t>iveness properties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33" name="Google Shape;1033;p98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Let’s recall:</a:t>
            </a:r>
            <a:endParaRPr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 property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informally, “nothing bad happens” during execution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formally, execution does not satisfy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iff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∃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finite-length prefix of the execution that cannot be extended to an infinite execution satisfying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some violation occurs)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has </a:t>
            </a:r>
            <a:r>
              <a:rPr b="1"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finite</a:t>
            </a:r>
            <a:r>
              <a:rPr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-length counterexamples</a:t>
            </a:r>
            <a:endParaRPr sz="1500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Liveness property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informally, “something good will happen” (eventually)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formally, every finite-length execution trace can be extended to an infinite execution that satisfies </a:t>
            </a:r>
            <a:r>
              <a:rPr b="1"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trivially,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Φ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only </a:t>
            </a:r>
            <a:r>
              <a:rPr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has </a:t>
            </a:r>
            <a:r>
              <a:rPr b="1"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infinite</a:t>
            </a:r>
            <a:r>
              <a:rPr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-length counterexamples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more involved than simply doing a reachability analysis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2" marL="1371600" rtl="0" algn="l">
              <a:spcBef>
                <a:spcPts val="520"/>
              </a:spcBef>
              <a:spcAft>
                <a:spcPts val="0"/>
              </a:spcAft>
              <a:buClr>
                <a:srgbClr val="980000"/>
              </a:buClr>
              <a:buSzPts val="1500"/>
              <a:buFont typeface="Cambria"/>
              <a:buChar char="■"/>
            </a:pPr>
            <a:r>
              <a:rPr lang="it-IT" sz="15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e.g., automata-theoretic approach to verification</a:t>
            </a:r>
            <a:endParaRPr sz="1500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3" marL="18288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¬Φ =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 —&gt; B ⊗ M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3" marL="18288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baseline="-25000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visits an accepting state infinitely often —&gt;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>
                <a:solidFill>
                  <a:schemeClr val="dk1"/>
                </a:solidFill>
              </a:rPr>
              <a:t>⊯ </a:t>
            </a:r>
            <a:r>
              <a:rPr lang="it-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4" marL="22860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○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otherwise,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⊨</a:t>
            </a:r>
            <a:r>
              <a:rPr lang="it-IT">
                <a:solidFill>
                  <a:schemeClr val="dk1"/>
                </a:solidFill>
              </a:rPr>
              <a:t> </a:t>
            </a:r>
            <a:r>
              <a:rPr lang="it-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4" name="Google Shape;1034;p9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40" name="Google Shape;1040;p9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Use case: s</a:t>
            </a:r>
            <a:r>
              <a:rPr lang="it-IT" sz="3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equence-of-(random-)pickings</a:t>
            </a:r>
            <a:endParaRPr sz="4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41" name="Google Shape;1041;p99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Suppose we have a Robot that must pick up multiple things, in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any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order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robot picks up item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where 1 ≤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≤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would you state this goal in temporal logic?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 to be achieved is: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42" name="Google Shape;1042;p99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0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48" name="Google Shape;1048;p10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Use case: s</a:t>
            </a:r>
            <a:r>
              <a:rPr lang="it-IT" sz="3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equence-of-(ordered-)pickings</a:t>
            </a:r>
            <a:endParaRPr sz="3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49" name="Google Shape;1049;p100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Suppose we have a Robot that must pick up multiple things, in 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specified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order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robot picks up item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where 1 ≤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≤ </a:t>
            </a:r>
            <a:r>
              <a:rPr i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would you state this goal in temporal logic?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Char char="●"/>
            </a:pP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 to be achieved is: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 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r>
              <a:rPr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</a:t>
            </a:r>
            <a:r>
              <a:rPr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))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50" name="Google Shape;1050;p100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0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56" name="Google Shape;1056;p10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800">
                <a:latin typeface="Helvetica Neue Light"/>
                <a:ea typeface="Helvetica Neue Light"/>
                <a:cs typeface="Helvetica Neue Light"/>
                <a:sym typeface="Helvetica Neue Light"/>
              </a:rPr>
              <a:t>Controller synthesis</a:t>
            </a:r>
            <a:endParaRPr sz="3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57" name="Google Shape;1057;p10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01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Consider the first part alone: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can we use model checking to synthesize a control strategy?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1" marL="9144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Char char="○"/>
            </a:pPr>
            <a:r>
              <a:rPr lang="it-IT" sz="2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recall that		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= ¬</a:t>
            </a: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(¬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Therefore, we can construct a counterexample to: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(¬</a:t>
            </a:r>
            <a:r>
              <a:rPr i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r>
              <a:rPr baseline="-25000" i="1" lang="it-IT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it-IT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counterexample is a trace that gets the robot to the desired point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0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64" name="Google Shape;1064;p10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800">
                <a:latin typeface="Helvetica Neue Light"/>
                <a:ea typeface="Helvetica Neue Light"/>
                <a:cs typeface="Helvetica Neue Light"/>
                <a:sym typeface="Helvetica Neue Light"/>
              </a:rPr>
              <a:t>Domain background: wrap-up (I)</a:t>
            </a:r>
            <a:endParaRPr sz="3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65" name="Google Shape;1065;p10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02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520"/>
              </a:spcBef>
              <a:spcAft>
                <a:spcPts val="0"/>
              </a:spcAft>
              <a:buNone/>
            </a:pP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🔄 LTL → Automata</a:t>
            </a:r>
            <a:endParaRPr b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 formulas are not FSMs, but they can be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compiled into automata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(typically nondeterministic Büchi automata, NBA).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allows you to </a:t>
            </a: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compare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system FSM against the property, since both are now automata.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🧩 Checking</a:t>
            </a:r>
            <a:endParaRPr b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System FSM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(Kripke structure, transition system).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Spec LTL φ → NBA Aφ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that accepts exactly the traces satisfying φ.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Product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system × A¬φ (the automaton for the negation of the spec).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product accepts a trace → counterexample (spec violated).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○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not → system ⊨ φ.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👉 Here “comparison” means: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"/>
              <a:buChar char="●"/>
            </a:pP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Does the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of system traces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⊆ </a:t>
            </a:r>
            <a:r>
              <a:rPr i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language defined by spec automaton</a:t>
            </a:r>
            <a:r>
              <a:rPr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0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72" name="Google Shape;1072;p10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800">
                <a:latin typeface="Helvetica Neue Light"/>
                <a:ea typeface="Helvetica Neue Light"/>
                <a:cs typeface="Helvetica Neue Light"/>
                <a:sym typeface="Helvetica Neue Light"/>
              </a:rPr>
              <a:t>Domain background: wrap-up (II)</a:t>
            </a:r>
            <a:endParaRPr sz="3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73" name="Google Shape;1073;p103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103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🛠️ Synthesis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Start with LTL spec φ.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Translate φ into a Büchi automaton (or deterministic parity automaton if needed).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Treat environment vs. controller as a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two-player game on the automaton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○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States partitioned into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system choices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vs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environment choices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○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Winning condition = satisfying φ.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Solve the game → extract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controller FSM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that ensures φ.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👉 Here “substitution” means: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synthesized controller FSM is inserted into the system FSM so that all resulting behaviors are in L(φ).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🔍 Comparison / Substitution in LTL Context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Comparison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b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System FSM compared against Spec Automaton (language containment).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Substitution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b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FSM C1 ensures φ in a system S, and C2 simulates/refines C1, then replacing C1 with C2 keeps φ satisfied.</a:t>
            </a:r>
            <a:endParaRPr b="1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80" name="Google Shape;1080;p10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-IT" sz="3800">
                <a:latin typeface="Helvetica Neue Light"/>
                <a:ea typeface="Helvetica Neue Light"/>
                <a:cs typeface="Helvetica Neue Light"/>
                <a:sym typeface="Helvetica Neue Light"/>
              </a:rPr>
              <a:t>Domain background: wrap-up (III)</a:t>
            </a:r>
            <a:endParaRPr sz="3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81" name="Google Shape;1081;p10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04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is the logic → automata → FSM chain: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 formula φ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↓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automaton Aφ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↓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compare/substitute with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↓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system FSM(s)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🌐 Intuition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 itself is </a:t>
            </a: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declarative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(“eventually this holds”, “always that holds”).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FSMs are </a:t>
            </a: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operational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(states, transitions).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bridge is automata theory: you </a:t>
            </a: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specs to FSM-like structures</a:t>
            </a:r>
            <a:r>
              <a:rPr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so that comparison/substitution is well-defined.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0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7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What protocolizing may look like</a:t>
            </a:r>
            <a:endParaRPr i="0" sz="37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88" name="Google Shape;1088;p105"/>
          <p:cNvSpPr/>
          <p:nvPr/>
        </p:nvSpPr>
        <p:spPr>
          <a:xfrm>
            <a:off x="455525" y="1249675"/>
            <a:ext cx="8173800" cy="54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</a:rPr>
              <a:t>🧠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Core Idea: Protocolizing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Making interactions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explicit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structured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verifiable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Devices, systems, and humans follow </a:t>
            </a:r>
            <a:r>
              <a:rPr b="1"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rules of engagement</a:t>
            </a:r>
            <a:r>
              <a:rPr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 — like roles in a play.</a:t>
            </a:r>
            <a:endParaRPr sz="1050">
              <a:solidFill>
                <a:srgbClr val="0E0E0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🔧 Why Protocols?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Coordination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Who does what, when, and under what conditions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Scalability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From devices to swarms to whole infrastructures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Accountability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Traceable actions, auditability, compliance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Preventing unintended or unsafe behavior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🕸️ Examples of Protocolizing in Practice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Machine-to-machine handover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smart manufacturing (e.g., conveyor → robot)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Negotiation protocols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resource sharing in edge computing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Human-in-the-loop protocols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emergency overrides, e.g., killswitches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Formal contracts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service-level guarantees in IIoT platforms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📐 Tools &amp; Models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Finite State Machines (FSMs)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For device behavior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Linear Temporal Logic (LTL)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For safety/liveness guarantees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Interaction Protocols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Like session types or smart contracts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Digital Twins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As protocol-bound system mirrors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🌍 Big Picture: 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Protocolizing is how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decentralized, heterogeneous systems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can behave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 one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safely and predictably — especially when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humans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robots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infrastructure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must interact.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🧩 </a:t>
            </a:r>
            <a:r>
              <a:rPr i="1" lang="it-IT" sz="1050">
                <a:solidFill>
                  <a:srgbClr val="0E0E0E"/>
                </a:solidFill>
                <a:latin typeface="Cambria"/>
                <a:ea typeface="Cambria"/>
                <a:cs typeface="Cambria"/>
                <a:sym typeface="Cambria"/>
              </a:rPr>
              <a:t>Protocolizing turns implicit behavior into explicit interaction patterns — enabling coordination, verification, and trust.</a:t>
            </a:r>
            <a:endParaRPr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9" name="Google Shape;1089;p10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090" name="Google Shape;1090;p10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0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Proposal: protocolized 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CPS 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engineering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96" name="Google Shape;1096;p106"/>
          <p:cNvSpPr/>
          <p:nvPr/>
        </p:nvSpPr>
        <p:spPr>
          <a:xfrm>
            <a:off x="455525" y="1478275"/>
            <a:ext cx="8173800" cy="50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🛠️ What does protocolizing CPS engineering mean?</a:t>
            </a:r>
            <a:endParaRPr b="1"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🔧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Explicit coordination rules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turn tacit “best-effort” habits into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codified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steps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⚙️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Technical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focus – latency, safety margins, failure modes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💶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Economic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focus – cost, energy, throughput, ROI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👥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Human / social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focus – trust, acceptance, workload, override rights, </a:t>
            </a:r>
            <a:r>
              <a:rPr b="1"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delegation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🗂️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Protocols = socio-technical contracts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designed,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verified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enforced, and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evolved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b="1"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versioned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artifacts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explicit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choreography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all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actors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performers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🎯 Applied to IoT/CPS to keep thousands of devices (and people)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aligned &amp; </a:t>
            </a:r>
            <a:r>
              <a:rPr b="1"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adaptive</a:t>
            </a:r>
            <a:endParaRPr b="1" i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evolvability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account for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drift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(of goals, tensions, operations, etc.)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AutoNum type="romanLcPeriod"/>
            </a:pP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« the “heterogony of ends” formulates that an ongoing behavioral sequence must often be understood in terms of </a:t>
            </a: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ever-shifting</a:t>
            </a:r>
            <a:r>
              <a:rPr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patterns of primary and secondary goals »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0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098" name="Google Shape;1098;p106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07"/>
          <p:cNvSpPr txBox="1"/>
          <p:nvPr/>
        </p:nvSpPr>
        <p:spPr>
          <a:xfrm>
            <a:off x="3612575" y="1959400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4" name="Google Shape;1104;p107"/>
          <p:cNvSpPr txBox="1"/>
          <p:nvPr/>
        </p:nvSpPr>
        <p:spPr>
          <a:xfrm>
            <a:off x="2854025" y="3867925"/>
            <a:ext cx="130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Cycle Complete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5" name="Google Shape;1105;p107"/>
          <p:cNvSpPr txBox="1"/>
          <p:nvPr/>
        </p:nvSpPr>
        <p:spPr>
          <a:xfrm>
            <a:off x="5721875" y="29796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Fail B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6" name="Google Shape;1106;p107"/>
          <p:cNvSpPr txBox="1"/>
          <p:nvPr/>
        </p:nvSpPr>
        <p:spPr>
          <a:xfrm>
            <a:off x="3588275" y="29604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OK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7" name="Google Shape;1107;p107"/>
          <p:cNvSpPr txBox="1"/>
          <p:nvPr/>
        </p:nvSpPr>
        <p:spPr>
          <a:xfrm>
            <a:off x="4655075" y="25794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Fail 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8" name="Google Shape;1108;p107"/>
          <p:cNvSpPr txBox="1"/>
          <p:nvPr/>
        </p:nvSpPr>
        <p:spPr>
          <a:xfrm>
            <a:off x="1454675" y="25794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StartReq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9" name="Google Shape;1109;p10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3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Examples: </a:t>
            </a:r>
            <a:r>
              <a:rPr lang="it-IT" sz="33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(FSM) m</a:t>
            </a:r>
            <a:r>
              <a:rPr lang="it-IT" sz="33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odeling (robo-vacuumcleaner)</a:t>
            </a:r>
            <a:endParaRPr i="0" sz="33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10" name="Google Shape;1110;p10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11" name="Google Shape;1111;p107"/>
          <p:cNvSpPr/>
          <p:nvPr/>
        </p:nvSpPr>
        <p:spPr>
          <a:xfrm>
            <a:off x="152375" y="25215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Idle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12" name="Google Shape;1112;p107"/>
          <p:cNvCxnSpPr>
            <a:stCxn id="1111" idx="6"/>
          </p:cNvCxnSpPr>
          <p:nvPr/>
        </p:nvCxnSpPr>
        <p:spPr>
          <a:xfrm>
            <a:off x="1454675" y="2888725"/>
            <a:ext cx="85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3" name="Google Shape;1113;p107"/>
          <p:cNvSpPr/>
          <p:nvPr/>
        </p:nvSpPr>
        <p:spPr>
          <a:xfrm>
            <a:off x="2285975" y="25215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Check 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14" name="Google Shape;1114;p107"/>
          <p:cNvCxnSpPr/>
          <p:nvPr/>
        </p:nvCxnSpPr>
        <p:spPr>
          <a:xfrm>
            <a:off x="3588275" y="2888725"/>
            <a:ext cx="29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107"/>
          <p:cNvCxnSpPr>
            <a:stCxn id="1113" idx="5"/>
          </p:cNvCxnSpPr>
          <p:nvPr/>
        </p:nvCxnSpPr>
        <p:spPr>
          <a:xfrm>
            <a:off x="3397558" y="3148375"/>
            <a:ext cx="10497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6" name="Google Shape;1116;p107"/>
          <p:cNvSpPr/>
          <p:nvPr/>
        </p:nvSpPr>
        <p:spPr>
          <a:xfrm>
            <a:off x="4419575" y="31311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Check B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7" name="Google Shape;1117;p107"/>
          <p:cNvSpPr/>
          <p:nvPr/>
        </p:nvSpPr>
        <p:spPr>
          <a:xfrm>
            <a:off x="6553175" y="25215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Reset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18" name="Google Shape;1118;p107"/>
          <p:cNvCxnSpPr>
            <a:endCxn id="1117" idx="3"/>
          </p:cNvCxnSpPr>
          <p:nvPr/>
        </p:nvCxnSpPr>
        <p:spPr>
          <a:xfrm flipH="1" rot="10800000">
            <a:off x="5721792" y="3148375"/>
            <a:ext cx="10221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9" name="Google Shape;1119;p107"/>
          <p:cNvSpPr txBox="1"/>
          <p:nvPr/>
        </p:nvSpPr>
        <p:spPr>
          <a:xfrm>
            <a:off x="5659530" y="3521534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OK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20" name="Google Shape;1120;p107"/>
          <p:cNvCxnSpPr/>
          <p:nvPr/>
        </p:nvCxnSpPr>
        <p:spPr>
          <a:xfrm>
            <a:off x="5593503" y="3716411"/>
            <a:ext cx="10497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1" name="Google Shape;1121;p107"/>
          <p:cNvSpPr/>
          <p:nvPr/>
        </p:nvSpPr>
        <p:spPr>
          <a:xfrm>
            <a:off x="6629375" y="35883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Sweeping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22" name="Google Shape;1122;p107"/>
          <p:cNvCxnSpPr>
            <a:stCxn id="1121" idx="4"/>
            <a:endCxn id="1111" idx="4"/>
          </p:cNvCxnSpPr>
          <p:nvPr/>
        </p:nvCxnSpPr>
        <p:spPr>
          <a:xfrm flipH="1" rot="5400000">
            <a:off x="3508625" y="550825"/>
            <a:ext cx="1066800" cy="6477000"/>
          </a:xfrm>
          <a:prstGeom prst="curvedConnector3">
            <a:avLst>
              <a:gd fmla="val -2232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107"/>
          <p:cNvCxnSpPr>
            <a:stCxn id="1117" idx="0"/>
            <a:endCxn id="1111" idx="0"/>
          </p:cNvCxnSpPr>
          <p:nvPr/>
        </p:nvCxnSpPr>
        <p:spPr>
          <a:xfrm rot="5400000">
            <a:off x="4003625" y="-678575"/>
            <a:ext cx="600" cy="6400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4" name="Google Shape;1124;p107"/>
          <p:cNvSpPr txBox="1"/>
          <p:nvPr/>
        </p:nvSpPr>
        <p:spPr>
          <a:xfrm>
            <a:off x="1260775" y="5871425"/>
            <a:ext cx="68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High 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Kafka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Index (</a:t>
            </a:r>
            <a:r>
              <a:rPr lang="it-IT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worst-case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protocolization, </a:t>
            </a:r>
            <a:r>
              <a:rPr lang="it-IT" sz="1800">
                <a:solidFill>
                  <a:srgbClr val="990000"/>
                </a:solidFill>
                <a:latin typeface="Cambria"/>
                <a:ea typeface="Cambria"/>
                <a:cs typeface="Cambria"/>
                <a:sym typeface="Cambria"/>
              </a:rPr>
              <a:t>overcautious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safety)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25" name="Google Shape;1125;p10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8"/>
          <p:cNvSpPr txBox="1"/>
          <p:nvPr/>
        </p:nvSpPr>
        <p:spPr>
          <a:xfrm>
            <a:off x="7868275" y="2645534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 = 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1" name="Google Shape;1131;p108"/>
          <p:cNvSpPr txBox="1"/>
          <p:nvPr/>
        </p:nvSpPr>
        <p:spPr>
          <a:xfrm>
            <a:off x="3612575" y="1959400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 &lt; 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2" name="Google Shape;1132;p108"/>
          <p:cNvSpPr txBox="1"/>
          <p:nvPr/>
        </p:nvSpPr>
        <p:spPr>
          <a:xfrm>
            <a:off x="2854025" y="3867925"/>
            <a:ext cx="130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Cycle Complete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3" name="Google Shape;1133;p108"/>
          <p:cNvSpPr txBox="1"/>
          <p:nvPr/>
        </p:nvSpPr>
        <p:spPr>
          <a:xfrm>
            <a:off x="5721875" y="29796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Fail B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4" name="Google Shape;1134;p108"/>
          <p:cNvSpPr txBox="1"/>
          <p:nvPr/>
        </p:nvSpPr>
        <p:spPr>
          <a:xfrm>
            <a:off x="3588275" y="29604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OK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5" name="Google Shape;1135;p108"/>
          <p:cNvSpPr txBox="1"/>
          <p:nvPr/>
        </p:nvSpPr>
        <p:spPr>
          <a:xfrm>
            <a:off x="4655075" y="25794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Fail 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6" name="Google Shape;1136;p108"/>
          <p:cNvSpPr txBox="1"/>
          <p:nvPr/>
        </p:nvSpPr>
        <p:spPr>
          <a:xfrm>
            <a:off x="1454675" y="25794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StartReq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7" name="Google Shape;1137;p10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Examples: r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evised (non-Kafka) model</a:t>
            </a:r>
            <a:endParaRPr sz="4000">
              <a:solidFill>
                <a:srgbClr val="424456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38" name="Google Shape;1138;p10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39" name="Google Shape;1139;p108"/>
          <p:cNvSpPr/>
          <p:nvPr/>
        </p:nvSpPr>
        <p:spPr>
          <a:xfrm>
            <a:off x="152375" y="25215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Idle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0" name="Google Shape;1140;p108"/>
          <p:cNvCxnSpPr>
            <a:stCxn id="1139" idx="6"/>
          </p:cNvCxnSpPr>
          <p:nvPr/>
        </p:nvCxnSpPr>
        <p:spPr>
          <a:xfrm>
            <a:off x="1454675" y="2888725"/>
            <a:ext cx="85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1" name="Google Shape;1141;p108"/>
          <p:cNvSpPr/>
          <p:nvPr/>
        </p:nvSpPr>
        <p:spPr>
          <a:xfrm>
            <a:off x="2285975" y="25215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Check 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2" name="Google Shape;1142;p108"/>
          <p:cNvCxnSpPr/>
          <p:nvPr/>
        </p:nvCxnSpPr>
        <p:spPr>
          <a:xfrm>
            <a:off x="3588275" y="2888725"/>
            <a:ext cx="29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3" name="Google Shape;1143;p108"/>
          <p:cNvCxnSpPr>
            <a:stCxn id="1141" idx="5"/>
          </p:cNvCxnSpPr>
          <p:nvPr/>
        </p:nvCxnSpPr>
        <p:spPr>
          <a:xfrm>
            <a:off x="3397558" y="3148375"/>
            <a:ext cx="10497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108"/>
          <p:cNvSpPr/>
          <p:nvPr/>
        </p:nvSpPr>
        <p:spPr>
          <a:xfrm>
            <a:off x="4419575" y="31311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Check B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5" name="Google Shape;1145;p108"/>
          <p:cNvSpPr/>
          <p:nvPr/>
        </p:nvSpPr>
        <p:spPr>
          <a:xfrm>
            <a:off x="6553175" y="25215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Reset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6" name="Google Shape;1146;p108"/>
          <p:cNvCxnSpPr>
            <a:endCxn id="1145" idx="3"/>
          </p:cNvCxnSpPr>
          <p:nvPr/>
        </p:nvCxnSpPr>
        <p:spPr>
          <a:xfrm flipH="1" rot="10800000">
            <a:off x="5721792" y="3148375"/>
            <a:ext cx="10221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7" name="Google Shape;1147;p108"/>
          <p:cNvSpPr txBox="1"/>
          <p:nvPr/>
        </p:nvSpPr>
        <p:spPr>
          <a:xfrm>
            <a:off x="5659530" y="3521534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OK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8" name="Google Shape;1148;p108"/>
          <p:cNvCxnSpPr/>
          <p:nvPr/>
        </p:nvCxnSpPr>
        <p:spPr>
          <a:xfrm>
            <a:off x="5593503" y="3716411"/>
            <a:ext cx="10497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9" name="Google Shape;1149;p108"/>
          <p:cNvSpPr/>
          <p:nvPr/>
        </p:nvSpPr>
        <p:spPr>
          <a:xfrm>
            <a:off x="6629375" y="35883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Sweeping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50" name="Google Shape;1150;p108"/>
          <p:cNvCxnSpPr>
            <a:stCxn id="1149" idx="4"/>
            <a:endCxn id="1139" idx="4"/>
          </p:cNvCxnSpPr>
          <p:nvPr/>
        </p:nvCxnSpPr>
        <p:spPr>
          <a:xfrm flipH="1" rot="5400000">
            <a:off x="3508625" y="550825"/>
            <a:ext cx="1066800" cy="6477000"/>
          </a:xfrm>
          <a:prstGeom prst="curvedConnector3">
            <a:avLst>
              <a:gd fmla="val -2232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1" name="Google Shape;1151;p108"/>
          <p:cNvCxnSpPr>
            <a:stCxn id="1145" idx="0"/>
            <a:endCxn id="1139" idx="0"/>
          </p:cNvCxnSpPr>
          <p:nvPr/>
        </p:nvCxnSpPr>
        <p:spPr>
          <a:xfrm rot="5400000">
            <a:off x="4003625" y="-678575"/>
            <a:ext cx="600" cy="6400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2" name="Google Shape;1152;p108"/>
          <p:cNvSpPr txBox="1"/>
          <p:nvPr/>
        </p:nvSpPr>
        <p:spPr>
          <a:xfrm>
            <a:off x="1745700" y="5871425"/>
            <a:ext cx="56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Low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Kafka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Index (</a:t>
            </a:r>
            <a:r>
              <a:rPr lang="it-IT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human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-in-the-loop, </a:t>
            </a:r>
            <a:r>
              <a:rPr lang="it-IT" sz="1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escalation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path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)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3" name="Google Shape;1153;p108"/>
          <p:cNvSpPr txBox="1"/>
          <p:nvPr/>
        </p:nvSpPr>
        <p:spPr>
          <a:xfrm>
            <a:off x="4655075" y="27318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990000"/>
                </a:solidFill>
                <a:latin typeface="Cambria"/>
                <a:ea typeface="Cambria"/>
                <a:cs typeface="Cambria"/>
                <a:sym typeface="Cambria"/>
              </a:rPr>
              <a:t>c := c++</a:t>
            </a:r>
            <a:endParaRPr>
              <a:solidFill>
                <a:srgbClr val="99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4" name="Google Shape;1154;p108"/>
          <p:cNvSpPr txBox="1"/>
          <p:nvPr/>
        </p:nvSpPr>
        <p:spPr>
          <a:xfrm>
            <a:off x="5874275" y="3189025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990000"/>
                </a:solidFill>
                <a:latin typeface="Cambria"/>
                <a:ea typeface="Cambria"/>
                <a:cs typeface="Cambria"/>
                <a:sym typeface="Cambria"/>
              </a:rPr>
              <a:t>c := c++</a:t>
            </a:r>
            <a:endParaRPr>
              <a:solidFill>
                <a:srgbClr val="99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5" name="Google Shape;1155;p108"/>
          <p:cNvSpPr/>
          <p:nvPr/>
        </p:nvSpPr>
        <p:spPr>
          <a:xfrm>
            <a:off x="7772375" y="3054925"/>
            <a:ext cx="1302300" cy="73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latin typeface="Cambria"/>
                <a:ea typeface="Cambria"/>
                <a:cs typeface="Cambria"/>
                <a:sym typeface="Cambria"/>
              </a:rPr>
              <a:t>Escalate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56" name="Google Shape;1156;p108"/>
          <p:cNvCxnSpPr>
            <a:stCxn id="1145" idx="6"/>
            <a:endCxn id="1155" idx="0"/>
          </p:cNvCxnSpPr>
          <p:nvPr/>
        </p:nvCxnSpPr>
        <p:spPr>
          <a:xfrm>
            <a:off x="7855475" y="2888725"/>
            <a:ext cx="568200" cy="1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108"/>
          <p:cNvCxnSpPr>
            <a:stCxn id="1155" idx="4"/>
            <a:endCxn id="1149" idx="6"/>
          </p:cNvCxnSpPr>
          <p:nvPr/>
        </p:nvCxnSpPr>
        <p:spPr>
          <a:xfrm flipH="1">
            <a:off x="7931525" y="3789325"/>
            <a:ext cx="492000" cy="1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58" name="Google Shape;1158;p108"/>
          <p:cNvSpPr txBox="1"/>
          <p:nvPr/>
        </p:nvSpPr>
        <p:spPr>
          <a:xfrm>
            <a:off x="7599166" y="3630789"/>
            <a:ext cx="85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>
                <a:latin typeface="Cambria"/>
                <a:ea typeface="Cambria"/>
                <a:cs typeface="Cambria"/>
                <a:sym typeface="Cambria"/>
              </a:rPr>
              <a:t>OR</a:t>
            </a:r>
            <a:endParaRPr sz="11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9" name="Google Shape;1159;p108"/>
          <p:cNvSpPr txBox="1"/>
          <p:nvPr/>
        </p:nvSpPr>
        <p:spPr>
          <a:xfrm>
            <a:off x="1440820" y="2773389"/>
            <a:ext cx="85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990000"/>
                </a:solidFill>
                <a:latin typeface="Cambria"/>
                <a:ea typeface="Cambria"/>
                <a:cs typeface="Cambria"/>
                <a:sym typeface="Cambria"/>
              </a:rPr>
              <a:t>c := 0</a:t>
            </a:r>
            <a:endParaRPr>
              <a:solidFill>
                <a:srgbClr val="99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60" name="Google Shape;1160;p108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0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Reframing </a:t>
            </a:r>
            <a:r>
              <a:rPr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Hyper</a:t>
            </a:r>
            <a:r>
              <a:rPr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</a:t>
            </a:r>
            <a:r>
              <a:rPr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afety vs. Liveness as level-0 </a:t>
            </a:r>
            <a:r>
              <a:rPr i="1"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tension</a:t>
            </a:r>
            <a:r>
              <a:rPr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</a:t>
            </a:r>
            <a:r>
              <a:rPr b="1" i="1" lang="it-IT" sz="2800">
                <a:solidFill>
                  <a:srgbClr val="4244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1" baseline="-25000" i="1" lang="it-IT" sz="2800">
                <a:solidFill>
                  <a:srgbClr val="4244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it-IT" sz="28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28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66" name="Google Shape;1166;p109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Level 0 – One Agent, One Protocol… &amp; </a:t>
            </a:r>
            <a:r>
              <a:rPr b="1" lang="it-IT" sz="2000" u="sng">
                <a:solidFill>
                  <a:srgbClr val="990000"/>
                </a:solidFill>
                <a:latin typeface="Cambria"/>
                <a:ea typeface="Cambria"/>
                <a:cs typeface="Cambria"/>
                <a:sym typeface="Cambria"/>
              </a:rPr>
              <a:t>Tension</a:t>
            </a:r>
            <a:endParaRPr b="1" sz="2000" u="sng">
              <a:solidFill>
                <a:srgbClr val="99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🧠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Single robotized vacuum-cleaner FSM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Idle → Check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Sweep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Retry/ Escalate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🛡️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Hypersafety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running 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check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sOK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 – 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never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run under unsafe conditions.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⏳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Liveness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(startrequest →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(running ∨ escalated)) – every request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must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finish.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⚠️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Tension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strict checks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↑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safety, but risk infinite loops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progress.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🛠️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Engineering trade-off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pick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retries before escalation.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🤝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Social dimension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who flips the killswitch or approves override?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📐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Meta-modeling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exposes this trade-off, making it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explicitly analysable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10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168" name="Google Shape;1168;p109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1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5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Proposal (updated): M</a:t>
            </a:r>
            <a:r>
              <a:rPr lang="it-IT" sz="35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eta-modeling (MM)?</a:t>
            </a:r>
            <a:endParaRPr i="0" sz="35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74" name="Google Shape;1174;p110"/>
          <p:cNvSpPr/>
          <p:nvPr/>
        </p:nvSpPr>
        <p:spPr>
          <a:xfrm>
            <a:off x="455525" y="1478275"/>
            <a:ext cx="8173800" cy="4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🧠 What may meta-modeling mean in this context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🧩 Meta-modeling 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Modeling how we model — abstracting the structure of the modeling frameworks themselves.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Useful to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design reusable and composable protocol layers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🪜 A protocol modeling stack: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🌀 FSMs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— capture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local agent logic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a single roboVC’s behavior).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⚖️ LTL / CTL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— specify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global system properties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(e.g., safety, liveness, fairness).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🔭 Protocolization </a:t>
            </a:r>
            <a:r>
              <a:rPr b="1" lang="it-IT" sz="1100" u="sng">
                <a:solidFill>
                  <a:srgbClr val="990000"/>
                </a:solidFill>
                <a:latin typeface="Cambria"/>
                <a:ea typeface="Cambria"/>
                <a:cs typeface="Cambria"/>
                <a:sym typeface="Cambria"/>
              </a:rPr>
              <a:t>across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levels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Level 0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Single agent</a:t>
            </a:r>
            <a:b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FSM (Idle, Sweep...)</a:t>
            </a:r>
            <a:b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LTL: G(¬collision), F(charge)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🔸 Level 1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Autonomous/agentic swarm</a:t>
            </a:r>
            <a:b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Protocols for coordination, task allocation, bounded latency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🏙️ Level 2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Smart city</a:t>
            </a:r>
            <a:b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Humans + Robots → social protocols, priority rules, override paths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💡 Why meta-model?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Encapsulate patterns across layers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Enable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automated validation</a:t>
            </a: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synthesis, simulation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Ground for </a:t>
            </a:r>
            <a:r>
              <a:rPr b="1"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protocol composition &amp; governance</a:t>
            </a:r>
            <a:endParaRPr sz="2000">
              <a:solidFill>
                <a:schemeClr val="dk2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1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176" name="Google Shape;1176;p110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11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MM: </a:t>
            </a:r>
            <a:r>
              <a:rPr b="1" i="1" lang="it-IT" sz="4000">
                <a:solidFill>
                  <a:srgbClr val="4244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1" baseline="-25000" i="1" lang="it-IT" sz="4000">
                <a:solidFill>
                  <a:srgbClr val="4244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(Fairness vs. Throughput) 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2" name="Google Shape;1182;p111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🔸 Level 1 — Swarm Coordination, One Shared Dock</a:t>
            </a:r>
            <a:endParaRPr b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🧑‍🤝‍🧑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Scenario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 3 roboVCs share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one charging dock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while cleaning a hallway grid.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🌀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Local FSM (each bot)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Sweep → RequestDock → Wait / Charge → Resume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🎟️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Coordination Protocol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 “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Token-at-Dock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” — only the bot holding the virtual token may enter the dock zone.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🛡️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Global safety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(¬(inDock</a:t>
            </a:r>
            <a:r>
              <a:rPr baseline="-2500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∧ inDock</a:t>
            </a:r>
            <a:r>
              <a:rPr baseline="-2500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)) →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 two bots dock simultaneously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⏳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Bounded liveness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(Request</a:t>
            </a:r>
            <a:r>
              <a:rPr baseline="-2500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aseline="-2500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≤3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Charge</a:t>
            </a:r>
            <a:r>
              <a:rPr baseline="-25000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) → 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every bot docks within 3 token passes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⚖️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Tension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 Fairness vs. throughput: short token window ↑ fairness, long window ↑ overall uptime.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🔧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Engineering lever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 Adjust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token-hold time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; add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priority boost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 battery &lt; 15 %.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📐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Meta-model link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 Swarm protocol = Level-0 FSM + an extra “token” layer; verified once, reused for any N-bot fleet.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11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184" name="Google Shape;1184;p111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2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MM: </a:t>
            </a:r>
            <a:r>
              <a:rPr b="1" i="1" lang="it-IT" sz="4000">
                <a:solidFill>
                  <a:srgbClr val="4244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1" baseline="-25000" i="1" lang="it-IT" sz="4000">
                <a:solidFill>
                  <a:srgbClr val="4244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(Acceptance vs. Efficiency)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90" name="Google Shape;1190;p112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🏙️ Level 2 — Smart-City Interaction: Swarms + People</a:t>
            </a:r>
            <a:endParaRPr b="1"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🏗️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Scenario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 Autonomous delivery carts share a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pedestrian crosswalk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with humans.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🤖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Robot FSM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 Approach → RequestCross → Wait / Cross → Resume.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🚶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Human interface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 pressure sensor + vision ⇢ “pedestrian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onCrosswalk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” flag.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🛡️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Safety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(pedOnCrosswalk → ¬cartInCrosswalk) →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robots never enter if a person is present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⏳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Responsiveness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(cartReq →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aseline="-25000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≤20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cartCross) →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each cart crosses within 20 s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unless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human flow is continuous.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⚖️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Tension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 Pedestrian priority ↑ social acceptance; too much priority ↓ logistics throughput.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🧑‍⚖️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Governance layer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 City policy toggles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“rush-hour mode”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(longer human green), or </a:t>
            </a:r>
            <a:r>
              <a:rPr i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“night mode”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(robot priority).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🔧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Engineering levers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 Adaptive timeout, dynamic queue merging, audible human cue.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📐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Meta-model link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 Level-2 model = (Level-1 token logic) + </a:t>
            </a:r>
            <a:r>
              <a:rPr b="1"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policy layer</a:t>
            </a: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; verified once, deployed to every smart crossing.</a:t>
            </a:r>
            <a:endParaRPr sz="2300">
              <a:solidFill>
                <a:schemeClr val="dk2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1" name="Google Shape;1191;p11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192" name="Google Shape;1192;p112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13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3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Prompts for you (and your GenAI): vibe-modeling!</a:t>
            </a:r>
            <a:endParaRPr i="0" sz="33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98" name="Google Shape;1198;p113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Design a Micro-Protocol (FSM)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Tool: </a:t>
            </a:r>
            <a:r>
              <a:rPr lang="it-IT" sz="1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https://madebyevan.com/fsm/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Design an FSM for a coffee-sharing robot.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States: Idle / Brewing. Input: Request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Add one safety and one liveness property.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would it scale to 2 agents?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Bisimilarity Game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Create 2 bisimilar FSMs with different shapes.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Then, slightly change one to break bisimilarity.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does the change represent in protocol terms?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you refactor them back to equivalence?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it-IT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Can’t You Model?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Name a real-life protocol you follow.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can’t it be modeled with FSM + LTL?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it due to ambiguity, hidden state, or agency?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○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Should it be made explicit — or remain implicit?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it-IT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Hyperproperty Hack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○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Define two valid runs (G p) that together violate fairness.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○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Is this a bug or feature?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○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Can LTL capture it? Or do you need HyperLTL?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○"/>
            </a:pPr>
            <a:r>
              <a:rPr lang="it-IT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does this say about coordination and trust?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mbria"/>
              <a:buChar char="●"/>
            </a:pP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more here: </a:t>
            </a:r>
            <a:r>
              <a:rPr lang="it-IT" sz="1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https://docs.google.com/document/d/1DzvnsMzFkEFj_1LLG4X4RuBPn5hr0HfKDQnxgUW4A4E/edit?usp=sharing</a:t>
            </a:r>
            <a:r>
              <a:rPr lang="it-IT" sz="1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9" name="Google Shape;1199;p11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200" name="Google Shape;1200;p113" title="SoP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14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Wrap-up &amp; Key Takeaways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06" name="Google Shape;1206;p114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🔧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Protocolization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= explicit coordination rules on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Technical • Economic • Social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axes.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🔭 “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Telescopic” view: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 0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🟢 single agent (e.g., roboVC)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 1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🔹 swarm with shared resources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Level 2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🏙️ city-scale robots + people + policy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⚖️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Tension themes: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e.g.,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Hypersafety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(never unsafe) ↔ </a:t>
            </a:r>
            <a:r>
              <a:rPr i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Liveness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(always progress).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○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resolved by, e.g., bounded retries, tokens, adaptive policies.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🧩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Meta-modeling stack: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FSMs → LTL/CTL — enables reuse, automated verification, safe evolution.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🛑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Governance hooks: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killswitches, escalation paths, civic-policy overlays.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🚀 </a:t>
            </a:r>
            <a:r>
              <a:rPr b="1"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Next steps: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prototype, model-check, iterate </a:t>
            </a:r>
            <a:r>
              <a:rPr i="1"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sprints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assignments — then potentially ready to </a:t>
            </a:r>
            <a:r>
              <a:rPr lang="it-IT" sz="16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deploy</a:t>
            </a:r>
            <a:r>
              <a:rPr lang="it-IT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protocols that scale from device to city.</a:t>
            </a:r>
            <a:endParaRPr sz="2500">
              <a:solidFill>
                <a:schemeClr val="dk2"/>
              </a:solidFill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11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208" name="Google Shape;1208;p114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14" name="Google Shape;1214;p115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Action items (for module development)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15" name="Google Shape;1215;p115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Keep engaging in the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Formal Protocol Theory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(FPT) working group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definitely on the same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wavelength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with topics in my course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Further develop the module (materials, labs)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revisi(ti)ng the current contents where needed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extending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topic 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coverage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with first-class protocol-pilling constructs, i.e., possibly out of our joint FPT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meanderings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definitely bordering close to </a:t>
            </a:r>
            <a:r>
              <a:rPr b="1" lang="it-IT" sz="1600">
                <a:latin typeface="Cambria"/>
                <a:ea typeface="Cambria"/>
                <a:cs typeface="Cambria"/>
                <a:sym typeface="Cambria"/>
              </a:rPr>
              <a:t>research</a:t>
            </a:r>
            <a:endParaRPr b="1" sz="16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coming-up with one (or more)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full-stack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running 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examples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Explore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tie-ins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with other disciplines, including non-STEM ones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starting from this discussion/wrap-ups, among other things as a way to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i="1" lang="it-IT" sz="1600">
                <a:latin typeface="Cambria"/>
                <a:ea typeface="Cambria"/>
                <a:cs typeface="Cambria"/>
                <a:sym typeface="Cambria"/>
              </a:rPr>
              <a:t>contaminate</a:t>
            </a: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 the framework(s) for modeling (with, e.g., governance/risk layers “encoding”)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factor-in the </a:t>
            </a:r>
            <a:r>
              <a:rPr i="1" lang="it-IT" sz="1600">
                <a:latin typeface="Cambria"/>
                <a:ea typeface="Cambria"/>
                <a:cs typeface="Cambria"/>
                <a:sym typeface="Cambria"/>
              </a:rPr>
              <a:t>human</a:t>
            </a: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 (as agent in a CPS environment) aspects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16" name="Google Shape;1216;p115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1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22" name="Google Shape;1222;p116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Foresight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23" name="Google Shape;1223;p116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-IT" sz="2100">
                <a:latin typeface="Cambria"/>
                <a:ea typeface="Cambria"/>
                <a:cs typeface="Cambria"/>
                <a:sym typeface="Cambria"/>
              </a:rPr>
              <a:t>Big elephant in the room: AI/ML - w/ </a:t>
            </a:r>
            <a:r>
              <a:rPr b="1" lang="it-IT" sz="2100">
                <a:latin typeface="Cambria"/>
                <a:ea typeface="Cambria"/>
                <a:cs typeface="Cambria"/>
                <a:sym typeface="Cambria"/>
              </a:rPr>
              <a:t>LLM</a:t>
            </a:r>
            <a:r>
              <a:rPr lang="it-IT" sz="2100">
                <a:latin typeface="Cambria"/>
                <a:ea typeface="Cambria"/>
                <a:cs typeface="Cambria"/>
                <a:sym typeface="Cambria"/>
              </a:rPr>
              <a:t>s as (current) rising stars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role, especially in education, cannot be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underestimated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yet, most outcomes possibly on the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positive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side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in edu, outside the (proctoring) box/mindset, huge room for (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self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-)improvement/assessment, for the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daring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ones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final assessments, otoh, requiring much higher care/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engagement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from the evaluators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along GenAI parlance, the </a:t>
            </a:r>
            <a:r>
              <a:rPr i="1" lang="it-IT" sz="1600">
                <a:latin typeface="Cambria"/>
                <a:ea typeface="Cambria"/>
                <a:cs typeface="Cambria"/>
                <a:sym typeface="Cambria"/>
              </a:rPr>
              <a:t>chain-of-thought</a:t>
            </a: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b="1" lang="it-IT" sz="1600">
                <a:latin typeface="Cambria"/>
                <a:ea typeface="Cambria"/>
                <a:cs typeface="Cambria"/>
                <a:sym typeface="Cambria"/>
              </a:rPr>
              <a:t>reasoning</a:t>
            </a: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 chops going to be central; notion-based evaluation - already overrated - now basically over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good news for academy at large, the </a:t>
            </a:r>
            <a:r>
              <a:rPr b="1" lang="it-IT" sz="1800">
                <a:latin typeface="Cambria"/>
                <a:ea typeface="Cambria"/>
                <a:cs typeface="Cambria"/>
                <a:sym typeface="Cambria"/>
              </a:rPr>
              <a:t>value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of educator-to-student interaction - </a:t>
            </a:r>
            <a:r>
              <a:rPr lang="it-IT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even more so, in-presence -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not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going away, anytime soon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on the other hand, stubbornly being stuck in the “olden” ways of delivery - bulletproof recipe for failure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4" name="Google Shape;1224;p116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30" name="Google Shape;1230;p117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Foresight (cont’d)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1" name="Google Shape;1231;p117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GenAI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it-IT" sz="2200">
                <a:latin typeface="Cambria"/>
                <a:ea typeface="Cambria"/>
                <a:cs typeface="Cambria"/>
                <a:sym typeface="Cambria"/>
              </a:rPr>
              <a:t>impact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 on my field: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CS seemingly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disrupted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at all levels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CS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engineering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(“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CSE”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) possibly even more so, considering: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engineering, whichever the domain, always been about </a:t>
            </a:r>
            <a:r>
              <a:rPr b="1" i="1" lang="it-IT" sz="1800">
                <a:latin typeface="Cambria"/>
                <a:ea typeface="Cambria"/>
                <a:cs typeface="Cambria"/>
                <a:sym typeface="Cambria"/>
              </a:rPr>
              <a:t>iterating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“gravitating”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) toward a (presumably, imperfect/limited-scope) solution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never about definitive answers about anything - as a matter of fact, looking no further than the “engineered argument” definition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generative machinery bound to </a:t>
            </a:r>
            <a:r>
              <a:rPr b="1" i="1" lang="it-IT" sz="1800">
                <a:latin typeface="Cambria"/>
                <a:ea typeface="Cambria"/>
                <a:cs typeface="Cambria"/>
                <a:sym typeface="Cambria"/>
              </a:rPr>
              <a:t>boost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“centaur”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effect in engineering design activities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mbria"/>
              <a:buChar char="■"/>
            </a:pP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and agentic approaches are going to carry a great deal of additional “tension” - as well as explorative </a:t>
            </a:r>
            <a:r>
              <a:rPr b="1" lang="it-IT" sz="1600">
                <a:latin typeface="Cambria"/>
                <a:ea typeface="Cambria"/>
                <a:cs typeface="Cambria"/>
                <a:sym typeface="Cambria"/>
              </a:rPr>
              <a:t>leeway</a:t>
            </a: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 - due to the (approximating human-like) </a:t>
            </a:r>
            <a:r>
              <a:rPr i="1" lang="it-IT" sz="1600"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i="1" lang="it-IT" sz="1600">
                <a:latin typeface="Cambria"/>
                <a:ea typeface="Cambria"/>
                <a:cs typeface="Cambria"/>
                <a:sym typeface="Cambria"/>
              </a:rPr>
              <a:t>agency”</a:t>
            </a:r>
            <a:r>
              <a:rPr b="1" lang="it-IT" sz="16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1600">
                <a:latin typeface="Cambria"/>
                <a:ea typeface="Cambria"/>
                <a:cs typeface="Cambria"/>
                <a:sym typeface="Cambria"/>
              </a:rPr>
              <a:t>factor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○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in the end, for all their worth and impact, even GenAI (or AGI), may take a totally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different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shape - may be my bias, yet highly likely in my book, see LeCun and Gary Marcus alt-AI/ML takes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32" name="Google Shape;1232;p117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1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38" name="Google Shape;1238;p118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Future work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39" name="Google Shape;1239;p118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Hopefully, </a:t>
            </a:r>
            <a:r>
              <a:rPr b="1" i="1" lang="it-IT" sz="2400">
                <a:latin typeface="Cambria"/>
                <a:ea typeface="Cambria"/>
                <a:cs typeface="Cambria"/>
                <a:sym typeface="Cambria"/>
              </a:rPr>
              <a:t>embracing</a:t>
            </a:r>
            <a:r>
              <a:rPr lang="it-IT" sz="2400">
                <a:latin typeface="Cambria"/>
                <a:ea typeface="Cambria"/>
                <a:cs typeface="Cambria"/>
                <a:sym typeface="Cambria"/>
              </a:rPr>
              <a:t> protocol studies going forward, across a number of trajectories: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exploring second-order effects of the modeling activity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looking forward to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 adapt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other syllabi, e.g., my Bachelor’s </a:t>
            </a:r>
            <a:r>
              <a:rPr lang="it-IT" sz="2000" u="sng">
                <a:latin typeface="Cambria"/>
                <a:ea typeface="Cambria"/>
                <a:cs typeface="Cambria"/>
                <a:sym typeface="Cambria"/>
              </a:rPr>
              <a:t>Software Engineering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course - fall ‘27 onwards, to the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“protocol treatment”</a:t>
            </a:r>
            <a:endParaRPr i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Char char="●"/>
            </a:pPr>
            <a:r>
              <a:rPr lang="it-IT"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hopefully expand soon coverage of protocolized CPS in literature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possibly for the 2</a:t>
            </a:r>
            <a:r>
              <a:rPr baseline="30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nd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edition, or follow-up, to </a:t>
            </a:r>
            <a:r>
              <a:rPr i="1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ASCPS</a:t>
            </a:r>
            <a:r>
              <a:rPr baseline="30000"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it-IT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book (out 2026)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planning to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instigate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a few 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research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trails out of this (ongoing) conversation - postdocs and interns alerted!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envisioning to leverage a number of opportunities to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evangelize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(in the sense of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“protocol-pill”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) during </a:t>
            </a:r>
            <a:r>
              <a:rPr lang="it-IT" sz="2000" u="sng">
                <a:latin typeface="Cambria"/>
                <a:ea typeface="Cambria"/>
                <a:cs typeface="Cambria"/>
                <a:sym typeface="Cambria"/>
              </a:rPr>
              <a:t>public outreach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initiatives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Cambria"/>
              <a:buAutoNum type="arabicPeriod"/>
            </a:pPr>
            <a:r>
              <a:rPr lang="it-IT" sz="12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https://books.google.it/books/about/Assembling_Smart_Cyber_Physical_Systems.html?id=_6smEQAAQBAJ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40" name="Google Shape;1240;p118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1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46" name="Google Shape;1246;p119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Related</a:t>
            </a: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work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47" name="Google Shape;1247;p119"/>
          <p:cNvSpPr/>
          <p:nvPr/>
        </p:nvSpPr>
        <p:spPr>
          <a:xfrm>
            <a:off x="455525" y="1249675"/>
            <a:ext cx="8173800" cy="54294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Cambria"/>
              <a:buChar char="●"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it-IT" sz="2200">
                <a:latin typeface="Cambria"/>
                <a:ea typeface="Cambria"/>
                <a:cs typeface="Cambria"/>
                <a:sym typeface="Cambria"/>
              </a:rPr>
              <a:t>Protocol Reader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 collection of </a:t>
            </a:r>
            <a:r>
              <a:rPr lang="it-IT" sz="2200" u="sng">
                <a:latin typeface="Cambria"/>
                <a:ea typeface="Cambria"/>
                <a:cs typeface="Cambria"/>
                <a:sym typeface="Cambria"/>
              </a:rPr>
              <a:t>kickstart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 essays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mbria"/>
              <a:buChar char="●"/>
            </a:pPr>
            <a:r>
              <a:rPr i="1" lang="it-IT" sz="2200">
                <a:latin typeface="Cambria"/>
                <a:ea typeface="Cambria"/>
                <a:cs typeface="Cambria"/>
                <a:sym typeface="Cambria"/>
              </a:rPr>
              <a:t>Special Interest (Working) Group on Formal Protocol Theory</a:t>
            </a:r>
            <a:r>
              <a:rPr b="1" lang="it-IT" sz="22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b="1" lang="it-IT" sz="2200">
                <a:latin typeface="Cambria"/>
                <a:ea typeface="Cambria"/>
                <a:cs typeface="Cambria"/>
                <a:sym typeface="Cambria"/>
              </a:rPr>
              <a:t>SIGFPT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) and its contributions (topics, conversations, </a:t>
            </a:r>
            <a:r>
              <a:rPr lang="it-IT" sz="2200" u="sng">
                <a:latin typeface="Cambria"/>
                <a:ea typeface="Cambria"/>
                <a:cs typeface="Cambria"/>
                <a:sym typeface="Cambria"/>
              </a:rPr>
              <a:t>bibliographies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) with its </a:t>
            </a:r>
            <a:r>
              <a:rPr i="1" lang="it-IT" sz="2200">
                <a:latin typeface="Cambria"/>
                <a:ea typeface="Cambria"/>
                <a:cs typeface="Cambria"/>
                <a:sym typeface="Cambria"/>
              </a:rPr>
              <a:t>grand-unification</a:t>
            </a: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 “push”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mbria"/>
              <a:buChar char="●"/>
            </a:pPr>
            <a:r>
              <a:rPr lang="it-IT" sz="2200">
                <a:latin typeface="Cambria"/>
                <a:ea typeface="Cambria"/>
                <a:cs typeface="Cambria"/>
                <a:sym typeface="Cambria"/>
              </a:rPr>
              <a:t>… a growing list of references, too long to be listed here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○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special mention to the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“bunnytrail”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Milner’s work on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Ubiquitous Abstract Machines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- in a nutshell, a generalization of CCS and π-calculi through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bigraph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-based modeling - definitely on my radar,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○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Nathan Schneider’s </a:t>
            </a:r>
            <a:r>
              <a:rPr i="1" lang="it-IT" sz="2000">
                <a:latin typeface="Cambria"/>
                <a:ea typeface="Cambria"/>
                <a:cs typeface="Cambria"/>
                <a:sym typeface="Cambria"/>
              </a:rPr>
              <a:t>Contributions to a Glossary of Protocol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,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○"/>
            </a:pP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and to the </a:t>
            </a:r>
            <a:r>
              <a:rPr b="1" lang="it-IT" sz="2000">
                <a:latin typeface="Cambria"/>
                <a:ea typeface="Cambria"/>
                <a:cs typeface="Cambria"/>
                <a:sym typeface="Cambria"/>
              </a:rPr>
              <a:t>Cosmopolis</a:t>
            </a:r>
            <a:r>
              <a:rPr lang="it-IT" sz="2000">
                <a:latin typeface="Cambria"/>
                <a:ea typeface="Cambria"/>
                <a:cs typeface="Cambria"/>
                <a:sym typeface="Cambria"/>
              </a:rPr>
              <a:t> overarching framework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■"/>
            </a:pP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especially when it comes to the role of tech (IoT/BC/AI) as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memories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across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“logics”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, and (historical/collective) memory overall as an </a:t>
            </a:r>
            <a:r>
              <a:rPr i="1" lang="it-IT" sz="1800">
                <a:latin typeface="Cambria"/>
                <a:ea typeface="Cambria"/>
                <a:cs typeface="Cambria"/>
                <a:sym typeface="Cambria"/>
              </a:rPr>
              <a:t>“articulated”</a:t>
            </a:r>
            <a:r>
              <a:rPr lang="it-IT" sz="1800">
                <a:latin typeface="Cambria"/>
                <a:ea typeface="Cambria"/>
                <a:cs typeface="Cambria"/>
                <a:sym typeface="Cambria"/>
              </a:rPr>
              <a:t> hyperobject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48" name="Google Shape;1248;p119" title="SoP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923" y="6333123"/>
            <a:ext cx="1189075" cy="4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20"/>
          <p:cNvSpPr/>
          <p:nvPr/>
        </p:nvSpPr>
        <p:spPr>
          <a:xfrm>
            <a:off x="0" y="414475"/>
            <a:ext cx="914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42445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Questions &amp; Discussion</a:t>
            </a:r>
            <a:endParaRPr i="0" sz="4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54" name="Google Shape;1254;p120"/>
          <p:cNvSpPr/>
          <p:nvPr/>
        </p:nvSpPr>
        <p:spPr>
          <a:xfrm>
            <a:off x="455525" y="1478275"/>
            <a:ext cx="8173800" cy="4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-IT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🙏 Thanks for your attention!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❓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Q&amp;A: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Happy to answer your questions, 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📬 </a:t>
            </a:r>
            <a:r>
              <a:rPr b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Contact:</a:t>
            </a:r>
            <a:r>
              <a:rPr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Giovanni Merlino — </a:t>
            </a:r>
            <a:r>
              <a:rPr lang="it-IT" sz="15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gmerlino@unime.it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it-IT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🌐 </a:t>
            </a:r>
            <a:r>
              <a:rPr i="1" lang="it-IT" sz="15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More to come</a:t>
            </a: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(materials, etc)</a:t>
            </a:r>
            <a:endParaRPr i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Char char="○"/>
            </a:pPr>
            <a:r>
              <a:rPr i="1" lang="it-IT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over the course of the spring semester</a:t>
            </a:r>
            <a:endParaRPr i="0" sz="2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5" name="Google Shape;1255;p12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256" name="Google Shape;1256;p120" title="SoP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8121" y="674396"/>
            <a:ext cx="2033475" cy="7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120" title="ORC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4400" y="2060075"/>
            <a:ext cx="3058550" cy="30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6DAC"/>
      </a:dk2>
      <a:lt2>
        <a:srgbClr val="EEECE1"/>
      </a:lt2>
      <a:accent1>
        <a:srgbClr val="4F81BD"/>
      </a:accent1>
      <a:accent2>
        <a:srgbClr val="94959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BFBFB"/>
      </a:lt1>
      <a:dk2>
        <a:srgbClr val="006DAC"/>
      </a:dk2>
      <a:lt2>
        <a:srgbClr val="EEECE1"/>
      </a:lt2>
      <a:accent1>
        <a:srgbClr val="4F81BD"/>
      </a:accent1>
      <a:accent2>
        <a:srgbClr val="94959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