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61" r:id="rId3"/>
    <p:sldId id="263" r:id="rId5"/>
    <p:sldId id="269" r:id="rId6"/>
    <p:sldId id="270" r:id="rId7"/>
    <p:sldId id="282" r:id="rId8"/>
    <p:sldId id="271" r:id="rId9"/>
    <p:sldId id="272" r:id="rId10"/>
    <p:sldId id="273" r:id="rId11"/>
    <p:sldId id="257" r:id="rId12"/>
    <p:sldId id="275" r:id="rId13"/>
    <p:sldId id="274" r:id="rId14"/>
    <p:sldId id="264" r:id="rId15"/>
    <p:sldId id="268" r:id="rId16"/>
    <p:sldId id="259" r:id="rId17"/>
    <p:sldId id="276" r:id="rId18"/>
    <p:sldId id="260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4"/>
        <p:guide pos="388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082297"/>
            <a:ext cx="9144000" cy="21870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effectLst/>
                <a:latin typeface="Heiti TC Medium" panose="02000000000000000000" charset="-122"/>
                <a:ea typeface="Heiti TC Medium" panose="02000000000000000000" charset="-122"/>
              </a:rPr>
              <a:t>Deepwriting</a:t>
            </a:r>
            <a:br>
              <a:rPr lang="en-US" b="1" dirty="0">
                <a:solidFill>
                  <a:srgbClr val="0070C0"/>
                </a:solidFill>
                <a:effectLst/>
                <a:latin typeface="Heiti TC Medium" panose="02000000000000000000" charset="-122"/>
                <a:ea typeface="Heiti TC Medium" panose="02000000000000000000" charset="-122"/>
              </a:rPr>
            </a:br>
            <a:r>
              <a:rPr lang="en-US" sz="4400" b="1" dirty="0">
                <a:solidFill>
                  <a:srgbClr val="0070C0"/>
                </a:solidFill>
                <a:effectLst/>
                <a:latin typeface="Heiti TC Medium" panose="02000000000000000000" charset="-122"/>
                <a:ea typeface="Heiti TC Medium" panose="02000000000000000000" charset="-122"/>
              </a:rPr>
              <a:t>How to craft a story with protocol</a:t>
            </a:r>
            <a:endParaRPr lang="en-US" sz="4400" b="1" dirty="0">
              <a:solidFill>
                <a:srgbClr val="0070C0"/>
              </a:solidFill>
              <a:effectLst/>
              <a:latin typeface="Heiti TC Medium" panose="02000000000000000000" charset="-122"/>
              <a:ea typeface="Heiti TC Medium" panose="02000000000000000000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283460"/>
          </a:xfrm>
        </p:spPr>
        <p:txBody>
          <a:bodyPr>
            <a:normAutofit fontScale="50000"/>
          </a:bodyPr>
          <a:lstStyle/>
          <a:p>
            <a:endParaRPr lang="zh-CN" altLang="en-US" sz="3200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r>
              <a:rPr lang="en-US" altLang="zh-CN" sz="3200" b="1" dirty="0">
                <a:latin typeface="Hiragino Sans GB W6" panose="020B0300000000000000" charset="-122"/>
                <a:ea typeface="Hiragino Sans GB W6" panose="020B0300000000000000" charset="-122"/>
                <a:cs typeface="Hiragino Sans GB W3" panose="020B0300000000000000" charset="-122"/>
              </a:rPr>
              <a:t>Stanley Qiufan CHEN</a:t>
            </a:r>
            <a:endParaRPr lang="zh-CN" altLang="en-US" sz="3200" b="1" dirty="0">
              <a:latin typeface="Hiragino Sans GB W6" panose="020B0300000000000000" charset="-122"/>
              <a:ea typeface="Hiragino Sans GB W6" panose="020B0300000000000000" charset="-122"/>
              <a:cs typeface="Hiragino Sans GB W3" panose="020B0300000000000000" charset="-122"/>
            </a:endParaRPr>
          </a:p>
          <a:p>
            <a:endParaRPr lang="en-US" sz="3200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r>
              <a:rPr lang="en-US" sz="3200" b="1" dirty="0">
                <a:latin typeface="Hiragino Sans GB W3" panose="020B0300000000000000" charset="-122"/>
                <a:ea typeface="Hiragino Sans GB W3" panose="020B0300000000000000" charset="-122"/>
                <a:cs typeface="Hiragino Sans GB W3" panose="020B0300000000000000" charset="-122"/>
              </a:rPr>
              <a:t>writer</a:t>
            </a:r>
            <a:endParaRPr lang="en-US" sz="3200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r>
              <a:rPr lang="en-US" sz="3200" b="1" dirty="0">
                <a:latin typeface="Hiragino Sans GB W3" panose="020B0300000000000000" charset="-122"/>
                <a:ea typeface="Hiragino Sans GB W3" panose="020B0300000000000000" charset="-122"/>
                <a:cs typeface="Hiragino Sans GB W3" panose="020B0300000000000000" charset="-122"/>
              </a:rPr>
              <a:t>(co-)author of Waste Tide, </a:t>
            </a:r>
            <a:endParaRPr lang="en-US" sz="3200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r>
              <a:rPr lang="en-US" sz="3200" b="1" dirty="0">
                <a:latin typeface="Hiragino Sans GB W3" panose="020B0300000000000000" charset="-122"/>
                <a:ea typeface="Hiragino Sans GB W3" panose="020B0300000000000000" charset="-122"/>
                <a:cs typeface="Hiragino Sans GB W3" panose="020B0300000000000000" charset="-122"/>
              </a:rPr>
              <a:t>AI2041:Ten Visions for our future</a:t>
            </a:r>
            <a:endParaRPr lang="en-US" sz="3200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endParaRPr lang="zh-CN" altLang="en-US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  <a:p>
            <a:endParaRPr lang="zh-CN" altLang="en-US" b="1" dirty="0">
              <a:latin typeface="Hiragino Sans GB W3" panose="020B0300000000000000" charset="-122"/>
              <a:ea typeface="Hiragino Sans GB W3" panose="020B0300000000000000" charset="-122"/>
              <a:cs typeface="Hiragino Sans GB W3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0055" y="239395"/>
            <a:ext cx="9144000" cy="818515"/>
          </a:xfrm>
        </p:spPr>
        <p:txBody>
          <a:bodyPr>
            <a:normAutofit/>
          </a:bodyPr>
          <a:p>
            <a:r>
              <a:rPr lang="en-US" sz="4000" b="1"/>
              <a:t>What is storytelling?</a:t>
            </a:r>
            <a:endParaRPr lang="en-US" sz="4000" b="1"/>
          </a:p>
        </p:txBody>
      </p:sp>
      <p:sp>
        <p:nvSpPr>
          <p:cNvPr id="4" name="内容占位符 2"/>
          <p:cNvSpPr txBox="1"/>
          <p:nvPr/>
        </p:nvSpPr>
        <p:spPr>
          <a:xfrm>
            <a:off x="915670" y="302704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3600" b="1" dirty="0">
                <a:latin typeface="Microsoft YaHei" charset="0"/>
                <a:ea typeface="Microsoft YaHei" charset="0"/>
                <a:cs typeface="Microsoft YaHei" charset="0"/>
              </a:rPr>
              <a:t>author</a:t>
            </a:r>
            <a:endParaRPr lang="en-US" sz="36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36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8960485" y="302704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3600" b="1" dirty="0">
                <a:latin typeface="Microsoft YaHei" charset="0"/>
                <a:ea typeface="Microsoft YaHei" charset="0"/>
                <a:cs typeface="Microsoft YaHei" charset="0"/>
              </a:rPr>
              <a:t>reader</a:t>
            </a:r>
            <a:endParaRPr lang="en-US" sz="36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36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979295" y="1174115"/>
            <a:ext cx="5059680" cy="5028565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358765" y="1174115"/>
            <a:ext cx="5059680" cy="5028565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5107305" y="3200400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meanings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370195" y="2898140"/>
            <a:ext cx="1680845" cy="1657985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4112895" y="1479550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text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723640" y="189801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image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3357245" y="2371090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metaphor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620135" y="332422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plot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3242945" y="284543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character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3265805" y="379285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structure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3390900" y="421322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emotion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3825875" y="464883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genre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4261485" y="504380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style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5734685" y="1906905"/>
            <a:ext cx="532765" cy="503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5563235" y="2033905"/>
            <a:ext cx="831215" cy="770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437505" y="2125345"/>
            <a:ext cx="1064895" cy="1034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5918200" y="2297430"/>
            <a:ext cx="687705" cy="645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6175375" y="2410460"/>
            <a:ext cx="532765" cy="503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6433185" y="2560320"/>
            <a:ext cx="367030" cy="335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610985" y="2788285"/>
            <a:ext cx="241935" cy="217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6772275" y="2942590"/>
            <a:ext cx="165100" cy="133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5460365" y="4350385"/>
            <a:ext cx="160020" cy="103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5540375" y="4453890"/>
            <a:ext cx="206375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5608955" y="4511040"/>
            <a:ext cx="309245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5688965" y="4545330"/>
            <a:ext cx="458470" cy="3663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5769610" y="4545330"/>
            <a:ext cx="629285" cy="526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5861050" y="4293235"/>
            <a:ext cx="1099185" cy="892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5986780" y="4591050"/>
            <a:ext cx="881380" cy="767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6112510" y="4976495"/>
            <a:ext cx="595630" cy="495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内容占位符 2"/>
          <p:cNvSpPr txBox="1"/>
          <p:nvPr/>
        </p:nvSpPr>
        <p:spPr>
          <a:xfrm>
            <a:off x="5035550" y="5916295"/>
            <a:ext cx="2349500" cy="818515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12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400" b="1" dirty="0">
                <a:latin typeface="Microsoft YaHei" charset="0"/>
                <a:ea typeface="Microsoft YaHei" charset="0"/>
                <a:cs typeface="Microsoft YaHei" charset="0"/>
              </a:rPr>
              <a:t>protocols</a:t>
            </a: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2400" b="1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6193155" y="5689600"/>
            <a:ext cx="0" cy="49212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0055" y="286385"/>
            <a:ext cx="9144000" cy="818515"/>
          </a:xfrm>
        </p:spPr>
        <p:txBody>
          <a:bodyPr>
            <a:normAutofit/>
          </a:bodyPr>
          <a:p>
            <a:r>
              <a:rPr lang="en-US" sz="4000" b="1"/>
              <a:t>What is storytelling?</a:t>
            </a:r>
            <a:endParaRPr lang="en-US" sz="4000" b="1"/>
          </a:p>
        </p:txBody>
      </p:sp>
      <p:sp>
        <p:nvSpPr>
          <p:cNvPr id="25" name="文本框 24"/>
          <p:cNvSpPr txBox="1"/>
          <p:nvPr/>
        </p:nvSpPr>
        <p:spPr>
          <a:xfrm>
            <a:off x="1225550" y="1771015"/>
            <a:ext cx="10046970" cy="3715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/>
              <a:t>The act of creating a space of </a:t>
            </a:r>
            <a:endParaRPr lang="en-US" altLang="zh-CN" sz="3200"/>
          </a:p>
          <a:p>
            <a:r>
              <a:rPr lang="en-US" altLang="zh-CN" sz="3200">
                <a:solidFill>
                  <a:srgbClr val="FF0000"/>
                </a:solidFill>
              </a:rPr>
              <a:t>meanings</a:t>
            </a:r>
            <a:r>
              <a:rPr lang="en-US" altLang="zh-CN" sz="3200"/>
              <a:t> </a:t>
            </a:r>
            <a:endParaRPr lang="en-US" altLang="zh-CN" sz="3200"/>
          </a:p>
          <a:p>
            <a:r>
              <a:rPr lang="en-US" altLang="zh-CN" sz="3200"/>
              <a:t>with using all the </a:t>
            </a:r>
            <a:r>
              <a:rPr lang="en-US" altLang="zh-CN" sz="3200">
                <a:solidFill>
                  <a:schemeClr val="accent1"/>
                </a:solidFill>
              </a:rPr>
              <a:t>elements</a:t>
            </a:r>
            <a:r>
              <a:rPr lang="en-US" altLang="zh-CN" sz="3200"/>
              <a:t> (text/image/metaphor/character/plot/structure /emotion/genre/style etc.) </a:t>
            </a:r>
            <a:endParaRPr lang="en-US" altLang="zh-CN" sz="3200"/>
          </a:p>
          <a:p>
            <a:r>
              <a:rPr lang="en-US" altLang="zh-CN" sz="3200"/>
              <a:t>under certain </a:t>
            </a:r>
            <a:r>
              <a:rPr lang="en-US" altLang="zh-CN" sz="3200">
                <a:solidFill>
                  <a:srgbClr val="00B050"/>
                </a:solidFill>
              </a:rPr>
              <a:t>protocols</a:t>
            </a:r>
            <a:endParaRPr lang="en-US" altLang="zh-CN" sz="3200">
              <a:solidFill>
                <a:srgbClr val="00B050"/>
              </a:solidFill>
            </a:endParaRPr>
          </a:p>
          <a:p>
            <a:r>
              <a:rPr lang="en-US" altLang="zh-CN" sz="3200"/>
              <a:t>between </a:t>
            </a:r>
            <a:endParaRPr lang="en-US" altLang="zh-CN" sz="3200"/>
          </a:p>
          <a:p>
            <a:r>
              <a:rPr lang="en-US" altLang="zh-CN" sz="3200"/>
              <a:t>the Author and the Reader.</a:t>
            </a:r>
            <a:endParaRPr lang="en-US" altLang="zh-CN" sz="3200"/>
          </a:p>
          <a:p>
            <a:endParaRPr lang="en-US" altLang="zh-CN" sz="3200"/>
          </a:p>
          <a:p>
            <a:endParaRPr lang="en-US" altLang="zh-CN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2475" y="396240"/>
            <a:ext cx="10824210" cy="818515"/>
          </a:xfrm>
        </p:spPr>
        <p:txBody>
          <a:bodyPr>
            <a:normAutofit fontScale="90000"/>
          </a:bodyPr>
          <a:p>
            <a:r>
              <a:rPr lang="en-US" sz="4000" b="1"/>
              <a:t>Question: Level of difficulties to change below? </a:t>
            </a:r>
            <a:endParaRPr lang="en-US" sz="4000" b="1"/>
          </a:p>
        </p:txBody>
      </p:sp>
      <p:sp>
        <p:nvSpPr>
          <p:cNvPr id="25" name="文本框 24"/>
          <p:cNvSpPr txBox="1"/>
          <p:nvPr/>
        </p:nvSpPr>
        <p:spPr>
          <a:xfrm>
            <a:off x="1225550" y="1771015"/>
            <a:ext cx="10046970" cy="3715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/>
              <a:t>The act of creating a space of </a:t>
            </a:r>
            <a:endParaRPr lang="en-US" altLang="zh-CN" sz="3200"/>
          </a:p>
          <a:p>
            <a:r>
              <a:rPr lang="en-US" altLang="zh-CN" sz="3200">
                <a:solidFill>
                  <a:srgbClr val="FF0000"/>
                </a:solidFill>
              </a:rPr>
              <a:t>meanings</a:t>
            </a:r>
            <a:r>
              <a:rPr lang="en-US" altLang="zh-CN" sz="3200"/>
              <a:t> </a:t>
            </a:r>
            <a:endParaRPr lang="en-US" altLang="zh-CN" sz="3200"/>
          </a:p>
          <a:p>
            <a:r>
              <a:rPr lang="en-US" altLang="zh-CN" sz="3200"/>
              <a:t>with using all the </a:t>
            </a:r>
            <a:r>
              <a:rPr lang="en-US" altLang="zh-CN" sz="3200">
                <a:solidFill>
                  <a:schemeClr val="accent1"/>
                </a:solidFill>
              </a:rPr>
              <a:t>elements</a:t>
            </a:r>
            <a:r>
              <a:rPr lang="en-US" altLang="zh-CN" sz="3200"/>
              <a:t> (text/image/metaphor/character/plot/structure /emotion/genre/style etc.) </a:t>
            </a:r>
            <a:endParaRPr lang="en-US" altLang="zh-CN" sz="3200"/>
          </a:p>
          <a:p>
            <a:r>
              <a:rPr lang="en-US" altLang="zh-CN" sz="3200"/>
              <a:t>under certain </a:t>
            </a:r>
            <a:r>
              <a:rPr lang="en-US" altLang="zh-CN" sz="3200">
                <a:solidFill>
                  <a:srgbClr val="00B050"/>
                </a:solidFill>
              </a:rPr>
              <a:t>protocols</a:t>
            </a:r>
            <a:endParaRPr lang="en-US" altLang="zh-CN" sz="3200">
              <a:solidFill>
                <a:srgbClr val="00B050"/>
              </a:solidFill>
            </a:endParaRPr>
          </a:p>
          <a:p>
            <a:r>
              <a:rPr lang="en-US" altLang="zh-CN" sz="3200"/>
              <a:t>between </a:t>
            </a:r>
            <a:endParaRPr lang="en-US" altLang="zh-CN" sz="3200"/>
          </a:p>
          <a:p>
            <a:r>
              <a:rPr lang="en-US" altLang="zh-CN" sz="3200"/>
              <a:t>the Author and the Reader.</a:t>
            </a:r>
            <a:endParaRPr lang="en-US" altLang="zh-CN" sz="3200"/>
          </a:p>
          <a:p>
            <a:endParaRPr lang="en-US" altLang="zh-CN" sz="3200"/>
          </a:p>
          <a:p>
            <a:endParaRPr lang="en-US" altLang="zh-CN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Mechanisms by which protocols deepen meaning: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endParaRPr lang="en-US" altLang="zh-CN"/>
          </a:p>
          <a:p>
            <a:r>
              <a:rPr lang="en-US" altLang="zh-CN"/>
              <a:t>Layered scaffolding: forces systematic exploration of plot, context, belief, and symbol rather than ad-hoc storytelling.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Constraint-driven focus: embeds clear objectives and checks at each stage, ensuring every element carries thematic weight.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Intent encoding: captures the author’s deeper ambitions (worldview, archetype) so narrative choices align with a cohesive vision.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Reflective prompts: prods writers to surface hidden assumptions and cultural blind spots, turning simple scenes into resonant microcosms.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2475" y="396240"/>
            <a:ext cx="10824210" cy="818515"/>
          </a:xfrm>
        </p:spPr>
        <p:txBody>
          <a:bodyPr>
            <a:normAutofit fontScale="90000"/>
          </a:bodyPr>
          <a:p>
            <a:r>
              <a:rPr lang="en-US" sz="4000" b="1"/>
              <a:t>Question: Level of difficulties to change below? </a:t>
            </a:r>
            <a:endParaRPr lang="en-US" sz="4000" b="1"/>
          </a:p>
        </p:txBody>
      </p:sp>
      <p:sp>
        <p:nvSpPr>
          <p:cNvPr id="25" name="文本框 24"/>
          <p:cNvSpPr txBox="1"/>
          <p:nvPr/>
        </p:nvSpPr>
        <p:spPr>
          <a:xfrm>
            <a:off x="1225550" y="1771015"/>
            <a:ext cx="10046970" cy="3715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u="sng"/>
              <a:t>easy to hard:</a:t>
            </a:r>
            <a:endParaRPr lang="en-US" altLang="zh-CN" sz="3200" u="sng"/>
          </a:p>
          <a:p>
            <a:r>
              <a:rPr lang="en-US" altLang="zh-CN" sz="3200"/>
              <a:t>elements &lt; meanings &lt; protocols</a:t>
            </a:r>
            <a:endParaRPr lang="en-US" altLang="zh-CN" sz="3200"/>
          </a:p>
          <a:p>
            <a:endParaRPr lang="en-US" altLang="zh-CN" sz="3200"/>
          </a:p>
          <a:p>
            <a:r>
              <a:rPr lang="en-US" altLang="zh-CN" sz="3200" u="sng"/>
              <a:t>easy to hard:</a:t>
            </a:r>
            <a:endParaRPr lang="en-US" altLang="zh-CN" sz="3200" u="sng"/>
          </a:p>
          <a:p>
            <a:r>
              <a:rPr lang="en-US" altLang="zh-CN" sz="3200"/>
              <a:t>author &lt; reader </a:t>
            </a:r>
            <a:endParaRPr lang="en-US" altLang="zh-CN" sz="3200"/>
          </a:p>
          <a:p>
            <a:endParaRPr lang="en-US" altLang="zh-CN" sz="3200"/>
          </a:p>
          <a:p>
            <a:r>
              <a:rPr lang="en-US" altLang="zh-CN" sz="3200"/>
              <a:t>The better we understand the hard part, </a:t>
            </a:r>
            <a:endParaRPr lang="en-US" altLang="zh-CN" sz="3200"/>
          </a:p>
          <a:p>
            <a:r>
              <a:rPr lang="en-US" altLang="zh-CN" sz="3200"/>
              <a:t>the better we optimize the easy part.</a:t>
            </a:r>
            <a:endParaRPr lang="en-US" altLang="zh-CN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2475" y="396240"/>
            <a:ext cx="10824210" cy="818515"/>
          </a:xfrm>
        </p:spPr>
        <p:txBody>
          <a:bodyPr>
            <a:normAutofit/>
          </a:bodyPr>
          <a:p>
            <a:r>
              <a:rPr lang="en-US" sz="4000" b="1"/>
              <a:t>Why Protocols matter?</a:t>
            </a:r>
            <a:endParaRPr lang="en-US" sz="4000" b="1"/>
          </a:p>
        </p:txBody>
      </p:sp>
      <p:sp>
        <p:nvSpPr>
          <p:cNvPr id="25" name="文本框 24"/>
          <p:cNvSpPr txBox="1"/>
          <p:nvPr/>
        </p:nvSpPr>
        <p:spPr>
          <a:xfrm>
            <a:off x="1031240" y="1393825"/>
            <a:ext cx="10266045" cy="3715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/>
              <a:t>Developed through time and deeply rooted in culture and humanity；</a:t>
            </a: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/>
              <a:t>Shapes the way readers read，understand and feel the </a:t>
            </a:r>
            <a:r>
              <a:rPr lang="en-US" altLang="zh-CN" sz="2400"/>
              <a:t>story；</a:t>
            </a: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/>
              <a:t>Authors are also readers, we write as the way we read;</a:t>
            </a: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4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400"/>
              <a:t>Lack of protocol thinking will lead to:</a:t>
            </a: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400"/>
              <a:t>     -- shallowness (character, plots, emotions, etc.)</a:t>
            </a: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400"/>
              <a:t>     -- inconsistency from different layers;</a:t>
            </a: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400"/>
              <a:t>     -- empty metaphors without relevancy;</a:t>
            </a: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400"/>
              <a:t>     -- explicit propaganda and weak meaning making;</a:t>
            </a:r>
            <a:endParaRPr lang="en-US" altLang="zh-CN" sz="2400"/>
          </a:p>
          <a:p>
            <a:pPr indent="0">
              <a:buFont typeface="Arial" panose="020B0604020202090204" pitchFamily="34" charset="0"/>
              <a:buNone/>
            </a:pPr>
            <a:endParaRPr lang="en-US" altLang="zh-CN" sz="2400"/>
          </a:p>
          <a:p>
            <a:pPr indent="0" algn="ctr">
              <a:buFont typeface="Arial" panose="020B0604020202090204" pitchFamily="34" charset="0"/>
              <a:buNone/>
            </a:pPr>
            <a:r>
              <a:rPr lang="en-US" altLang="zh-CN" sz="2400" b="1"/>
              <a:t>In a word, it is not deep enough.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6985" y="2839720"/>
            <a:ext cx="5695950" cy="3562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2475" y="396240"/>
            <a:ext cx="10824210" cy="818515"/>
          </a:xfrm>
        </p:spPr>
        <p:txBody>
          <a:bodyPr>
            <a:normAutofit/>
          </a:bodyPr>
          <a:p>
            <a:r>
              <a:rPr lang="en-US" sz="4000" b="1"/>
              <a:t>What is CLA? Why it help to craft story?</a:t>
            </a:r>
            <a:endParaRPr lang="en-US" sz="4000" b="1"/>
          </a:p>
        </p:txBody>
      </p:sp>
      <p:sp>
        <p:nvSpPr>
          <p:cNvPr id="25" name="文本框 24"/>
          <p:cNvSpPr txBox="1"/>
          <p:nvPr/>
        </p:nvSpPr>
        <p:spPr>
          <a:xfrm>
            <a:off x="377190" y="1571625"/>
            <a:ext cx="8444865" cy="3715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altLang="zh-CN" sz="2000" b="1"/>
              <a:t>CLA (Causal Layered Analysis) by Sohail Inayatullah</a:t>
            </a:r>
            <a:endParaRPr lang="en-US" altLang="zh-CN" sz="2000" b="1"/>
          </a:p>
          <a:p>
            <a:pPr indent="0">
              <a:buFont typeface="Arial" panose="020B0604020202090204" pitchFamily="34" charset="0"/>
              <a:buNone/>
            </a:pP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000"/>
              <a:t>Litany </a:t>
            </a:r>
            <a:endParaRPr lang="en-US" altLang="zh-CN" sz="20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000"/>
              <a:t> the surface narrative: “What happens?”</a:t>
            </a: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000"/>
              <a:t>Systemic Causes </a:t>
            </a:r>
            <a:endParaRPr lang="en-US" altLang="zh-CN" sz="20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000"/>
              <a:t>context &amp; systems behind the story: “Why does it happen?”</a:t>
            </a: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000"/>
              <a:t>Worldview/Discourse </a:t>
            </a:r>
            <a:endParaRPr lang="en-US" altLang="zh-CN" sz="20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000"/>
              <a:t> underlying beliefs &amp; values: “What assumptions inform it?”</a:t>
            </a: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altLang="zh-CN" sz="200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2000"/>
              <a:t>Myth/Metaphor </a:t>
            </a:r>
            <a:endParaRPr lang="en-US" altLang="zh-CN" sz="2000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000"/>
              <a:t> deep archetypes &amp; images: “What universal story does it echo?”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/>
          <p:nvPr>
            <p:ph idx="1"/>
          </p:nvPr>
        </p:nvSpPr>
        <p:spPr>
          <a:xfrm>
            <a:off x="647700" y="1584325"/>
            <a:ext cx="6124575" cy="482663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zh-CN" sz="24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“The Golden Elephant”</a:t>
            </a:r>
            <a:endParaRPr lang="en-US" altLang="zh-CN" sz="2400" b="1"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 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Unfolds in 2041 Mumbai, where teenage Nayana’s family enrolls in Ganesh Insurance—an AI-driven program of apps that uses deep learning to optimize health and safety. As the system nudges them toward “ideal” behaviors, it also subtly discourages Nayana’s romance with Sahej, a boy from a lower caste, exposing how algorithmic insurance can perpetuate social bias. Through virtual classrooms and data-driven insights, the story explores AI’s power to quantify hidden discrimination, raising urgent questions about fairness, autonomy, and ethics in intelligent systems. 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52475" y="396240"/>
            <a:ext cx="10824210" cy="8185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Deep Writing Practice</a:t>
            </a:r>
            <a:endParaRPr lang="en-US" sz="4000" b="1"/>
          </a:p>
        </p:txBody>
      </p:sp>
      <p:pic>
        <p:nvPicPr>
          <p:cNvPr id="8" name="图片 7" descr="ChatGPT Image 2025年6月25日 18_30_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340" y="1584325"/>
            <a:ext cx="4690110" cy="4690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/>
          <p:nvPr>
            <p:ph idx="1"/>
          </p:nvPr>
        </p:nvSpPr>
        <p:spPr>
          <a:xfrm>
            <a:off x="647700" y="1825625"/>
            <a:ext cx="10272395" cy="4351655"/>
          </a:xfrm>
        </p:spPr>
        <p:txBody>
          <a:bodyPr>
            <a:normAutofit lnSpcReduction="10000"/>
          </a:bodyPr>
          <a:p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  <a:p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Litany：AI-driven “Ganesh Insurance” nudges Nayana’s romance with justify reason: health and cost.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  <a:p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Systemic Causes：A self re-enhanced system wielding deep data exacerbates caste-based inequalities；</a:t>
            </a: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  <a:p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Worldview/Discourse：What kind of life is worth living: determined or free will?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  <a:p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Myth/Metaphor：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Ganesh represents wisdom, properity, add/break the obstacles.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52475" y="396240"/>
            <a:ext cx="10824210" cy="8185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Deep Writing Practice</a:t>
            </a:r>
            <a:endParaRPr lang="en-US" sz="4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2080" y="2045335"/>
            <a:ext cx="3921125" cy="3627120"/>
          </a:xfrm>
          <a:prstGeom prst="rect">
            <a:avLst/>
          </a:prstGeom>
        </p:spPr>
      </p:pic>
      <p:sp>
        <p:nvSpPr>
          <p:cNvPr id="6" name="内容占位符 5"/>
          <p:cNvSpPr/>
          <p:nvPr>
            <p:ph idx="1"/>
          </p:nvPr>
        </p:nvSpPr>
        <p:spPr>
          <a:xfrm>
            <a:off x="647700" y="1584325"/>
            <a:ext cx="6847840" cy="4351655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zh-CN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en-US">
                <a:latin typeface="Heiti SC Light" panose="02000000000000000000" charset="-122"/>
                <a:ea typeface="Heiti SC Light" panose="02000000000000000000" charset="-122"/>
              </a:rPr>
              <a:t>✓</a:t>
            </a:r>
            <a:r>
              <a:rPr lang="en-US" altLang="zh-CN">
                <a:latin typeface="Heiti SC Light" panose="02000000000000000000" charset="-122"/>
                <a:ea typeface="Heiti SC Light" panose="02000000000000000000" charset="-122"/>
              </a:rPr>
              <a:t> Does the scene answer </a:t>
            </a:r>
            <a:r>
              <a:rPr lang="en-US" altLang="zh-CN" b="1">
                <a:latin typeface="Heiti SC Medium" panose="02000000000000000000" charset="-122"/>
                <a:ea typeface="Heiti SC Medium" panose="02000000000000000000" charset="-122"/>
              </a:rPr>
              <a:t>what happens, why, under which beliefs, and with a resonant myth?</a:t>
            </a:r>
            <a:endParaRPr lang="en-US" altLang="zh-CN" b="1">
              <a:latin typeface="Heiti SC Medium" panose="02000000000000000000" charset="-122"/>
              <a:ea typeface="Heiti SC Medium" panose="02000000000000000000" charset="-122"/>
            </a:endParaRPr>
          </a:p>
          <a:p>
            <a:pPr marL="0" indent="0">
              <a:buNone/>
            </a:pPr>
            <a:endParaRPr lang="en-US" altLang="zh-CN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zh-CN" b="1" u="sng">
                <a:latin typeface="Heiti SC Medium" panose="02000000000000000000" charset="-122"/>
                <a:ea typeface="Heiti SC Medium" panose="02000000000000000000" charset="-122"/>
              </a:rPr>
              <a:t>Remember:</a:t>
            </a:r>
            <a:endParaRPr lang="en-US" altLang="zh-CN" b="1" u="sng">
              <a:latin typeface="Heiti SC Medium" panose="02000000000000000000" charset="-122"/>
              <a:ea typeface="Heiti SC Medium" panose="02000000000000000000" charset="-122"/>
            </a:endParaRPr>
          </a:p>
          <a:p>
            <a:pPr marL="0" indent="0">
              <a:buNone/>
            </a:pPr>
            <a:endParaRPr lang="en-US" altLang="zh-CN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zh-CN" b="1">
                <a:latin typeface="Heiti SC Medium" panose="02000000000000000000" charset="-122"/>
                <a:ea typeface="Heiti SC Medium" panose="02000000000000000000" charset="-122"/>
              </a:rPr>
              <a:t>Deep Writing = Plot + Context + Worldview + Myth.</a:t>
            </a:r>
            <a:endParaRPr lang="en-US" altLang="zh-CN" b="1">
              <a:latin typeface="Heiti SC Medium" panose="02000000000000000000" charset="-122"/>
              <a:ea typeface="Heiti SC Medium" panose="02000000000000000000" charset="-122"/>
            </a:endParaRPr>
          </a:p>
          <a:p>
            <a:pPr marL="0" indent="0">
              <a:buNone/>
            </a:pPr>
            <a:endParaRPr lang="en-US" altLang="zh-CN">
              <a:latin typeface="Heiti SC Light" panose="02000000000000000000" charset="-122"/>
              <a:ea typeface="Heiti SC Light" panose="02000000000000000000" charset="-122"/>
            </a:endParaRPr>
          </a:p>
          <a:p>
            <a:pPr marL="0" indent="0">
              <a:buNone/>
            </a:pPr>
            <a:r>
              <a:rPr lang="en-US" altLang="zh-CN">
                <a:latin typeface="Heiti SC Light" panose="02000000000000000000" charset="-122"/>
                <a:ea typeface="Heiti SC Light" panose="02000000000000000000" charset="-122"/>
              </a:rPr>
              <a:t>A single potent metaphor can transform a scene from shallow to profound.</a:t>
            </a:r>
            <a:endParaRPr lang="en-US" altLang="zh-CN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52475" y="396240"/>
            <a:ext cx="10824210" cy="8185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Checklist for revision</a:t>
            </a:r>
            <a:endParaRPr lang="en-US" sz="4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截屏2025-04-01 上午9.08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8845" y="1932305"/>
            <a:ext cx="2377440" cy="1038225"/>
          </a:xfrm>
          <a:prstGeom prst="rect">
            <a:avLst/>
          </a:prstGeom>
        </p:spPr>
      </p:pic>
      <p:pic>
        <p:nvPicPr>
          <p:cNvPr id="6" name="图片 5" descr="截屏2025-04-01 上午9.09.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960755"/>
            <a:ext cx="2287270" cy="787400"/>
          </a:xfrm>
          <a:prstGeom prst="rect">
            <a:avLst/>
          </a:prstGeom>
        </p:spPr>
      </p:pic>
      <p:pic>
        <p:nvPicPr>
          <p:cNvPr id="7" name="图片 6" descr="截屏2025-04-01 上午9.09.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010" y="3228340"/>
            <a:ext cx="2092325" cy="1037590"/>
          </a:xfrm>
          <a:prstGeom prst="rect">
            <a:avLst/>
          </a:prstGeom>
        </p:spPr>
      </p:pic>
      <p:pic>
        <p:nvPicPr>
          <p:cNvPr id="8" name="图片 7" descr="截屏2025-04-01 上午9.09.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265" y="2197735"/>
            <a:ext cx="2295525" cy="1018540"/>
          </a:xfrm>
          <a:prstGeom prst="rect">
            <a:avLst/>
          </a:prstGeom>
        </p:spPr>
      </p:pic>
      <p:pic>
        <p:nvPicPr>
          <p:cNvPr id="9" name="图片 8" descr="截屏2025-04-01 上午9.09.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45" y="4613275"/>
            <a:ext cx="1778000" cy="787400"/>
          </a:xfrm>
          <a:prstGeom prst="rect">
            <a:avLst/>
          </a:prstGeom>
        </p:spPr>
      </p:pic>
      <p:pic>
        <p:nvPicPr>
          <p:cNvPr id="10" name="图片 9" descr="截屏2025-04-01 上午9.09.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2550" y="1164590"/>
            <a:ext cx="2004695" cy="788035"/>
          </a:xfrm>
          <a:prstGeom prst="rect">
            <a:avLst/>
          </a:prstGeom>
        </p:spPr>
      </p:pic>
      <p:pic>
        <p:nvPicPr>
          <p:cNvPr id="11" name="图片 10" descr="截屏2025-04-01 上午9.09.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650" y="3660775"/>
            <a:ext cx="1257300" cy="698500"/>
          </a:xfrm>
          <a:prstGeom prst="rect">
            <a:avLst/>
          </a:prstGeom>
        </p:spPr>
      </p:pic>
      <p:pic>
        <p:nvPicPr>
          <p:cNvPr id="12" name="图片 11" descr="截屏2025-04-01 上午9.10.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6540" y="2356485"/>
            <a:ext cx="1985645" cy="969010"/>
          </a:xfrm>
          <a:prstGeom prst="rect">
            <a:avLst/>
          </a:prstGeom>
        </p:spPr>
      </p:pic>
      <p:pic>
        <p:nvPicPr>
          <p:cNvPr id="13" name="图片 12" descr="截屏2025-04-01 上午9.10.0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6010" y="4864735"/>
            <a:ext cx="1600200" cy="647700"/>
          </a:xfrm>
          <a:prstGeom prst="rect">
            <a:avLst/>
          </a:prstGeom>
        </p:spPr>
      </p:pic>
      <p:pic>
        <p:nvPicPr>
          <p:cNvPr id="14" name="图片 13" descr="截屏2025-04-01 上午9.10.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350" y="3406140"/>
            <a:ext cx="1650365" cy="681355"/>
          </a:xfrm>
          <a:prstGeom prst="rect">
            <a:avLst/>
          </a:prstGeom>
        </p:spPr>
      </p:pic>
      <p:pic>
        <p:nvPicPr>
          <p:cNvPr id="15" name="图片 14" descr="截屏2025-04-01 上午9.12.0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0465" y="1033145"/>
            <a:ext cx="1591310" cy="751205"/>
          </a:xfrm>
          <a:prstGeom prst="rect">
            <a:avLst/>
          </a:prstGeom>
        </p:spPr>
      </p:pic>
      <p:pic>
        <p:nvPicPr>
          <p:cNvPr id="16" name="图片 15" descr="截屏2025-04-01 上午9.12.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350" y="5563870"/>
            <a:ext cx="1765935" cy="695960"/>
          </a:xfrm>
          <a:prstGeom prst="rect">
            <a:avLst/>
          </a:prstGeom>
        </p:spPr>
      </p:pic>
      <p:pic>
        <p:nvPicPr>
          <p:cNvPr id="17" name="图片 16" descr="截屏2025-04-01 上午9.12.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0465" y="3406140"/>
            <a:ext cx="2260600" cy="911225"/>
          </a:xfrm>
          <a:prstGeom prst="rect">
            <a:avLst/>
          </a:prstGeom>
        </p:spPr>
      </p:pic>
      <p:pic>
        <p:nvPicPr>
          <p:cNvPr id="18" name="图片 17" descr="截屏2025-04-01 上午9.13.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2375" y="5400675"/>
            <a:ext cx="16986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" y="47625"/>
            <a:ext cx="12082145" cy="68237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455785" cy="4722495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ctrTitle"/>
          </p:nvPr>
        </p:nvSpPr>
        <p:spPr>
          <a:xfrm>
            <a:off x="2599055" y="4395727"/>
            <a:ext cx="9144000" cy="2187001"/>
          </a:xfrm>
        </p:spPr>
        <p:txBody>
          <a:bodyPr>
            <a:noAutofit/>
          </a:bodyPr>
          <a:p>
            <a:pPr algn="r"/>
            <a:br>
              <a:rPr lang="zh-CN" altLang="en-US" sz="4000"/>
            </a:br>
            <a:br>
              <a:rPr lang="zh-CN" altLang="en-US" sz="4000"/>
            </a:br>
            <a:br>
              <a:rPr lang="zh-CN" altLang="en-US" sz="4000"/>
            </a:br>
            <a:r>
              <a:rPr lang="en-US" altLang="zh-CN" sz="2800"/>
              <a:t>Multi Modality - How to feel? </a:t>
            </a:r>
            <a:br>
              <a:rPr lang="zh-CN" altLang="en-US" sz="2800"/>
            </a:br>
            <a:r>
              <a:rPr lang="en-US" altLang="zh-CN" sz="2800"/>
              <a:t>Embodiment - How to interact?</a:t>
            </a:r>
            <a:br>
              <a:rPr lang="zh-CN" altLang="en-US" sz="2800"/>
            </a:br>
            <a:r>
              <a:rPr lang="en-US" altLang="zh-CN" sz="2800"/>
              <a:t>Recursive - How to reflect? </a:t>
            </a:r>
            <a:br>
              <a:rPr lang="en-US" altLang="zh-CN" sz="2800"/>
            </a:br>
            <a:r>
              <a:rPr lang="en-US" altLang="zh-CN" sz="2800"/>
              <a:t>Adversarial - How to revise?</a:t>
            </a:r>
            <a:br>
              <a:rPr lang="zh-CN" altLang="en-US" sz="2800"/>
            </a:br>
            <a:r>
              <a:rPr lang="en-US" altLang="zh-CN" sz="2800"/>
              <a:t>Meta Cognition - How to improve?</a:t>
            </a:r>
            <a:endParaRPr lang="en-US" altLang="zh-CN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Resource: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 b="1"/>
              <a:t>Deep Writing: A Hermetic Practice in the LLM Era (Chen Qiufan)</a:t>
            </a:r>
            <a:endParaRPr lang="en-US" altLang="zh-CN" sz="2400" b="1"/>
          </a:p>
          <a:p>
            <a:endParaRPr lang="en-US" altLang="zh-CN" sz="2400" b="1"/>
          </a:p>
          <a:p>
            <a:r>
              <a:rPr lang="en-US" altLang="zh-CN" sz="2400" b="1"/>
              <a:t>Inayatullah’s CLA framework (Intro chapter)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>
          <a:xfrm>
            <a:off x="1826895" y="1916430"/>
            <a:ext cx="8538845" cy="1259840"/>
          </a:xfrm>
          <a:prstGeom prst="rect">
            <a:avLst/>
          </a:prstGeom>
        </p:spPr>
        <p:txBody>
          <a:bodyPr vert="horz" lIns="96771" tIns="48385" rIns="96771" bIns="48385" rtlCol="0">
            <a:noAutofit/>
          </a:bodyPr>
          <a:lstStyle>
            <a:lvl1pPr marL="215900" indent="-215900" algn="l" defTabSz="863600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Char char="•"/>
              <a:defRPr sz="26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3600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en-US" sz="2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2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4800" b="1" dirty="0">
                <a:latin typeface="Microsoft YaHei" charset="0"/>
                <a:ea typeface="Microsoft YaHei" charset="0"/>
                <a:cs typeface="Microsoft YaHei" charset="0"/>
              </a:rPr>
              <a:t>Thank you!</a:t>
            </a:r>
            <a:endParaRPr lang="en-US" sz="4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endParaRPr lang="en-US" sz="4800" b="1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ctr">
              <a:buFont typeface="Arial" panose="020B0604020202090204" pitchFamily="34" charset="0"/>
              <a:buNone/>
            </a:pPr>
            <a:r>
              <a:rPr lang="en-US" sz="2000" dirty="0">
                <a:latin typeface="Microsoft YaHei" charset="0"/>
                <a:ea typeface="Microsoft YaHei" charset="0"/>
                <a:cs typeface="Microsoft YaHei" charset="0"/>
              </a:rPr>
              <a:t>E-mail</a:t>
            </a:r>
            <a:r>
              <a:rPr lang="zh-CN" altLang="en-US" sz="2000" dirty="0">
                <a:latin typeface="Microsoft YaHei" charset="0"/>
                <a:ea typeface="Microsoft YaHei" charset="0"/>
                <a:cs typeface="Microsoft YaHei" charset="0"/>
              </a:rPr>
              <a:t>：</a:t>
            </a:r>
            <a:r>
              <a:rPr lang="en-US" altLang="zh-CN" sz="2000" dirty="0">
                <a:latin typeface="Microsoft YaHei" charset="0"/>
                <a:ea typeface="Microsoft YaHei" charset="0"/>
                <a:cs typeface="Microsoft YaHei" charset="0"/>
              </a:rPr>
              <a:t>scifivan@gmail.com</a:t>
            </a:r>
            <a:endParaRPr lang="en-US" sz="3500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r">
              <a:buFont typeface="Arial" panose="020B0604020202090204" pitchFamily="34" charset="0"/>
              <a:buNone/>
            </a:pPr>
            <a:endParaRPr lang="en-US" sz="200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3826</Words>
  <Application>WPS 文字</Application>
  <PresentationFormat>宽屏</PresentationFormat>
  <Paragraphs>156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Heiti TC Medium</vt:lpstr>
      <vt:lpstr>Hiragino Sans GB W3</vt:lpstr>
      <vt:lpstr>Hiragino Sans GB W6</vt:lpstr>
      <vt:lpstr>Microsoft YaHei</vt:lpstr>
      <vt:lpstr>汉仪旗黑</vt:lpstr>
      <vt:lpstr>Heiti SC Medium</vt:lpstr>
      <vt:lpstr>Heiti SC Light</vt:lpstr>
      <vt:lpstr>Microsoft YaHei</vt:lpstr>
      <vt:lpstr>SimSun</vt:lpstr>
      <vt:lpstr>Arial Unicode MS</vt:lpstr>
      <vt:lpstr>汉仪书宋二KW</vt:lpstr>
      <vt:lpstr>Calibri Light</vt:lpstr>
      <vt:lpstr>Helvetica Neue</vt:lpstr>
      <vt:lpstr>Calibri</vt:lpstr>
      <vt:lpstr>WPS</vt:lpstr>
      <vt:lpstr>Deepwriting How to craft a story with protocol</vt:lpstr>
      <vt:lpstr>What is storytelling?</vt:lpstr>
      <vt:lpstr>What is storytelling?</vt:lpstr>
      <vt:lpstr>Question: Level of difficulties to change below? </vt:lpstr>
      <vt:lpstr>PowerPoint 演示文稿</vt:lpstr>
      <vt:lpstr>Question: Level of difficulties to change below? </vt:lpstr>
      <vt:lpstr>Why Protocols matter?</vt:lpstr>
      <vt:lpstr>What is CLA? Why it help to craft story?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Multi Modality - How to feel?  Embodiment - How to interact? Recursive - How to reflect?  Adversarial - How to revise? Meta Cognition - How to improve?</vt:lpstr>
      <vt:lpstr>Resource: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chenqiufan</dc:creator>
  <cp:lastModifiedBy>StanleyChan</cp:lastModifiedBy>
  <cp:revision>9</cp:revision>
  <dcterms:created xsi:type="dcterms:W3CDTF">2025-06-25T15:06:01Z</dcterms:created>
  <dcterms:modified xsi:type="dcterms:W3CDTF">2025-06-25T15:06:01Z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2052-6.11.0.8615</vt:lpwstr>
  </property>
  <property fmtid="{D5CDD505-2E9C-101B-9397-08002B2CF9AE}" pid="3" name="ICV">
    <vt:lpwstr>13C0A5F1D28B9EFB8BBF5B68C198E8DC_43</vt:lpwstr>
  </property>
</Properties>
</file>