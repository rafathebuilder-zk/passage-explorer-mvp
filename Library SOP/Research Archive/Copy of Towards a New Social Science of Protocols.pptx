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20"/>
  </p:notesMasterIdLst>
  <p:sldIdLst>
    <p:sldId id="256" r:id="rId2"/>
    <p:sldId id="257" r:id="rId3"/>
    <p:sldId id="258" r:id="rId4"/>
    <p:sldId id="268" r:id="rId5"/>
    <p:sldId id="269" r:id="rId6"/>
    <p:sldId id="259" r:id="rId7"/>
    <p:sldId id="260" r:id="rId8"/>
    <p:sldId id="261" r:id="rId9"/>
    <p:sldId id="262" r:id="rId10"/>
    <p:sldId id="263" r:id="rId11"/>
    <p:sldId id="264" r:id="rId12"/>
    <p:sldId id="265" r:id="rId13"/>
    <p:sldId id="266" r:id="rId14"/>
    <p:sldId id="267"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69"/>
    <p:restoredTop sz="86259"/>
  </p:normalViewPr>
  <p:slideViewPr>
    <p:cSldViewPr snapToGrid="0">
      <p:cViewPr varScale="1">
        <p:scale>
          <a:sx n="110" d="100"/>
          <a:sy n="110" d="100"/>
        </p:scale>
        <p:origin x="153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AC9B52-5B57-FA41-ACF4-C87BD59C8194}" type="datetimeFigureOut">
              <a:rPr kumimoji="1" lang="zh-CN" altLang="en-US" smtClean="0"/>
              <a:t>2025/9/10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92AE0F-C8FF-AE42-A661-2DB6557B7472}" type="slidenum">
              <a:rPr kumimoji="1" lang="zh-CN" altLang="en-US" smtClean="0"/>
              <a:t>‹#›</a:t>
            </a:fld>
            <a:endParaRPr kumimoji="1" lang="zh-CN" altLang="en-US"/>
          </a:p>
        </p:txBody>
      </p:sp>
    </p:spTree>
    <p:extLst>
      <p:ext uri="{BB962C8B-B14F-4D97-AF65-F5344CB8AC3E}">
        <p14:creationId xmlns:p14="http://schemas.microsoft.com/office/powerpoint/2010/main" val="2782648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092AE0F-C8FF-AE42-A661-2DB6557B7472}" type="slidenum">
              <a:rPr kumimoji="1" lang="zh-CN" altLang="en-US" smtClean="0"/>
              <a:t>8</a:t>
            </a:fld>
            <a:endParaRPr kumimoji="1" lang="zh-CN" altLang="en-US"/>
          </a:p>
        </p:txBody>
      </p:sp>
    </p:spTree>
    <p:extLst>
      <p:ext uri="{BB962C8B-B14F-4D97-AF65-F5344CB8AC3E}">
        <p14:creationId xmlns:p14="http://schemas.microsoft.com/office/powerpoint/2010/main" val="434368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zh-CN" dirty="0" err="1"/>
              <a:t>Understand</a:t>
            </a:r>
            <a:r>
              <a:rPr lang="zh-CN" altLang="en-US" dirty="0"/>
              <a:t> </a:t>
            </a:r>
            <a:r>
              <a:rPr lang="en-US" altLang="zh-CN" dirty="0"/>
              <a:t>the</a:t>
            </a:r>
            <a:r>
              <a:rPr lang="zh-CN" altLang="en-US" dirty="0"/>
              <a:t> </a:t>
            </a:r>
            <a:r>
              <a:rPr lang="de-DE" altLang="zh-CN" dirty="0"/>
              <a:t>Origins, Evolution, Mutation, and End </a:t>
            </a:r>
            <a:r>
              <a:rPr lang="de-DE" altLang="zh-CN" dirty="0" err="1"/>
              <a:t>of</a:t>
            </a:r>
            <a:r>
              <a:rPr lang="de-DE" altLang="zh-CN" dirty="0"/>
              <a:t> </a:t>
            </a:r>
            <a:r>
              <a:rPr lang="de-DE" altLang="zh-CN" dirty="0" err="1"/>
              <a:t>Civilizations</a:t>
            </a:r>
            <a:r>
              <a:rPr lang="de-DE" altLang="zh-CN" dirty="0"/>
              <a:t> via Protocol</a:t>
            </a:r>
            <a:r>
              <a:rPr lang="zh-CN" altLang="en-US" dirty="0"/>
              <a:t> </a:t>
            </a:r>
            <a:r>
              <a:rPr lang="en-US" altLang="zh-CN" dirty="0" err="1"/>
              <a:t>persective</a:t>
            </a:r>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fld id="{A092AE0F-C8FF-AE42-A661-2DB6557B7472}" type="slidenum">
              <a:rPr kumimoji="1" lang="zh-CN" altLang="en-US" smtClean="0"/>
              <a:t>10</a:t>
            </a:fld>
            <a:endParaRPr kumimoji="1" lang="zh-CN" altLang="en-US"/>
          </a:p>
        </p:txBody>
      </p:sp>
    </p:spTree>
    <p:extLst>
      <p:ext uri="{BB962C8B-B14F-4D97-AF65-F5344CB8AC3E}">
        <p14:creationId xmlns:p14="http://schemas.microsoft.com/office/powerpoint/2010/main" val="656165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smtClean="0"/>
              <a:pPr/>
              <a:t>9/10/25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705067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930528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smtClean="0"/>
              <a:t>9/10/25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245929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zh-CN" altLang="en-US"/>
              <a:t>单击此处编辑母版标题样式</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smtClean="0"/>
              <a:t>9/10/25</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512350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125305" y="1488985"/>
            <a:ext cx="6264350" cy="169685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118447" y="4351687"/>
            <a:ext cx="6265588" cy="17040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smtClean="0"/>
              <a:t>9/10/25</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442704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9/10/25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667606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smtClean="0"/>
              <a:t>9/10/25</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28891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smtClean="0"/>
              <a:t>9/10/25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559447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smtClean="0"/>
              <a:t>9/10/25</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635498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702122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smtClean="0"/>
              <a:t>9/10/25</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606446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smtClean="0"/>
              <a:pPr/>
              <a:t>9/10/25</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06961344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145CF7-12E2-18B6-D753-3DCF8BA306F6}"/>
              </a:ext>
            </a:extLst>
          </p:cNvPr>
          <p:cNvSpPr>
            <a:spLocks noGrp="1"/>
          </p:cNvSpPr>
          <p:nvPr>
            <p:ph type="ctrTitle"/>
          </p:nvPr>
        </p:nvSpPr>
        <p:spPr/>
        <p:txBody>
          <a:bodyPr/>
          <a:lstStyle/>
          <a:p>
            <a:r>
              <a:rPr kumimoji="1" lang="en-CA" dirty="0"/>
              <a:t>Toward a social science of protocol</a:t>
            </a:r>
          </a:p>
        </p:txBody>
      </p:sp>
      <p:sp>
        <p:nvSpPr>
          <p:cNvPr id="3" name="副标题 2">
            <a:extLst>
              <a:ext uri="{FF2B5EF4-FFF2-40B4-BE49-F238E27FC236}">
                <a16:creationId xmlns:a16="http://schemas.microsoft.com/office/drawing/2014/main" id="{2E36614C-881F-63A9-63F0-BE1C5A531659}"/>
              </a:ext>
            </a:extLst>
          </p:cNvPr>
          <p:cNvSpPr>
            <a:spLocks noGrp="1"/>
          </p:cNvSpPr>
          <p:nvPr>
            <p:ph type="subTitle" idx="1"/>
          </p:nvPr>
        </p:nvSpPr>
        <p:spPr/>
        <p:txBody>
          <a:bodyPr/>
          <a:lstStyle/>
          <a:p>
            <a:endParaRPr kumimoji="1" lang="en-CA" dirty="0"/>
          </a:p>
          <a:p>
            <a:r>
              <a:rPr kumimoji="1" lang="en-CA" dirty="0" err="1"/>
              <a:t>Yige</a:t>
            </a:r>
            <a:r>
              <a:rPr kumimoji="1" lang="en-CA" dirty="0"/>
              <a:t> WANG</a:t>
            </a:r>
          </a:p>
          <a:p>
            <a:r>
              <a:rPr kumimoji="1" lang="en-CA" dirty="0"/>
              <a:t>Sep 2025</a:t>
            </a:r>
          </a:p>
          <a:p>
            <a:endParaRPr kumimoji="1" lang="en-CA" dirty="0"/>
          </a:p>
        </p:txBody>
      </p:sp>
    </p:spTree>
    <p:extLst>
      <p:ext uri="{BB962C8B-B14F-4D97-AF65-F5344CB8AC3E}">
        <p14:creationId xmlns:p14="http://schemas.microsoft.com/office/powerpoint/2010/main" val="831827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9C3718-77BD-9FEA-2124-F5011D8D16CC}"/>
              </a:ext>
            </a:extLst>
          </p:cNvPr>
          <p:cNvSpPr>
            <a:spLocks noGrp="1"/>
          </p:cNvSpPr>
          <p:nvPr>
            <p:ph type="title"/>
          </p:nvPr>
        </p:nvSpPr>
        <p:spPr/>
        <p:txBody>
          <a:bodyPr>
            <a:normAutofit fontScale="90000"/>
          </a:bodyPr>
          <a:lstStyle/>
          <a:p>
            <a:r>
              <a:rPr lang="en-CA" b="0" i="1" u="none" strike="noStrike">
                <a:solidFill>
                  <a:schemeClr val="bg1"/>
                </a:solidFill>
                <a:effectLst/>
                <a:latin typeface="Times New Roman" panose="02020603050405020304" pitchFamily="18" charset="0"/>
                <a:cs typeface="Times New Roman" panose="02020603050405020304" pitchFamily="18" charset="0"/>
              </a:rPr>
              <a:t>Core Concepts &amp; Three Theoretical Lenses </a:t>
            </a:r>
            <a:endParaRPr kumimoji="1" lang="en-CA" i="1">
              <a:solidFill>
                <a:schemeClr val="bg1"/>
              </a:solidFill>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A04DEB8F-34F0-94DF-F518-B4F527402E12}"/>
              </a:ext>
            </a:extLst>
          </p:cNvPr>
          <p:cNvSpPr>
            <a:spLocks noGrp="1"/>
          </p:cNvSpPr>
          <p:nvPr>
            <p:ph idx="1"/>
          </p:nvPr>
        </p:nvSpPr>
        <p:spPr/>
        <p:txBody>
          <a:bodyPr/>
          <a:lstStyle/>
          <a:p>
            <a:r>
              <a:rPr lang="en-CA" b="1"/>
              <a:t>(</a:t>
            </a:r>
            <a:r>
              <a:rPr lang="en-CA" b="1" err="1"/>
              <a:t>i</a:t>
            </a:r>
            <a:r>
              <a:rPr lang="en-CA" b="1"/>
              <a:t>) Optimistic Lens: Rao et al., “The Unreasonable Sufficiency of Protocols”</a:t>
            </a:r>
          </a:p>
          <a:p>
            <a:r>
              <a:rPr lang="en-CA"/>
              <a:t>They argue that a protocol is a “sufficiently good” set of simple rules that, despite human irrationality or limited moral motivation, often produces better-than-expected coordination results. </a:t>
            </a:r>
          </a:p>
          <a:p>
            <a:r>
              <a:rPr lang="en-CA"/>
              <a:t>Drawing on examples like traffic-rights conventions, hand‐hygiene guidelines, Internet packet‐switching, and encryption standards, they show how lightweight protocols can self‐evolve, disappear when no longer needed, and drive social prosperity—whereas poor protocols either get replaced by superior ones or become corrupted by vested interests.</a:t>
            </a:r>
            <a:endParaRPr kumimoji="1" lang="en-CA"/>
          </a:p>
        </p:txBody>
      </p:sp>
      <p:sp>
        <p:nvSpPr>
          <p:cNvPr id="4" name="文本框 3">
            <a:extLst>
              <a:ext uri="{FF2B5EF4-FFF2-40B4-BE49-F238E27FC236}">
                <a16:creationId xmlns:a16="http://schemas.microsoft.com/office/drawing/2014/main" id="{C99F37D8-1DB5-BF5D-8B99-E67ABF4186D5}"/>
              </a:ext>
            </a:extLst>
          </p:cNvPr>
          <p:cNvSpPr txBox="1"/>
          <p:nvPr/>
        </p:nvSpPr>
        <p:spPr>
          <a:xfrm>
            <a:off x="2255060" y="1791730"/>
            <a:ext cx="766119" cy="369332"/>
          </a:xfrm>
          <a:prstGeom prst="rect">
            <a:avLst/>
          </a:prstGeom>
          <a:noFill/>
        </p:spPr>
        <p:txBody>
          <a:bodyPr wrap="square" rtlCol="0">
            <a:spAutoFit/>
          </a:bodyPr>
          <a:lstStyle/>
          <a:p>
            <a:r>
              <a:rPr kumimoji="1" lang="en-CA">
                <a:solidFill>
                  <a:schemeClr val="bg1"/>
                </a:solidFill>
              </a:rPr>
              <a:t>【1】</a:t>
            </a:r>
          </a:p>
        </p:txBody>
      </p:sp>
    </p:spTree>
    <p:extLst>
      <p:ext uri="{BB962C8B-B14F-4D97-AF65-F5344CB8AC3E}">
        <p14:creationId xmlns:p14="http://schemas.microsoft.com/office/powerpoint/2010/main" val="202832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055E56-D7A2-B932-4411-28BBF00D4897}"/>
              </a:ext>
            </a:extLst>
          </p:cNvPr>
          <p:cNvSpPr>
            <a:spLocks noGrp="1"/>
          </p:cNvSpPr>
          <p:nvPr>
            <p:ph type="title"/>
          </p:nvPr>
        </p:nvSpPr>
        <p:spPr/>
        <p:txBody>
          <a:bodyPr>
            <a:normAutofit fontScale="90000"/>
          </a:bodyPr>
          <a:lstStyle/>
          <a:p>
            <a:r>
              <a:rPr lang="de-DE" altLang="zh-CN" i="1">
                <a:solidFill>
                  <a:schemeClr val="bg1"/>
                </a:solidFill>
                <a:latin typeface="Times New Roman" panose="02020603050405020304" pitchFamily="18" charset="0"/>
                <a:cs typeface="Times New Roman" panose="02020603050405020304" pitchFamily="18" charset="0"/>
              </a:rPr>
              <a:t>Core </a:t>
            </a:r>
            <a:r>
              <a:rPr lang="de-DE" altLang="zh-CN" i="1" err="1">
                <a:solidFill>
                  <a:schemeClr val="bg1"/>
                </a:solidFill>
                <a:latin typeface="Times New Roman" panose="02020603050405020304" pitchFamily="18" charset="0"/>
                <a:cs typeface="Times New Roman" panose="02020603050405020304" pitchFamily="18" charset="0"/>
              </a:rPr>
              <a:t>Concepts</a:t>
            </a:r>
            <a:r>
              <a:rPr lang="de-DE" altLang="zh-CN" i="1">
                <a:solidFill>
                  <a:schemeClr val="bg1"/>
                </a:solidFill>
                <a:latin typeface="Times New Roman" panose="02020603050405020304" pitchFamily="18" charset="0"/>
                <a:cs typeface="Times New Roman" panose="02020603050405020304" pitchFamily="18" charset="0"/>
              </a:rPr>
              <a:t> </a:t>
            </a:r>
            <a:r>
              <a:rPr lang="en-US" altLang="zh-CN" i="1">
                <a:solidFill>
                  <a:schemeClr val="bg1"/>
                </a:solidFill>
                <a:latin typeface="Times New Roman" panose="02020603050405020304" pitchFamily="18" charset="0"/>
                <a:cs typeface="Times New Roman" panose="02020603050405020304" pitchFamily="18" charset="0"/>
              </a:rPr>
              <a:t>&amp;</a:t>
            </a:r>
            <a:r>
              <a:rPr lang="de-DE" altLang="zh-CN" i="1">
                <a:solidFill>
                  <a:schemeClr val="bg1"/>
                </a:solidFill>
                <a:latin typeface="Times New Roman" panose="02020603050405020304" pitchFamily="18" charset="0"/>
                <a:cs typeface="Times New Roman" panose="02020603050405020304" pitchFamily="18" charset="0"/>
              </a:rPr>
              <a:t> </a:t>
            </a:r>
            <a:r>
              <a:rPr lang="de-DE" altLang="zh-CN" i="1" err="1">
                <a:solidFill>
                  <a:schemeClr val="bg1"/>
                </a:solidFill>
                <a:latin typeface="Times New Roman" panose="02020603050405020304" pitchFamily="18" charset="0"/>
                <a:cs typeface="Times New Roman" panose="02020603050405020304" pitchFamily="18" charset="0"/>
              </a:rPr>
              <a:t>Three</a:t>
            </a:r>
            <a:r>
              <a:rPr lang="de-DE" altLang="zh-CN" i="1">
                <a:solidFill>
                  <a:schemeClr val="bg1"/>
                </a:solidFill>
                <a:latin typeface="Times New Roman" panose="02020603050405020304" pitchFamily="18" charset="0"/>
                <a:cs typeface="Times New Roman" panose="02020603050405020304" pitchFamily="18" charset="0"/>
              </a:rPr>
              <a:t> </a:t>
            </a:r>
            <a:r>
              <a:rPr lang="de-DE" altLang="zh-CN" i="1" err="1">
                <a:solidFill>
                  <a:schemeClr val="bg1"/>
                </a:solidFill>
                <a:latin typeface="Times New Roman" panose="02020603050405020304" pitchFamily="18" charset="0"/>
                <a:cs typeface="Times New Roman" panose="02020603050405020304" pitchFamily="18" charset="0"/>
              </a:rPr>
              <a:t>Theoretical</a:t>
            </a:r>
            <a:r>
              <a:rPr lang="de-DE" altLang="zh-CN" i="1">
                <a:solidFill>
                  <a:schemeClr val="bg1"/>
                </a:solidFill>
                <a:latin typeface="Times New Roman" panose="02020603050405020304" pitchFamily="18" charset="0"/>
                <a:cs typeface="Times New Roman" panose="02020603050405020304" pitchFamily="18" charset="0"/>
              </a:rPr>
              <a:t> Lenses </a:t>
            </a:r>
            <a:endParaRPr kumimoji="1" lang="zh-CN" altLang="en-US" i="1">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6F5A835A-9CE4-11C5-D90E-4D3F549E163F}"/>
              </a:ext>
            </a:extLst>
          </p:cNvPr>
          <p:cNvSpPr>
            <a:spLocks noGrp="1"/>
          </p:cNvSpPr>
          <p:nvPr>
            <p:ph idx="1"/>
          </p:nvPr>
        </p:nvSpPr>
        <p:spPr/>
        <p:txBody>
          <a:bodyPr/>
          <a:lstStyle/>
          <a:p>
            <a:r>
              <a:rPr lang="de-DE" altLang="zh-CN" b="1" dirty="0"/>
              <a:t>(ii) Critical Lens: </a:t>
            </a:r>
            <a:r>
              <a:rPr lang="de-DE" altLang="zh-CN" b="1" dirty="0" err="1"/>
              <a:t>Tay</a:t>
            </a:r>
            <a:r>
              <a:rPr lang="de-DE" altLang="zh-CN" b="1" dirty="0"/>
              <a:t>, “A </a:t>
            </a:r>
            <a:r>
              <a:rPr lang="de-DE" altLang="zh-CN" b="1" dirty="0" err="1"/>
              <a:t>Phenomenology</a:t>
            </a:r>
            <a:r>
              <a:rPr lang="de-DE" altLang="zh-CN" b="1" dirty="0"/>
              <a:t> </a:t>
            </a:r>
            <a:r>
              <a:rPr lang="de-DE" altLang="zh-CN" b="1" dirty="0" err="1"/>
              <a:t>of</a:t>
            </a:r>
            <a:r>
              <a:rPr lang="de-DE" altLang="zh-CN" b="1" dirty="0"/>
              <a:t> </a:t>
            </a:r>
            <a:r>
              <a:rPr lang="de-DE" altLang="zh-CN" b="1" dirty="0" err="1"/>
              <a:t>Protocols</a:t>
            </a:r>
            <a:r>
              <a:rPr lang="de-DE" altLang="zh-CN" b="1" dirty="0"/>
              <a:t>”</a:t>
            </a:r>
          </a:p>
          <a:p>
            <a:r>
              <a:rPr lang="de-DE" altLang="zh-CN" dirty="0" err="1"/>
              <a:t>Tay</a:t>
            </a:r>
            <a:r>
              <a:rPr lang="de-DE" altLang="zh-CN" dirty="0"/>
              <a:t> </a:t>
            </a:r>
            <a:r>
              <a:rPr lang="de-DE" altLang="zh-CN" dirty="0" err="1"/>
              <a:t>approaches</a:t>
            </a:r>
            <a:r>
              <a:rPr lang="de-DE" altLang="zh-CN" dirty="0"/>
              <a:t> </a:t>
            </a:r>
            <a:r>
              <a:rPr lang="de-DE" altLang="zh-CN" dirty="0" err="1"/>
              <a:t>protocols</a:t>
            </a:r>
            <a:r>
              <a:rPr lang="de-DE" altLang="zh-CN" dirty="0"/>
              <a:t> </a:t>
            </a:r>
            <a:r>
              <a:rPr lang="de-DE" altLang="zh-CN" dirty="0" err="1"/>
              <a:t>phenomenologically</a:t>
            </a:r>
            <a:r>
              <a:rPr lang="de-DE" altLang="zh-CN" dirty="0"/>
              <a:t>, </a:t>
            </a:r>
            <a:r>
              <a:rPr lang="de-DE" altLang="zh-CN" dirty="0" err="1"/>
              <a:t>viewing</a:t>
            </a:r>
            <a:r>
              <a:rPr lang="de-DE" altLang="zh-CN" dirty="0"/>
              <a:t> </a:t>
            </a:r>
            <a:r>
              <a:rPr lang="de-DE" altLang="zh-CN" dirty="0" err="1"/>
              <a:t>them</a:t>
            </a:r>
            <a:r>
              <a:rPr lang="de-DE" altLang="zh-CN" dirty="0"/>
              <a:t> not </a:t>
            </a:r>
            <a:r>
              <a:rPr lang="de-DE" altLang="zh-CN" dirty="0" err="1"/>
              <a:t>merely</a:t>
            </a:r>
            <a:r>
              <a:rPr lang="de-DE" altLang="zh-CN" dirty="0"/>
              <a:t> </a:t>
            </a:r>
            <a:r>
              <a:rPr lang="de-DE" altLang="zh-CN" dirty="0" err="1"/>
              <a:t>as</a:t>
            </a:r>
            <a:r>
              <a:rPr lang="de-DE" altLang="zh-CN" dirty="0"/>
              <a:t> </a:t>
            </a:r>
            <a:r>
              <a:rPr lang="de-DE" altLang="zh-CN" dirty="0" err="1"/>
              <a:t>cold</a:t>
            </a:r>
            <a:r>
              <a:rPr lang="de-DE" altLang="zh-CN" dirty="0"/>
              <a:t> </a:t>
            </a:r>
            <a:r>
              <a:rPr lang="de-DE" altLang="zh-CN" dirty="0" err="1"/>
              <a:t>rules</a:t>
            </a:r>
            <a:r>
              <a:rPr lang="de-DE" altLang="zh-CN" dirty="0"/>
              <a:t> but </a:t>
            </a:r>
            <a:r>
              <a:rPr lang="de-DE" altLang="zh-CN" dirty="0" err="1"/>
              <a:t>as</a:t>
            </a:r>
            <a:r>
              <a:rPr lang="de-DE" altLang="zh-CN" dirty="0"/>
              <a:t> </a:t>
            </a:r>
            <a:r>
              <a:rPr lang="de-DE" altLang="zh-CN" dirty="0" err="1"/>
              <a:t>mediating</a:t>
            </a:r>
            <a:r>
              <a:rPr lang="de-DE" altLang="zh-CN" dirty="0"/>
              <a:t> </a:t>
            </a:r>
            <a:r>
              <a:rPr lang="de-DE" altLang="zh-CN" dirty="0" err="1"/>
              <a:t>forces</a:t>
            </a:r>
            <a:r>
              <a:rPr lang="de-DE" altLang="zh-CN" dirty="0"/>
              <a:t> </a:t>
            </a:r>
            <a:r>
              <a:rPr lang="de-DE" altLang="zh-CN" dirty="0" err="1"/>
              <a:t>that</a:t>
            </a:r>
            <a:r>
              <a:rPr lang="de-DE" altLang="zh-CN" dirty="0"/>
              <a:t> </a:t>
            </a:r>
            <a:r>
              <a:rPr lang="de-DE" altLang="zh-CN" dirty="0" err="1"/>
              <a:t>shape</a:t>
            </a:r>
            <a:r>
              <a:rPr lang="de-DE" altLang="zh-CN" dirty="0"/>
              <a:t> </a:t>
            </a:r>
            <a:r>
              <a:rPr lang="de-DE" altLang="zh-CN" dirty="0" err="1"/>
              <a:t>our</a:t>
            </a:r>
            <a:r>
              <a:rPr lang="de-DE" altLang="zh-CN" dirty="0"/>
              <a:t> “</a:t>
            </a:r>
            <a:r>
              <a:rPr lang="de-DE" altLang="zh-CN" dirty="0" err="1"/>
              <a:t>self‐world</a:t>
            </a:r>
            <a:r>
              <a:rPr lang="de-DE" altLang="zh-CN" dirty="0"/>
              <a:t>” </a:t>
            </a:r>
            <a:r>
              <a:rPr lang="de-DE" altLang="zh-CN" dirty="0" err="1"/>
              <a:t>relationship</a:t>
            </a:r>
            <a:r>
              <a:rPr lang="de-DE" altLang="zh-CN" dirty="0"/>
              <a:t>. </a:t>
            </a:r>
          </a:p>
          <a:p>
            <a:r>
              <a:rPr lang="de-DE" altLang="zh-CN" dirty="0" err="1"/>
              <a:t>She</a:t>
            </a:r>
            <a:r>
              <a:rPr lang="de-DE" altLang="zh-CN" dirty="0"/>
              <a:t> </a:t>
            </a:r>
            <a:r>
              <a:rPr lang="de-DE" altLang="zh-CN" dirty="0" err="1"/>
              <a:t>identifies</a:t>
            </a:r>
            <a:r>
              <a:rPr lang="de-DE" altLang="zh-CN" dirty="0"/>
              <a:t> </a:t>
            </a:r>
            <a:r>
              <a:rPr lang="de-DE" altLang="zh-CN" dirty="0" err="1"/>
              <a:t>four</a:t>
            </a:r>
            <a:r>
              <a:rPr lang="de-DE" altLang="zh-CN" dirty="0"/>
              <a:t> </a:t>
            </a:r>
            <a:r>
              <a:rPr lang="de-DE" altLang="zh-CN" dirty="0" err="1"/>
              <a:t>core</a:t>
            </a:r>
            <a:r>
              <a:rPr lang="de-DE" altLang="zh-CN" dirty="0"/>
              <a:t> </a:t>
            </a:r>
            <a:r>
              <a:rPr lang="de-DE" altLang="zh-CN" dirty="0" err="1"/>
              <a:t>features</a:t>
            </a:r>
            <a:r>
              <a:rPr lang="de-DE" altLang="zh-CN" dirty="0"/>
              <a:t>—</a:t>
            </a:r>
            <a:r>
              <a:rPr lang="de-DE" altLang="zh-CN" dirty="0" err="1"/>
              <a:t>stability</a:t>
            </a:r>
            <a:r>
              <a:rPr lang="de-DE" altLang="zh-CN" dirty="0"/>
              <a:t>, </a:t>
            </a:r>
            <a:r>
              <a:rPr lang="de-DE" altLang="zh-CN" dirty="0" err="1"/>
              <a:t>constraint</a:t>
            </a:r>
            <a:r>
              <a:rPr lang="de-DE" altLang="zh-CN" dirty="0"/>
              <a:t>, </a:t>
            </a:r>
            <a:r>
              <a:rPr lang="de-DE" altLang="zh-CN" dirty="0" err="1"/>
              <a:t>legitimacy</a:t>
            </a:r>
            <a:r>
              <a:rPr lang="de-DE" altLang="zh-CN" dirty="0"/>
              <a:t>, and </a:t>
            </a:r>
            <a:r>
              <a:rPr lang="de-DE" altLang="zh-CN" dirty="0" err="1"/>
              <a:t>narrativity</a:t>
            </a:r>
            <a:r>
              <a:rPr lang="de-DE" altLang="zh-CN" dirty="0"/>
              <a:t>—and </a:t>
            </a:r>
            <a:r>
              <a:rPr lang="de-DE" altLang="zh-CN" dirty="0" err="1"/>
              <a:t>analyzes</a:t>
            </a:r>
            <a:r>
              <a:rPr lang="de-DE" altLang="zh-CN" dirty="0"/>
              <a:t> </a:t>
            </a:r>
            <a:r>
              <a:rPr lang="de-DE" altLang="zh-CN" dirty="0" err="1"/>
              <a:t>how</a:t>
            </a:r>
            <a:r>
              <a:rPr lang="de-DE" altLang="zh-CN" dirty="0"/>
              <a:t> </a:t>
            </a:r>
            <a:r>
              <a:rPr lang="de-DE" altLang="zh-CN" dirty="0" err="1"/>
              <a:t>each</a:t>
            </a:r>
            <a:r>
              <a:rPr lang="de-DE" altLang="zh-CN" dirty="0"/>
              <a:t> </a:t>
            </a:r>
            <a:r>
              <a:rPr lang="de-DE" altLang="zh-CN" dirty="0" err="1"/>
              <a:t>simultaneously</a:t>
            </a:r>
            <a:r>
              <a:rPr lang="de-DE" altLang="zh-CN" dirty="0"/>
              <a:t> </a:t>
            </a:r>
            <a:r>
              <a:rPr lang="de-DE" altLang="zh-CN" dirty="0" err="1"/>
              <a:t>enables</a:t>
            </a:r>
            <a:r>
              <a:rPr lang="de-DE" altLang="zh-CN" dirty="0"/>
              <a:t> </a:t>
            </a:r>
            <a:r>
              <a:rPr lang="de-DE" altLang="zh-CN" dirty="0" err="1"/>
              <a:t>agency</a:t>
            </a:r>
            <a:r>
              <a:rPr lang="de-DE" altLang="zh-CN" dirty="0"/>
              <a:t> and </a:t>
            </a:r>
            <a:r>
              <a:rPr lang="de-DE" altLang="zh-CN" dirty="0" err="1"/>
              <a:t>imposes</a:t>
            </a:r>
            <a:r>
              <a:rPr lang="de-DE" altLang="zh-CN" dirty="0"/>
              <a:t> </a:t>
            </a:r>
            <a:r>
              <a:rPr lang="de-DE" altLang="zh-CN" dirty="0" err="1"/>
              <a:t>limits</a:t>
            </a:r>
            <a:r>
              <a:rPr lang="de-DE" altLang="zh-CN" dirty="0"/>
              <a:t>, </a:t>
            </a:r>
            <a:r>
              <a:rPr lang="de-DE" altLang="zh-CN" dirty="0" err="1"/>
              <a:t>generating</a:t>
            </a:r>
            <a:r>
              <a:rPr lang="de-DE" altLang="zh-CN" dirty="0"/>
              <a:t> </a:t>
            </a:r>
            <a:r>
              <a:rPr lang="de-DE" altLang="zh-CN" dirty="0" err="1"/>
              <a:t>responsibility</a:t>
            </a:r>
            <a:r>
              <a:rPr lang="de-DE" altLang="zh-CN" dirty="0"/>
              <a:t> </a:t>
            </a:r>
            <a:r>
              <a:rPr lang="de-DE" altLang="zh-CN" dirty="0" err="1"/>
              <a:t>or</a:t>
            </a:r>
            <a:r>
              <a:rPr lang="de-DE" altLang="zh-CN" dirty="0"/>
              <a:t> </a:t>
            </a:r>
            <a:r>
              <a:rPr lang="de-DE" altLang="zh-CN" dirty="0" err="1"/>
              <a:t>facilitating</a:t>
            </a:r>
            <a:r>
              <a:rPr lang="de-DE" altLang="zh-CN" dirty="0"/>
              <a:t> </a:t>
            </a:r>
            <a:r>
              <a:rPr lang="de-DE" altLang="zh-CN" dirty="0" err="1"/>
              <a:t>its</a:t>
            </a:r>
            <a:r>
              <a:rPr lang="de-DE" altLang="zh-CN" dirty="0"/>
              <a:t> </a:t>
            </a:r>
            <a:r>
              <a:rPr lang="de-DE" altLang="zh-CN" dirty="0" err="1"/>
              <a:t>abdication</a:t>
            </a:r>
            <a:r>
              <a:rPr lang="de-DE" altLang="zh-CN" dirty="0"/>
              <a:t>. </a:t>
            </a:r>
          </a:p>
          <a:p>
            <a:r>
              <a:rPr lang="de-DE" altLang="zh-CN" dirty="0" err="1"/>
              <a:t>Without</a:t>
            </a:r>
            <a:r>
              <a:rPr lang="de-DE" altLang="zh-CN" dirty="0"/>
              <a:t> </a:t>
            </a:r>
            <a:r>
              <a:rPr lang="de-DE" altLang="zh-CN" dirty="0" err="1"/>
              <a:t>ethical</a:t>
            </a:r>
            <a:r>
              <a:rPr lang="de-DE" altLang="zh-CN" dirty="0"/>
              <a:t> </a:t>
            </a:r>
            <a:r>
              <a:rPr lang="de-DE" altLang="zh-CN" dirty="0" err="1"/>
              <a:t>reflection</a:t>
            </a:r>
            <a:r>
              <a:rPr lang="de-DE" altLang="zh-CN" dirty="0"/>
              <a:t>, </a:t>
            </a:r>
            <a:r>
              <a:rPr lang="de-DE" altLang="zh-CN" dirty="0" err="1"/>
              <a:t>protocols</a:t>
            </a:r>
            <a:r>
              <a:rPr lang="de-DE" altLang="zh-CN" dirty="0"/>
              <a:t> </a:t>
            </a:r>
            <a:r>
              <a:rPr lang="de-DE" altLang="zh-CN" dirty="0" err="1"/>
              <a:t>can</a:t>
            </a:r>
            <a:r>
              <a:rPr lang="de-DE" altLang="zh-CN" dirty="0"/>
              <a:t> </a:t>
            </a:r>
            <a:r>
              <a:rPr lang="de-DE" altLang="zh-CN" dirty="0" err="1"/>
              <a:t>alienate</a:t>
            </a:r>
            <a:r>
              <a:rPr lang="de-DE" altLang="zh-CN" dirty="0"/>
              <a:t> </a:t>
            </a:r>
            <a:r>
              <a:rPr lang="de-DE" altLang="zh-CN" dirty="0" err="1"/>
              <a:t>us</a:t>
            </a:r>
            <a:r>
              <a:rPr lang="de-DE" altLang="zh-CN" dirty="0"/>
              <a:t> and turn </a:t>
            </a:r>
            <a:r>
              <a:rPr lang="de-DE" altLang="zh-CN" dirty="0" err="1"/>
              <a:t>us</a:t>
            </a:r>
            <a:r>
              <a:rPr lang="de-DE" altLang="zh-CN" dirty="0"/>
              <a:t> </a:t>
            </a:r>
            <a:r>
              <a:rPr lang="de-DE" altLang="zh-CN" dirty="0" err="1"/>
              <a:t>into</a:t>
            </a:r>
            <a:r>
              <a:rPr lang="de-DE" altLang="zh-CN" dirty="0"/>
              <a:t> </a:t>
            </a:r>
            <a:r>
              <a:rPr lang="de-DE" altLang="zh-CN" dirty="0" err="1"/>
              <a:t>rule‐bound</a:t>
            </a:r>
            <a:r>
              <a:rPr lang="de-DE" altLang="zh-CN" dirty="0"/>
              <a:t> </a:t>
            </a:r>
            <a:r>
              <a:rPr lang="de-DE" altLang="zh-CN" dirty="0" err="1"/>
              <a:t>automatons</a:t>
            </a:r>
            <a:r>
              <a:rPr lang="de-DE" altLang="zh-CN" dirty="0"/>
              <a:t>.</a:t>
            </a:r>
            <a:endParaRPr kumimoji="1" lang="zh-CN" altLang="en-US" dirty="0"/>
          </a:p>
        </p:txBody>
      </p:sp>
      <p:sp>
        <p:nvSpPr>
          <p:cNvPr id="4" name="文本框 3">
            <a:extLst>
              <a:ext uri="{FF2B5EF4-FFF2-40B4-BE49-F238E27FC236}">
                <a16:creationId xmlns:a16="http://schemas.microsoft.com/office/drawing/2014/main" id="{4DE566DC-542D-9D7A-4667-8E4453DD2A78}"/>
              </a:ext>
            </a:extLst>
          </p:cNvPr>
          <p:cNvSpPr txBox="1"/>
          <p:nvPr/>
        </p:nvSpPr>
        <p:spPr>
          <a:xfrm>
            <a:off x="2255060" y="1791730"/>
            <a:ext cx="766119" cy="369332"/>
          </a:xfrm>
          <a:prstGeom prst="rect">
            <a:avLst/>
          </a:prstGeom>
          <a:noFill/>
        </p:spPr>
        <p:txBody>
          <a:bodyPr wrap="square" rtlCol="0">
            <a:spAutoFit/>
          </a:bodyPr>
          <a:lstStyle/>
          <a:p>
            <a:r>
              <a:rPr kumimoji="1" lang="en-US" altLang="zh-CN">
                <a:solidFill>
                  <a:schemeClr val="bg1"/>
                </a:solidFill>
              </a:rPr>
              <a:t>【1】</a:t>
            </a:r>
            <a:endParaRPr kumimoji="1" lang="zh-CN" altLang="en-US">
              <a:solidFill>
                <a:schemeClr val="bg1"/>
              </a:solidFill>
            </a:endParaRPr>
          </a:p>
        </p:txBody>
      </p:sp>
    </p:spTree>
    <p:extLst>
      <p:ext uri="{BB962C8B-B14F-4D97-AF65-F5344CB8AC3E}">
        <p14:creationId xmlns:p14="http://schemas.microsoft.com/office/powerpoint/2010/main" val="387556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14E4E-92B3-45BA-4226-8427B010AB23}"/>
            </a:ext>
          </a:extLst>
        </p:cNvPr>
        <p:cNvGrpSpPr/>
        <p:nvPr/>
      </p:nvGrpSpPr>
      <p:grpSpPr>
        <a:xfrm>
          <a:off x="0" y="0"/>
          <a:ext cx="0" cy="0"/>
          <a:chOff x="0" y="0"/>
          <a:chExt cx="0" cy="0"/>
        </a:xfrm>
      </p:grpSpPr>
      <p:sp>
        <p:nvSpPr>
          <p:cNvPr id="3" name="副标题 2">
            <a:extLst>
              <a:ext uri="{FF2B5EF4-FFF2-40B4-BE49-F238E27FC236}">
                <a16:creationId xmlns:a16="http://schemas.microsoft.com/office/drawing/2014/main" id="{7FD5A53E-45C1-269E-8E14-3869AF8CC7E8}"/>
              </a:ext>
            </a:extLst>
          </p:cNvPr>
          <p:cNvSpPr>
            <a:spLocks noGrp="1"/>
          </p:cNvSpPr>
          <p:nvPr>
            <p:ph type="subTitle" idx="1"/>
          </p:nvPr>
        </p:nvSpPr>
        <p:spPr/>
        <p:txBody>
          <a:bodyPr/>
          <a:lstStyle/>
          <a:p>
            <a:endParaRPr kumimoji="1" lang="en-US" altLang="zh-CN"/>
          </a:p>
          <a:p>
            <a:endParaRPr kumimoji="1" lang="zh-CN" altLang="en-US"/>
          </a:p>
        </p:txBody>
      </p:sp>
      <p:sp>
        <p:nvSpPr>
          <p:cNvPr id="4" name="文本框 3">
            <a:extLst>
              <a:ext uri="{FF2B5EF4-FFF2-40B4-BE49-F238E27FC236}">
                <a16:creationId xmlns:a16="http://schemas.microsoft.com/office/drawing/2014/main" id="{9DD6D355-2CC8-9A01-1C12-CDBABD344A58}"/>
              </a:ext>
            </a:extLst>
          </p:cNvPr>
          <p:cNvSpPr txBox="1"/>
          <p:nvPr/>
        </p:nvSpPr>
        <p:spPr>
          <a:xfrm>
            <a:off x="1759237" y="1921107"/>
            <a:ext cx="8673427" cy="3693319"/>
          </a:xfrm>
          <a:prstGeom prst="rect">
            <a:avLst/>
          </a:prstGeom>
          <a:noFill/>
        </p:spPr>
        <p:txBody>
          <a:bodyPr wrap="square" rtlCol="0">
            <a:spAutoFit/>
          </a:bodyPr>
          <a:lstStyle/>
          <a:p>
            <a:pPr marL="285750" indent="-285750">
              <a:buFont typeface="Arial" panose="020B0604020202020204" pitchFamily="34" charset="0"/>
              <a:buChar char="•"/>
            </a:pPr>
            <a:endParaRPr lang="de-DE" altLang="zh-CN"/>
          </a:p>
          <a:p>
            <a:pPr marL="342900" indent="-342900">
              <a:buFont typeface="Wingdings" pitchFamily="2" charset="2"/>
              <a:buChar char="u"/>
            </a:pPr>
            <a:r>
              <a:rPr lang="de-DE" altLang="zh-CN" sz="2000">
                <a:solidFill>
                  <a:schemeClr val="bg1"/>
                </a:solidFill>
              </a:rPr>
              <a:t>In </a:t>
            </a:r>
            <a:r>
              <a:rPr lang="de-DE" altLang="zh-CN" sz="2000" err="1">
                <a:solidFill>
                  <a:schemeClr val="bg1"/>
                </a:solidFill>
              </a:rPr>
              <a:t>this</a:t>
            </a:r>
            <a:r>
              <a:rPr lang="de-DE" altLang="zh-CN" sz="2000">
                <a:solidFill>
                  <a:schemeClr val="bg1"/>
                </a:solidFill>
              </a:rPr>
              <a:t> </a:t>
            </a:r>
            <a:r>
              <a:rPr lang="de-DE" altLang="zh-CN" sz="2000" err="1">
                <a:solidFill>
                  <a:schemeClr val="bg1"/>
                </a:solidFill>
              </a:rPr>
              <a:t>undergraduate</a:t>
            </a:r>
            <a:r>
              <a:rPr lang="de-DE" altLang="zh-CN" sz="2000">
                <a:solidFill>
                  <a:schemeClr val="bg1"/>
                </a:solidFill>
              </a:rPr>
              <a:t> </a:t>
            </a:r>
            <a:r>
              <a:rPr lang="de-DE" altLang="zh-CN" sz="2000" err="1">
                <a:solidFill>
                  <a:schemeClr val="bg1"/>
                </a:solidFill>
              </a:rPr>
              <a:t>seminar</a:t>
            </a:r>
            <a:r>
              <a:rPr lang="de-DE" altLang="zh-CN" sz="2000">
                <a:solidFill>
                  <a:schemeClr val="bg1"/>
                </a:solidFill>
              </a:rPr>
              <a:t>, </a:t>
            </a:r>
            <a:r>
              <a:rPr lang="de-DE" altLang="zh-CN" sz="2000" err="1">
                <a:solidFill>
                  <a:schemeClr val="bg1"/>
                </a:solidFill>
              </a:rPr>
              <a:t>students</a:t>
            </a:r>
            <a:r>
              <a:rPr lang="de-DE" altLang="zh-CN" sz="2000">
                <a:solidFill>
                  <a:schemeClr val="bg1"/>
                </a:solidFill>
              </a:rPr>
              <a:t> will </a:t>
            </a:r>
            <a:r>
              <a:rPr lang="de-DE" altLang="zh-CN" sz="2000" err="1">
                <a:solidFill>
                  <a:schemeClr val="bg1"/>
                </a:solidFill>
              </a:rPr>
              <a:t>undertake</a:t>
            </a:r>
            <a:r>
              <a:rPr lang="de-DE" altLang="zh-CN" sz="2000">
                <a:solidFill>
                  <a:schemeClr val="bg1"/>
                </a:solidFill>
              </a:rPr>
              <a:t> </a:t>
            </a:r>
            <a:r>
              <a:rPr lang="de-DE" altLang="zh-CN" sz="2000" err="1">
                <a:solidFill>
                  <a:schemeClr val="bg1"/>
                </a:solidFill>
              </a:rPr>
              <a:t>three</a:t>
            </a:r>
            <a:r>
              <a:rPr lang="de-DE" altLang="zh-CN" sz="2000">
                <a:solidFill>
                  <a:schemeClr val="bg1"/>
                </a:solidFill>
              </a:rPr>
              <a:t> </a:t>
            </a:r>
            <a:r>
              <a:rPr lang="de-DE" altLang="zh-CN" sz="2000" err="1">
                <a:solidFill>
                  <a:schemeClr val="bg1"/>
                </a:solidFill>
              </a:rPr>
              <a:t>field‐trip</a:t>
            </a:r>
            <a:r>
              <a:rPr lang="de-DE" altLang="zh-CN" sz="2000">
                <a:solidFill>
                  <a:schemeClr val="bg1"/>
                </a:solidFill>
              </a:rPr>
              <a:t> </a:t>
            </a:r>
            <a:r>
              <a:rPr lang="de-DE" altLang="zh-CN" sz="2000" err="1">
                <a:solidFill>
                  <a:schemeClr val="bg1"/>
                </a:solidFill>
              </a:rPr>
              <a:t>observations</a:t>
            </a:r>
            <a:r>
              <a:rPr lang="zh-CN" altLang="en-US" sz="2000">
                <a:solidFill>
                  <a:schemeClr val="bg1"/>
                </a:solidFill>
              </a:rPr>
              <a:t> </a:t>
            </a:r>
            <a:r>
              <a:rPr lang="de-DE" altLang="zh-CN" sz="2000" err="1">
                <a:solidFill>
                  <a:schemeClr val="bg1"/>
                </a:solidFill>
              </a:rPr>
              <a:t>to</a:t>
            </a:r>
            <a:r>
              <a:rPr lang="de-DE" altLang="zh-CN" sz="2000">
                <a:solidFill>
                  <a:schemeClr val="bg1"/>
                </a:solidFill>
              </a:rPr>
              <a:t> </a:t>
            </a:r>
            <a:r>
              <a:rPr lang="de-DE" altLang="zh-CN" sz="2000" err="1">
                <a:solidFill>
                  <a:schemeClr val="bg1"/>
                </a:solidFill>
              </a:rPr>
              <a:t>identify</a:t>
            </a:r>
            <a:r>
              <a:rPr lang="de-DE" altLang="zh-CN" sz="2000">
                <a:solidFill>
                  <a:schemeClr val="bg1"/>
                </a:solidFill>
              </a:rPr>
              <a:t> explicit versus </a:t>
            </a:r>
            <a:r>
              <a:rPr lang="de-DE" altLang="zh-CN" sz="2000" err="1">
                <a:solidFill>
                  <a:schemeClr val="bg1"/>
                </a:solidFill>
              </a:rPr>
              <a:t>hidden</a:t>
            </a:r>
            <a:r>
              <a:rPr lang="de-DE" altLang="zh-CN" sz="2000">
                <a:solidFill>
                  <a:schemeClr val="bg1"/>
                </a:solidFill>
              </a:rPr>
              <a:t> </a:t>
            </a:r>
            <a:r>
              <a:rPr lang="de-DE" altLang="zh-CN" sz="2000" err="1">
                <a:solidFill>
                  <a:schemeClr val="bg1"/>
                </a:solidFill>
              </a:rPr>
              <a:t>protocols</a:t>
            </a:r>
            <a:endParaRPr lang="de-DE" altLang="zh-CN" sz="2000">
              <a:solidFill>
                <a:schemeClr val="bg1"/>
              </a:solidFill>
            </a:endParaRPr>
          </a:p>
          <a:p>
            <a:pPr marL="342900" indent="-342900">
              <a:buFont typeface="Wingdings" pitchFamily="2" charset="2"/>
              <a:buChar char="Ø"/>
            </a:pPr>
            <a:endParaRPr lang="de-DE" altLang="zh-CN" sz="2000">
              <a:solidFill>
                <a:schemeClr val="bg1"/>
              </a:solidFill>
            </a:endParaRPr>
          </a:p>
          <a:p>
            <a:pPr marL="342900" indent="-342900">
              <a:buFont typeface="Wingdings" pitchFamily="2" charset="2"/>
              <a:buChar char="Ø"/>
            </a:pPr>
            <a:r>
              <a:rPr lang="de-DE" altLang="zh-CN" sz="2000">
                <a:solidFill>
                  <a:schemeClr val="bg1"/>
                </a:solidFill>
              </a:rPr>
              <a:t>(1) a </a:t>
            </a:r>
            <a:r>
              <a:rPr lang="de-DE" altLang="zh-CN" sz="2000" err="1">
                <a:solidFill>
                  <a:schemeClr val="bg1"/>
                </a:solidFill>
              </a:rPr>
              <a:t>conversation</a:t>
            </a:r>
            <a:r>
              <a:rPr lang="de-DE" altLang="zh-CN" sz="2000">
                <a:solidFill>
                  <a:schemeClr val="bg1"/>
                </a:solidFill>
              </a:rPr>
              <a:t> </a:t>
            </a:r>
            <a:r>
              <a:rPr lang="de-DE" altLang="zh-CN" sz="2000" err="1">
                <a:solidFill>
                  <a:schemeClr val="bg1"/>
                </a:solidFill>
              </a:rPr>
              <a:t>with</a:t>
            </a:r>
            <a:r>
              <a:rPr lang="de-DE" altLang="zh-CN" sz="2000">
                <a:solidFill>
                  <a:schemeClr val="bg1"/>
                </a:solidFill>
              </a:rPr>
              <a:t> an international </a:t>
            </a:r>
            <a:r>
              <a:rPr lang="de-DE" altLang="zh-CN" sz="2000" err="1">
                <a:solidFill>
                  <a:schemeClr val="bg1"/>
                </a:solidFill>
              </a:rPr>
              <a:t>student</a:t>
            </a:r>
            <a:r>
              <a:rPr lang="de-DE" altLang="zh-CN" sz="2000">
                <a:solidFill>
                  <a:schemeClr val="bg1"/>
                </a:solidFill>
              </a:rPr>
              <a:t>, </a:t>
            </a:r>
          </a:p>
          <a:p>
            <a:pPr marL="342900" indent="-342900">
              <a:buFont typeface="Wingdings" pitchFamily="2" charset="2"/>
              <a:buChar char="Ø"/>
            </a:pPr>
            <a:r>
              <a:rPr lang="de-DE" altLang="zh-CN" sz="2000">
                <a:solidFill>
                  <a:schemeClr val="bg1"/>
                </a:solidFill>
              </a:rPr>
              <a:t>(2) </a:t>
            </a:r>
            <a:r>
              <a:rPr lang="de-DE" altLang="zh-CN" sz="2000" err="1">
                <a:solidFill>
                  <a:schemeClr val="bg1"/>
                </a:solidFill>
              </a:rPr>
              <a:t>participation</a:t>
            </a:r>
            <a:r>
              <a:rPr lang="de-DE" altLang="zh-CN" sz="2000">
                <a:solidFill>
                  <a:schemeClr val="bg1"/>
                </a:solidFill>
              </a:rPr>
              <a:t> in a Model UN </a:t>
            </a:r>
            <a:r>
              <a:rPr lang="de-DE" altLang="zh-CN" sz="2000" err="1">
                <a:solidFill>
                  <a:schemeClr val="bg1"/>
                </a:solidFill>
              </a:rPr>
              <a:t>simulation</a:t>
            </a:r>
            <a:r>
              <a:rPr lang="de-DE" altLang="zh-CN" sz="2000">
                <a:solidFill>
                  <a:schemeClr val="bg1"/>
                </a:solidFill>
              </a:rPr>
              <a:t>, and </a:t>
            </a:r>
          </a:p>
          <a:p>
            <a:pPr marL="342900" indent="-342900">
              <a:buFont typeface="Wingdings" pitchFamily="2" charset="2"/>
              <a:buChar char="Ø"/>
            </a:pPr>
            <a:r>
              <a:rPr lang="de-DE" altLang="zh-CN" sz="2000">
                <a:solidFill>
                  <a:schemeClr val="bg1"/>
                </a:solidFill>
              </a:rPr>
              <a:t>(3) a </a:t>
            </a:r>
            <a:r>
              <a:rPr lang="de-DE" altLang="zh-CN" sz="2000" err="1">
                <a:solidFill>
                  <a:schemeClr val="bg1"/>
                </a:solidFill>
              </a:rPr>
              <a:t>visit</a:t>
            </a:r>
            <a:r>
              <a:rPr lang="de-DE" altLang="zh-CN" sz="2000">
                <a:solidFill>
                  <a:schemeClr val="bg1"/>
                </a:solidFill>
              </a:rPr>
              <a:t> </a:t>
            </a:r>
            <a:r>
              <a:rPr lang="de-DE" altLang="zh-CN" sz="2000" err="1">
                <a:solidFill>
                  <a:schemeClr val="bg1"/>
                </a:solidFill>
              </a:rPr>
              <a:t>to</a:t>
            </a:r>
            <a:r>
              <a:rPr lang="de-DE" altLang="zh-CN" sz="2000">
                <a:solidFill>
                  <a:schemeClr val="bg1"/>
                </a:solidFill>
              </a:rPr>
              <a:t> a </a:t>
            </a:r>
            <a:r>
              <a:rPr lang="de-DE" altLang="zh-CN" sz="2000" err="1">
                <a:solidFill>
                  <a:schemeClr val="bg1"/>
                </a:solidFill>
              </a:rPr>
              <a:t>public</a:t>
            </a:r>
            <a:r>
              <a:rPr lang="de-DE" altLang="zh-CN" sz="2000">
                <a:solidFill>
                  <a:schemeClr val="bg1"/>
                </a:solidFill>
              </a:rPr>
              <a:t> </a:t>
            </a:r>
            <a:r>
              <a:rPr lang="de-DE" altLang="zh-CN" sz="2000" err="1">
                <a:solidFill>
                  <a:schemeClr val="bg1"/>
                </a:solidFill>
              </a:rPr>
              <a:t>institution</a:t>
            </a:r>
            <a:r>
              <a:rPr lang="de-DE" altLang="zh-CN" sz="2000">
                <a:solidFill>
                  <a:schemeClr val="bg1"/>
                </a:solidFill>
              </a:rPr>
              <a:t> </a:t>
            </a:r>
            <a:r>
              <a:rPr lang="de-DE" altLang="zh-CN" sz="2000" err="1">
                <a:solidFill>
                  <a:schemeClr val="bg1"/>
                </a:solidFill>
              </a:rPr>
              <a:t>of</a:t>
            </a:r>
            <a:r>
              <a:rPr lang="de-DE" altLang="zh-CN" sz="2000">
                <a:solidFill>
                  <a:schemeClr val="bg1"/>
                </a:solidFill>
              </a:rPr>
              <a:t> </a:t>
            </a:r>
            <a:r>
              <a:rPr lang="de-DE" altLang="zh-CN" sz="2000" err="1">
                <a:solidFill>
                  <a:schemeClr val="bg1"/>
                </a:solidFill>
              </a:rPr>
              <a:t>their</a:t>
            </a:r>
            <a:r>
              <a:rPr lang="de-DE" altLang="zh-CN" sz="2000">
                <a:solidFill>
                  <a:schemeClr val="bg1"/>
                </a:solidFill>
              </a:rPr>
              <a:t> </a:t>
            </a:r>
            <a:r>
              <a:rPr lang="de-DE" altLang="zh-CN" sz="2000" err="1">
                <a:solidFill>
                  <a:schemeClr val="bg1"/>
                </a:solidFill>
              </a:rPr>
              <a:t>choice</a:t>
            </a:r>
            <a:r>
              <a:rPr lang="de-DE" altLang="zh-CN" sz="2000">
                <a:solidFill>
                  <a:schemeClr val="bg1"/>
                </a:solidFill>
              </a:rPr>
              <a:t> (e.g., </a:t>
            </a:r>
            <a:r>
              <a:rPr lang="de-DE" altLang="zh-CN" sz="2000" err="1">
                <a:solidFill>
                  <a:schemeClr val="bg1"/>
                </a:solidFill>
              </a:rPr>
              <a:t>library</a:t>
            </a:r>
            <a:r>
              <a:rPr lang="de-DE" altLang="zh-CN" sz="2000">
                <a:solidFill>
                  <a:schemeClr val="bg1"/>
                </a:solidFill>
              </a:rPr>
              <a:t>, </a:t>
            </a:r>
            <a:r>
              <a:rPr lang="de-DE" altLang="zh-CN" sz="2000" err="1">
                <a:solidFill>
                  <a:schemeClr val="bg1"/>
                </a:solidFill>
              </a:rPr>
              <a:t>church</a:t>
            </a:r>
            <a:r>
              <a:rPr lang="de-DE" altLang="zh-CN" sz="2000">
                <a:solidFill>
                  <a:schemeClr val="bg1"/>
                </a:solidFill>
              </a:rPr>
              <a:t>)</a:t>
            </a:r>
          </a:p>
          <a:p>
            <a:pPr marL="342900" indent="-342900">
              <a:buFont typeface="Wingdings" pitchFamily="2" charset="2"/>
              <a:buChar char="Ø"/>
            </a:pPr>
            <a:endParaRPr lang="de-DE" altLang="zh-CN" sz="2000">
              <a:solidFill>
                <a:schemeClr val="bg1"/>
              </a:solidFill>
            </a:endParaRPr>
          </a:p>
          <a:p>
            <a:pPr marL="342900" indent="-342900">
              <a:buFont typeface="Wingdings" pitchFamily="2" charset="2"/>
              <a:buChar char="u"/>
            </a:pPr>
            <a:r>
              <a:rPr lang="de-DE" altLang="zh-CN" sz="2000">
                <a:solidFill>
                  <a:schemeClr val="bg1"/>
                </a:solidFill>
              </a:rPr>
              <a:t>After </a:t>
            </a:r>
            <a:r>
              <a:rPr lang="de-DE" altLang="zh-CN" sz="2000" err="1">
                <a:solidFill>
                  <a:schemeClr val="bg1"/>
                </a:solidFill>
              </a:rPr>
              <a:t>each</a:t>
            </a:r>
            <a:r>
              <a:rPr lang="de-DE" altLang="zh-CN" sz="2000">
                <a:solidFill>
                  <a:schemeClr val="bg1"/>
                </a:solidFill>
              </a:rPr>
              <a:t>, </a:t>
            </a:r>
            <a:r>
              <a:rPr lang="de-DE" altLang="zh-CN" sz="2000" err="1">
                <a:solidFill>
                  <a:schemeClr val="bg1"/>
                </a:solidFill>
              </a:rPr>
              <a:t>they’ll</a:t>
            </a:r>
            <a:r>
              <a:rPr lang="de-DE" altLang="zh-CN" sz="2000">
                <a:solidFill>
                  <a:schemeClr val="bg1"/>
                </a:solidFill>
              </a:rPr>
              <a:t> </a:t>
            </a:r>
            <a:r>
              <a:rPr lang="de-DE" altLang="zh-CN" sz="2000" err="1">
                <a:solidFill>
                  <a:schemeClr val="bg1"/>
                </a:solidFill>
              </a:rPr>
              <a:t>ask</a:t>
            </a:r>
            <a:r>
              <a:rPr lang="de-DE" altLang="zh-CN" sz="2000">
                <a:solidFill>
                  <a:schemeClr val="bg1"/>
                </a:solidFill>
              </a:rPr>
              <a:t>: </a:t>
            </a:r>
            <a:r>
              <a:rPr lang="de-DE" altLang="zh-CN" sz="2000" err="1">
                <a:solidFill>
                  <a:schemeClr val="bg1"/>
                </a:solidFill>
              </a:rPr>
              <a:t>What</a:t>
            </a:r>
            <a:r>
              <a:rPr lang="de-DE" altLang="zh-CN" sz="2000">
                <a:solidFill>
                  <a:schemeClr val="bg1"/>
                </a:solidFill>
              </a:rPr>
              <a:t> </a:t>
            </a:r>
            <a:r>
              <a:rPr lang="de-DE" altLang="zh-CN" sz="2000" err="1">
                <a:solidFill>
                  <a:schemeClr val="bg1"/>
                </a:solidFill>
              </a:rPr>
              <a:t>characteristics</a:t>
            </a:r>
            <a:r>
              <a:rPr lang="de-DE" altLang="zh-CN" sz="2000">
                <a:solidFill>
                  <a:schemeClr val="bg1"/>
                </a:solidFill>
              </a:rPr>
              <a:t> </a:t>
            </a:r>
            <a:r>
              <a:rPr lang="de-DE" altLang="zh-CN" sz="2000" err="1">
                <a:solidFill>
                  <a:schemeClr val="bg1"/>
                </a:solidFill>
              </a:rPr>
              <a:t>make</a:t>
            </a:r>
            <a:r>
              <a:rPr lang="de-DE" altLang="zh-CN" sz="2000">
                <a:solidFill>
                  <a:schemeClr val="bg1"/>
                </a:solidFill>
              </a:rPr>
              <a:t> </a:t>
            </a:r>
            <a:r>
              <a:rPr lang="de-DE" altLang="zh-CN" sz="2000" err="1">
                <a:solidFill>
                  <a:schemeClr val="bg1"/>
                </a:solidFill>
              </a:rPr>
              <a:t>these</a:t>
            </a:r>
            <a:r>
              <a:rPr lang="de-DE" altLang="zh-CN" sz="2000">
                <a:solidFill>
                  <a:schemeClr val="bg1"/>
                </a:solidFill>
              </a:rPr>
              <a:t> </a:t>
            </a:r>
            <a:r>
              <a:rPr lang="de-DE" altLang="zh-CN" sz="2000" err="1">
                <a:solidFill>
                  <a:schemeClr val="bg1"/>
                </a:solidFill>
              </a:rPr>
              <a:t>protocols</a:t>
            </a:r>
            <a:r>
              <a:rPr lang="de-DE" altLang="zh-CN" sz="2000">
                <a:solidFill>
                  <a:schemeClr val="bg1"/>
                </a:solidFill>
              </a:rPr>
              <a:t> </a:t>
            </a:r>
            <a:r>
              <a:rPr lang="de-DE" altLang="zh-CN" sz="2000" err="1">
                <a:solidFill>
                  <a:schemeClr val="bg1"/>
                </a:solidFill>
              </a:rPr>
              <a:t>effective</a:t>
            </a:r>
            <a:r>
              <a:rPr lang="de-DE" altLang="zh-CN" sz="2000">
                <a:solidFill>
                  <a:schemeClr val="bg1"/>
                </a:solidFill>
              </a:rPr>
              <a:t> </a:t>
            </a:r>
            <a:r>
              <a:rPr lang="de-DE" altLang="zh-CN" sz="2000" err="1">
                <a:solidFill>
                  <a:schemeClr val="bg1"/>
                </a:solidFill>
              </a:rPr>
              <a:t>or</a:t>
            </a:r>
            <a:r>
              <a:rPr lang="de-DE" altLang="zh-CN" sz="2000">
                <a:solidFill>
                  <a:schemeClr val="bg1"/>
                </a:solidFill>
              </a:rPr>
              <a:t> oppressive?</a:t>
            </a:r>
          </a:p>
          <a:p>
            <a:pPr marL="285750" indent="-285750">
              <a:buFont typeface="Arial" panose="020B0604020202020204" pitchFamily="34" charset="0"/>
              <a:buChar char="•"/>
            </a:pPr>
            <a:endParaRPr lang="de-DE" altLang="zh-CN"/>
          </a:p>
          <a:p>
            <a:r>
              <a:rPr lang="zh-CN" altLang="en-US"/>
              <a:t>     </a:t>
            </a:r>
            <a:endParaRPr kumimoji="1" lang="zh-CN" altLang="en-US"/>
          </a:p>
        </p:txBody>
      </p:sp>
      <p:sp>
        <p:nvSpPr>
          <p:cNvPr id="7" name="文本框 6">
            <a:extLst>
              <a:ext uri="{FF2B5EF4-FFF2-40B4-BE49-F238E27FC236}">
                <a16:creationId xmlns:a16="http://schemas.microsoft.com/office/drawing/2014/main" id="{DA153488-BAA5-CE47-9CCC-7E280E6C7B96}"/>
              </a:ext>
            </a:extLst>
          </p:cNvPr>
          <p:cNvSpPr txBox="1"/>
          <p:nvPr/>
        </p:nvSpPr>
        <p:spPr>
          <a:xfrm>
            <a:off x="1759236" y="1197407"/>
            <a:ext cx="8558655" cy="646331"/>
          </a:xfrm>
          <a:prstGeom prst="rect">
            <a:avLst/>
          </a:prstGeom>
          <a:noFill/>
        </p:spPr>
        <p:txBody>
          <a:bodyPr wrap="square">
            <a:spAutoFit/>
          </a:bodyPr>
          <a:lstStyle/>
          <a:p>
            <a:pPr marL="285750" indent="-285750">
              <a:buFont typeface="Wingdings" pitchFamily="2" charset="2"/>
              <a:buChar char="u"/>
            </a:pPr>
            <a:r>
              <a:rPr lang="de-DE" altLang="zh-CN" err="1">
                <a:solidFill>
                  <a:schemeClr val="bg1"/>
                </a:solidFill>
              </a:rPr>
              <a:t>From</a:t>
            </a:r>
            <a:r>
              <a:rPr lang="de-DE" altLang="zh-CN">
                <a:solidFill>
                  <a:schemeClr val="bg1"/>
                </a:solidFill>
              </a:rPr>
              <a:t> </a:t>
            </a:r>
            <a:r>
              <a:rPr lang="de-DE" altLang="zh-CN" err="1">
                <a:solidFill>
                  <a:schemeClr val="bg1"/>
                </a:solidFill>
              </a:rPr>
              <a:t>these</a:t>
            </a:r>
            <a:r>
              <a:rPr lang="de-DE" altLang="zh-CN">
                <a:solidFill>
                  <a:schemeClr val="bg1"/>
                </a:solidFill>
              </a:rPr>
              <a:t> </a:t>
            </a:r>
            <a:r>
              <a:rPr lang="de-DE" altLang="zh-CN" err="1">
                <a:solidFill>
                  <a:schemeClr val="bg1"/>
                </a:solidFill>
              </a:rPr>
              <a:t>two</a:t>
            </a:r>
            <a:r>
              <a:rPr lang="de-DE" altLang="zh-CN">
                <a:solidFill>
                  <a:schemeClr val="bg1"/>
                </a:solidFill>
              </a:rPr>
              <a:t> </a:t>
            </a:r>
            <a:r>
              <a:rPr lang="de-DE" altLang="zh-CN" err="1">
                <a:solidFill>
                  <a:schemeClr val="bg1"/>
                </a:solidFill>
              </a:rPr>
              <a:t>perspectives</a:t>
            </a:r>
            <a:r>
              <a:rPr lang="de-DE" altLang="zh-CN">
                <a:solidFill>
                  <a:schemeClr val="bg1"/>
                </a:solidFill>
              </a:rPr>
              <a:t>, </a:t>
            </a:r>
            <a:r>
              <a:rPr lang="de-DE" altLang="zh-CN" err="1">
                <a:solidFill>
                  <a:schemeClr val="bg1"/>
                </a:solidFill>
              </a:rPr>
              <a:t>it’s</a:t>
            </a:r>
            <a:r>
              <a:rPr lang="de-DE" altLang="zh-CN">
                <a:solidFill>
                  <a:schemeClr val="bg1"/>
                </a:solidFill>
              </a:rPr>
              <a:t> </a:t>
            </a:r>
            <a:r>
              <a:rPr lang="de-DE" altLang="zh-CN" err="1">
                <a:solidFill>
                  <a:schemeClr val="bg1"/>
                </a:solidFill>
              </a:rPr>
              <a:t>clear</a:t>
            </a:r>
            <a:r>
              <a:rPr lang="de-DE" altLang="zh-CN">
                <a:solidFill>
                  <a:schemeClr val="bg1"/>
                </a:solidFill>
              </a:rPr>
              <a:t> </a:t>
            </a:r>
            <a:r>
              <a:rPr lang="de-DE" altLang="zh-CN" err="1">
                <a:solidFill>
                  <a:schemeClr val="bg1"/>
                </a:solidFill>
              </a:rPr>
              <a:t>that</a:t>
            </a:r>
            <a:r>
              <a:rPr lang="de-DE" altLang="zh-CN">
                <a:solidFill>
                  <a:schemeClr val="bg1"/>
                </a:solidFill>
              </a:rPr>
              <a:t> </a:t>
            </a:r>
            <a:r>
              <a:rPr lang="de-DE" altLang="zh-CN" err="1">
                <a:solidFill>
                  <a:schemeClr val="bg1"/>
                </a:solidFill>
              </a:rPr>
              <a:t>defining</a:t>
            </a:r>
            <a:r>
              <a:rPr lang="de-DE" altLang="zh-CN">
                <a:solidFill>
                  <a:schemeClr val="bg1"/>
                </a:solidFill>
              </a:rPr>
              <a:t> “</a:t>
            </a:r>
            <a:r>
              <a:rPr lang="de-DE" altLang="zh-CN" err="1">
                <a:solidFill>
                  <a:schemeClr val="bg1"/>
                </a:solidFill>
              </a:rPr>
              <a:t>protocol</a:t>
            </a:r>
            <a:r>
              <a:rPr lang="de-DE" altLang="zh-CN">
                <a:solidFill>
                  <a:schemeClr val="bg1"/>
                </a:solidFill>
              </a:rPr>
              <a:t>” </a:t>
            </a:r>
            <a:r>
              <a:rPr lang="de-DE" altLang="zh-CN" err="1">
                <a:solidFill>
                  <a:schemeClr val="bg1"/>
                </a:solidFill>
              </a:rPr>
              <a:t>remains</a:t>
            </a:r>
            <a:r>
              <a:rPr lang="de-DE" altLang="zh-CN">
                <a:solidFill>
                  <a:schemeClr val="bg1"/>
                </a:solidFill>
              </a:rPr>
              <a:t> </a:t>
            </a:r>
            <a:r>
              <a:rPr lang="de-DE" altLang="zh-CN" err="1">
                <a:solidFill>
                  <a:schemeClr val="bg1"/>
                </a:solidFill>
              </a:rPr>
              <a:t>crucial</a:t>
            </a:r>
            <a:r>
              <a:rPr lang="de-DE" altLang="zh-CN">
                <a:solidFill>
                  <a:schemeClr val="bg1"/>
                </a:solidFill>
              </a:rPr>
              <a:t>. </a:t>
            </a:r>
          </a:p>
        </p:txBody>
      </p:sp>
    </p:spTree>
    <p:extLst>
      <p:ext uri="{BB962C8B-B14F-4D97-AF65-F5344CB8AC3E}">
        <p14:creationId xmlns:p14="http://schemas.microsoft.com/office/powerpoint/2010/main" val="3200197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77F01-5076-1CA8-6AC3-3BE481E2A084}"/>
            </a:ext>
          </a:extLst>
        </p:cNvPr>
        <p:cNvGrpSpPr/>
        <p:nvPr/>
      </p:nvGrpSpPr>
      <p:grpSpPr>
        <a:xfrm>
          <a:off x="0" y="0"/>
          <a:ext cx="0" cy="0"/>
          <a:chOff x="0" y="0"/>
          <a:chExt cx="0" cy="0"/>
        </a:xfrm>
      </p:grpSpPr>
      <p:sp>
        <p:nvSpPr>
          <p:cNvPr id="3" name="副标题 2">
            <a:extLst>
              <a:ext uri="{FF2B5EF4-FFF2-40B4-BE49-F238E27FC236}">
                <a16:creationId xmlns:a16="http://schemas.microsoft.com/office/drawing/2014/main" id="{1A505F6F-6871-4DEE-1BE2-6E03A65CD2E9}"/>
              </a:ext>
            </a:extLst>
          </p:cNvPr>
          <p:cNvSpPr>
            <a:spLocks noGrp="1"/>
          </p:cNvSpPr>
          <p:nvPr>
            <p:ph type="subTitle" idx="1"/>
          </p:nvPr>
        </p:nvSpPr>
        <p:spPr/>
        <p:txBody>
          <a:bodyPr/>
          <a:lstStyle/>
          <a:p>
            <a:endParaRPr kumimoji="1" lang="en-US" altLang="zh-CN"/>
          </a:p>
          <a:p>
            <a:endParaRPr kumimoji="1" lang="zh-CN" altLang="en-US"/>
          </a:p>
        </p:txBody>
      </p:sp>
      <p:sp>
        <p:nvSpPr>
          <p:cNvPr id="4" name="文本框 3">
            <a:extLst>
              <a:ext uri="{FF2B5EF4-FFF2-40B4-BE49-F238E27FC236}">
                <a16:creationId xmlns:a16="http://schemas.microsoft.com/office/drawing/2014/main" id="{5FAF3E2D-A99C-2324-F757-FE49F1D2AAD3}"/>
              </a:ext>
            </a:extLst>
          </p:cNvPr>
          <p:cNvSpPr txBox="1"/>
          <p:nvPr/>
        </p:nvSpPr>
        <p:spPr>
          <a:xfrm>
            <a:off x="1998593" y="1997839"/>
            <a:ext cx="8076741" cy="2862322"/>
          </a:xfrm>
          <a:prstGeom prst="rect">
            <a:avLst/>
          </a:prstGeom>
          <a:noFill/>
        </p:spPr>
        <p:txBody>
          <a:bodyPr wrap="square" rtlCol="0">
            <a:spAutoFit/>
          </a:bodyPr>
          <a:lstStyle/>
          <a:p>
            <a:pPr marL="285750" indent="-285750">
              <a:buFont typeface="Arial" panose="020B0604020202020204" pitchFamily="34" charset="0"/>
              <a:buChar char="•"/>
            </a:pPr>
            <a:endParaRPr lang="de-DE" altLang="zh-CN"/>
          </a:p>
          <a:p>
            <a:pPr marL="285750" indent="-285750">
              <a:buFont typeface="Arial" panose="020B0604020202020204" pitchFamily="34" charset="0"/>
              <a:buChar char="•"/>
            </a:pPr>
            <a:endParaRPr lang="de-DE" altLang="zh-CN"/>
          </a:p>
          <a:p>
            <a:pPr marL="285750" indent="-285750">
              <a:buFont typeface="Wingdings" pitchFamily="2" charset="2"/>
              <a:buChar char="p"/>
            </a:pPr>
            <a:r>
              <a:rPr lang="de-DE" altLang="zh-CN" b="1" err="1">
                <a:solidFill>
                  <a:schemeClr val="bg1"/>
                </a:solidFill>
              </a:rPr>
              <a:t>Functionalism</a:t>
            </a:r>
            <a:r>
              <a:rPr lang="de-DE" altLang="zh-CN" b="1">
                <a:solidFill>
                  <a:schemeClr val="bg1"/>
                </a:solidFill>
              </a:rPr>
              <a:t>:</a:t>
            </a:r>
            <a:r>
              <a:rPr lang="de-DE" altLang="zh-CN">
                <a:solidFill>
                  <a:schemeClr val="bg1"/>
                </a:solidFill>
              </a:rPr>
              <a:t> </a:t>
            </a:r>
            <a:r>
              <a:rPr lang="de-DE" altLang="zh-CN" err="1">
                <a:solidFill>
                  <a:schemeClr val="bg1"/>
                </a:solidFill>
              </a:rPr>
              <a:t>Protocols</a:t>
            </a:r>
            <a:r>
              <a:rPr lang="de-DE" altLang="zh-CN">
                <a:solidFill>
                  <a:schemeClr val="bg1"/>
                </a:solidFill>
              </a:rPr>
              <a:t> </a:t>
            </a:r>
            <a:r>
              <a:rPr lang="de-DE" altLang="zh-CN" err="1">
                <a:solidFill>
                  <a:schemeClr val="bg1"/>
                </a:solidFill>
              </a:rPr>
              <a:t>maintain</a:t>
            </a:r>
            <a:r>
              <a:rPr lang="de-DE" altLang="zh-CN">
                <a:solidFill>
                  <a:schemeClr val="bg1"/>
                </a:solidFill>
              </a:rPr>
              <a:t> </a:t>
            </a:r>
            <a:r>
              <a:rPr lang="de-DE" altLang="zh-CN" err="1">
                <a:solidFill>
                  <a:schemeClr val="bg1"/>
                </a:solidFill>
              </a:rPr>
              <a:t>system</a:t>
            </a:r>
            <a:r>
              <a:rPr lang="de-DE" altLang="zh-CN">
                <a:solidFill>
                  <a:schemeClr val="bg1"/>
                </a:solidFill>
              </a:rPr>
              <a:t> </a:t>
            </a:r>
            <a:r>
              <a:rPr lang="de-DE" altLang="zh-CN" err="1">
                <a:solidFill>
                  <a:schemeClr val="bg1"/>
                </a:solidFill>
              </a:rPr>
              <a:t>stability</a:t>
            </a:r>
            <a:r>
              <a:rPr lang="de-DE" altLang="zh-CN">
                <a:solidFill>
                  <a:schemeClr val="bg1"/>
                </a:solidFill>
              </a:rPr>
              <a:t>—an </a:t>
            </a:r>
            <a:r>
              <a:rPr lang="de-DE" altLang="zh-CN" err="1">
                <a:solidFill>
                  <a:schemeClr val="bg1"/>
                </a:solidFill>
              </a:rPr>
              <a:t>stability</a:t>
            </a:r>
            <a:r>
              <a:rPr lang="en-US" altLang="zh-CN">
                <a:solidFill>
                  <a:schemeClr val="bg1"/>
                </a:solidFill>
              </a:rPr>
              <a:t>/order</a:t>
            </a:r>
            <a:r>
              <a:rPr lang="de-DE" altLang="zh-CN">
                <a:solidFill>
                  <a:schemeClr val="bg1"/>
                </a:solidFill>
              </a:rPr>
              <a:t>‐</a:t>
            </a:r>
            <a:r>
              <a:rPr lang="de-DE" altLang="zh-CN" err="1">
                <a:solidFill>
                  <a:schemeClr val="bg1"/>
                </a:solidFill>
              </a:rPr>
              <a:t>oriented</a:t>
            </a:r>
            <a:r>
              <a:rPr lang="de-DE" altLang="zh-CN">
                <a:solidFill>
                  <a:schemeClr val="bg1"/>
                </a:solidFill>
              </a:rPr>
              <a:t>, </a:t>
            </a:r>
            <a:r>
              <a:rPr lang="de-DE" altLang="zh-CN" err="1">
                <a:solidFill>
                  <a:schemeClr val="bg1"/>
                </a:solidFill>
              </a:rPr>
              <a:t>relatively</a:t>
            </a:r>
            <a:r>
              <a:rPr lang="zh-CN" altLang="en-US">
                <a:solidFill>
                  <a:schemeClr val="bg1"/>
                </a:solidFill>
              </a:rPr>
              <a:t> </a:t>
            </a:r>
            <a:r>
              <a:rPr lang="de-DE" altLang="zh-CN" err="1">
                <a:solidFill>
                  <a:schemeClr val="bg1"/>
                </a:solidFill>
              </a:rPr>
              <a:t>conservative</a:t>
            </a:r>
            <a:r>
              <a:rPr lang="de-DE" altLang="zh-CN">
                <a:solidFill>
                  <a:schemeClr val="bg1"/>
                </a:solidFill>
              </a:rPr>
              <a:t> </a:t>
            </a:r>
            <a:r>
              <a:rPr lang="de-DE" altLang="zh-CN" err="1">
                <a:solidFill>
                  <a:schemeClr val="bg1"/>
                </a:solidFill>
              </a:rPr>
              <a:t>view</a:t>
            </a:r>
            <a:endParaRPr lang="de-DE" altLang="zh-CN">
              <a:solidFill>
                <a:schemeClr val="bg1"/>
              </a:solidFill>
            </a:endParaRPr>
          </a:p>
          <a:p>
            <a:pPr marL="285750" indent="-285750">
              <a:buFont typeface="Wingdings" pitchFamily="2" charset="2"/>
              <a:buChar char="p"/>
            </a:pPr>
            <a:endParaRPr lang="de-DE" altLang="zh-CN">
              <a:solidFill>
                <a:schemeClr val="bg1"/>
              </a:solidFill>
            </a:endParaRPr>
          </a:p>
          <a:p>
            <a:pPr marL="285750" indent="-285750">
              <a:buFont typeface="Wingdings" pitchFamily="2" charset="2"/>
              <a:buChar char="p"/>
            </a:pPr>
            <a:r>
              <a:rPr lang="de-DE" altLang="zh-CN" b="1">
                <a:solidFill>
                  <a:schemeClr val="bg1"/>
                </a:solidFill>
              </a:rPr>
              <a:t>Conflict Theory:</a:t>
            </a:r>
            <a:r>
              <a:rPr lang="de-DE" altLang="zh-CN">
                <a:solidFill>
                  <a:schemeClr val="bg1"/>
                </a:solidFill>
              </a:rPr>
              <a:t> </a:t>
            </a:r>
            <a:r>
              <a:rPr lang="de-DE" altLang="zh-CN" err="1">
                <a:solidFill>
                  <a:schemeClr val="bg1"/>
                </a:solidFill>
              </a:rPr>
              <a:t>Protocols</a:t>
            </a:r>
            <a:r>
              <a:rPr lang="de-DE" altLang="zh-CN">
                <a:solidFill>
                  <a:schemeClr val="bg1"/>
                </a:solidFill>
              </a:rPr>
              <a:t> </a:t>
            </a:r>
            <a:r>
              <a:rPr lang="de-DE" altLang="zh-CN" err="1">
                <a:solidFill>
                  <a:schemeClr val="bg1"/>
                </a:solidFill>
              </a:rPr>
              <a:t>distribute</a:t>
            </a:r>
            <a:r>
              <a:rPr lang="de-DE" altLang="zh-CN">
                <a:solidFill>
                  <a:schemeClr val="bg1"/>
                </a:solidFill>
              </a:rPr>
              <a:t> power and </a:t>
            </a:r>
            <a:r>
              <a:rPr lang="de-DE" altLang="zh-CN" err="1">
                <a:solidFill>
                  <a:schemeClr val="bg1"/>
                </a:solidFill>
              </a:rPr>
              <a:t>reflect</a:t>
            </a:r>
            <a:r>
              <a:rPr lang="de-DE" altLang="zh-CN">
                <a:solidFill>
                  <a:schemeClr val="bg1"/>
                </a:solidFill>
              </a:rPr>
              <a:t> </a:t>
            </a:r>
            <a:r>
              <a:rPr lang="de-DE" altLang="zh-CN" err="1">
                <a:solidFill>
                  <a:schemeClr val="bg1"/>
                </a:solidFill>
              </a:rPr>
              <a:t>inequalities</a:t>
            </a:r>
            <a:endParaRPr lang="de-DE" altLang="zh-CN">
              <a:solidFill>
                <a:schemeClr val="bg1"/>
              </a:solidFill>
            </a:endParaRPr>
          </a:p>
          <a:p>
            <a:pPr marL="285750" indent="-285750">
              <a:buFont typeface="Wingdings" pitchFamily="2" charset="2"/>
              <a:buChar char="p"/>
            </a:pPr>
            <a:endParaRPr lang="de-DE" altLang="zh-CN" b="1">
              <a:solidFill>
                <a:schemeClr val="bg1"/>
              </a:solidFill>
            </a:endParaRPr>
          </a:p>
          <a:p>
            <a:pPr marL="285750" indent="-285750">
              <a:buFont typeface="Wingdings" pitchFamily="2" charset="2"/>
              <a:buChar char="p"/>
            </a:pPr>
            <a:r>
              <a:rPr lang="de-DE" altLang="zh-CN" b="1" err="1">
                <a:solidFill>
                  <a:schemeClr val="bg1"/>
                </a:solidFill>
              </a:rPr>
              <a:t>Symbolic</a:t>
            </a:r>
            <a:r>
              <a:rPr lang="de-DE" altLang="zh-CN" b="1">
                <a:solidFill>
                  <a:schemeClr val="bg1"/>
                </a:solidFill>
              </a:rPr>
              <a:t>/</a:t>
            </a:r>
            <a:r>
              <a:rPr lang="de-DE" altLang="zh-CN" b="1" err="1">
                <a:solidFill>
                  <a:schemeClr val="bg1"/>
                </a:solidFill>
              </a:rPr>
              <a:t>Interpretive</a:t>
            </a:r>
            <a:r>
              <a:rPr lang="de-DE" altLang="zh-CN" b="1">
                <a:solidFill>
                  <a:schemeClr val="bg1"/>
                </a:solidFill>
              </a:rPr>
              <a:t> </a:t>
            </a:r>
            <a:r>
              <a:rPr lang="de-DE" altLang="zh-CN" b="1" err="1">
                <a:solidFill>
                  <a:schemeClr val="bg1"/>
                </a:solidFill>
              </a:rPr>
              <a:t>Approaches</a:t>
            </a:r>
            <a:r>
              <a:rPr lang="de-DE" altLang="zh-CN" b="1">
                <a:solidFill>
                  <a:schemeClr val="bg1"/>
                </a:solidFill>
              </a:rPr>
              <a:t>:</a:t>
            </a:r>
            <a:r>
              <a:rPr lang="de-DE" altLang="zh-CN">
                <a:solidFill>
                  <a:schemeClr val="bg1"/>
                </a:solidFill>
              </a:rPr>
              <a:t> </a:t>
            </a:r>
            <a:r>
              <a:rPr lang="de-DE" altLang="zh-CN" err="1">
                <a:solidFill>
                  <a:schemeClr val="bg1"/>
                </a:solidFill>
              </a:rPr>
              <a:t>Protocols</a:t>
            </a:r>
            <a:r>
              <a:rPr lang="de-DE" altLang="zh-CN">
                <a:solidFill>
                  <a:schemeClr val="bg1"/>
                </a:solidFill>
              </a:rPr>
              <a:t> </a:t>
            </a:r>
            <a:r>
              <a:rPr lang="de-DE" altLang="zh-CN" err="1">
                <a:solidFill>
                  <a:schemeClr val="bg1"/>
                </a:solidFill>
              </a:rPr>
              <a:t>are</a:t>
            </a:r>
            <a:r>
              <a:rPr lang="de-DE" altLang="zh-CN">
                <a:solidFill>
                  <a:schemeClr val="bg1"/>
                </a:solidFill>
              </a:rPr>
              <a:t> </a:t>
            </a:r>
            <a:r>
              <a:rPr lang="de-DE" altLang="zh-CN" err="1">
                <a:solidFill>
                  <a:schemeClr val="bg1"/>
                </a:solidFill>
              </a:rPr>
              <a:t>micro‐level</a:t>
            </a:r>
            <a:r>
              <a:rPr lang="de-DE" altLang="zh-CN">
                <a:solidFill>
                  <a:schemeClr val="bg1"/>
                </a:solidFill>
              </a:rPr>
              <a:t> </a:t>
            </a:r>
            <a:r>
              <a:rPr lang="de-DE" altLang="zh-CN" err="1">
                <a:solidFill>
                  <a:schemeClr val="bg1"/>
                </a:solidFill>
              </a:rPr>
              <a:t>meaning‐making</a:t>
            </a:r>
            <a:r>
              <a:rPr lang="de-DE" altLang="zh-CN">
                <a:solidFill>
                  <a:schemeClr val="bg1"/>
                </a:solidFill>
              </a:rPr>
              <a:t> </a:t>
            </a:r>
            <a:r>
              <a:rPr lang="de-DE" altLang="zh-CN" err="1">
                <a:solidFill>
                  <a:schemeClr val="bg1"/>
                </a:solidFill>
              </a:rPr>
              <a:t>mechanisms</a:t>
            </a:r>
            <a:r>
              <a:rPr lang="de-DE" altLang="zh-CN">
                <a:solidFill>
                  <a:schemeClr val="bg1"/>
                </a:solidFill>
              </a:rPr>
              <a:t> </a:t>
            </a:r>
            <a:r>
              <a:rPr lang="de-DE" altLang="zh-CN" err="1">
                <a:solidFill>
                  <a:schemeClr val="bg1"/>
                </a:solidFill>
              </a:rPr>
              <a:t>with</a:t>
            </a:r>
            <a:r>
              <a:rPr lang="de-DE" altLang="zh-CN">
                <a:solidFill>
                  <a:schemeClr val="bg1"/>
                </a:solidFill>
              </a:rPr>
              <a:t> </a:t>
            </a:r>
            <a:r>
              <a:rPr lang="de-DE" altLang="zh-CN" err="1">
                <a:solidFill>
                  <a:schemeClr val="bg1"/>
                </a:solidFill>
              </a:rPr>
              <a:t>evolving</a:t>
            </a:r>
            <a:r>
              <a:rPr lang="de-DE" altLang="zh-CN">
                <a:solidFill>
                  <a:schemeClr val="bg1"/>
                </a:solidFill>
              </a:rPr>
              <a:t> </a:t>
            </a:r>
            <a:r>
              <a:rPr lang="de-DE" altLang="zh-CN" err="1">
                <a:solidFill>
                  <a:schemeClr val="bg1"/>
                </a:solidFill>
              </a:rPr>
              <a:t>histories</a:t>
            </a:r>
            <a:r>
              <a:rPr lang="de-DE" altLang="zh-CN">
                <a:solidFill>
                  <a:schemeClr val="bg1"/>
                </a:solidFill>
              </a:rPr>
              <a:t>.</a:t>
            </a:r>
          </a:p>
          <a:p>
            <a:endParaRPr kumimoji="1" lang="zh-CN" altLang="en-US"/>
          </a:p>
        </p:txBody>
      </p:sp>
      <p:sp>
        <p:nvSpPr>
          <p:cNvPr id="5" name="文本框 4">
            <a:extLst>
              <a:ext uri="{FF2B5EF4-FFF2-40B4-BE49-F238E27FC236}">
                <a16:creationId xmlns:a16="http://schemas.microsoft.com/office/drawing/2014/main" id="{B01C78F0-431A-EF26-A8EA-F627FF894FAA}"/>
              </a:ext>
            </a:extLst>
          </p:cNvPr>
          <p:cNvSpPr txBox="1"/>
          <p:nvPr/>
        </p:nvSpPr>
        <p:spPr>
          <a:xfrm>
            <a:off x="1759237" y="1284529"/>
            <a:ext cx="8316097" cy="461665"/>
          </a:xfrm>
          <a:prstGeom prst="rect">
            <a:avLst/>
          </a:prstGeom>
          <a:noFill/>
        </p:spPr>
        <p:txBody>
          <a:bodyPr wrap="square">
            <a:spAutoFit/>
          </a:bodyPr>
          <a:lstStyle/>
          <a:p>
            <a:pPr marL="285750" indent="-285750">
              <a:buFont typeface="Wingdings" pitchFamily="2" charset="2"/>
              <a:buChar char="u"/>
            </a:pPr>
            <a:r>
              <a:rPr lang="zh-CN" altLang="en-US" sz="2400" b="1" i="1">
                <a:solidFill>
                  <a:schemeClr val="bg1"/>
                </a:solidFill>
                <a:latin typeface="Times New Roman" panose="02020603050405020304" pitchFamily="18" charset="0"/>
                <a:cs typeface="Times New Roman" panose="02020603050405020304" pitchFamily="18" charset="0"/>
              </a:rPr>
              <a:t> </a:t>
            </a:r>
            <a:r>
              <a:rPr lang="de-DE" altLang="zh-CN" sz="2400" b="1" i="1" err="1">
                <a:solidFill>
                  <a:schemeClr val="bg1"/>
                </a:solidFill>
                <a:latin typeface="Times New Roman" panose="02020603050405020304" pitchFamily="18" charset="0"/>
                <a:cs typeface="Times New Roman" panose="02020603050405020304" pitchFamily="18" charset="0"/>
              </a:rPr>
              <a:t>Three</a:t>
            </a:r>
            <a:r>
              <a:rPr lang="zh-CN" altLang="en-US" sz="2400" b="1" i="1">
                <a:solidFill>
                  <a:schemeClr val="bg1"/>
                </a:solidFill>
                <a:latin typeface="Times New Roman" panose="02020603050405020304" pitchFamily="18" charset="0"/>
                <a:cs typeface="Times New Roman" panose="02020603050405020304" pitchFamily="18" charset="0"/>
              </a:rPr>
              <a:t> </a:t>
            </a:r>
            <a:r>
              <a:rPr lang="en-US" altLang="zh-CN" sz="2400" b="1" i="1">
                <a:solidFill>
                  <a:schemeClr val="bg1"/>
                </a:solidFill>
                <a:latin typeface="Times New Roman" panose="02020603050405020304" pitchFamily="18" charset="0"/>
                <a:cs typeface="Times New Roman" panose="02020603050405020304" pitchFamily="18" charset="0"/>
              </a:rPr>
              <a:t>Theoretical</a:t>
            </a:r>
            <a:r>
              <a:rPr lang="zh-CN" altLang="en-US" sz="2400" b="1" i="1">
                <a:solidFill>
                  <a:schemeClr val="bg1"/>
                </a:solidFill>
                <a:latin typeface="Times New Roman" panose="02020603050405020304" pitchFamily="18" charset="0"/>
                <a:cs typeface="Times New Roman" panose="02020603050405020304" pitchFamily="18" charset="0"/>
              </a:rPr>
              <a:t> </a:t>
            </a:r>
            <a:r>
              <a:rPr lang="en-US" altLang="zh-CN" sz="2400" b="1" i="1">
                <a:solidFill>
                  <a:schemeClr val="bg1"/>
                </a:solidFill>
                <a:latin typeface="Times New Roman" panose="02020603050405020304" pitchFamily="18" charset="0"/>
                <a:cs typeface="Times New Roman" panose="02020603050405020304" pitchFamily="18" charset="0"/>
              </a:rPr>
              <a:t>Lenses</a:t>
            </a:r>
            <a:r>
              <a:rPr lang="de-DE" altLang="zh-CN" sz="2400" b="1" i="1">
                <a:solidFill>
                  <a:schemeClr val="bg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41158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B35C90-12A8-4049-6966-14E33D78D495}"/>
              </a:ext>
            </a:extLst>
          </p:cNvPr>
          <p:cNvSpPr>
            <a:spLocks noGrp="1"/>
          </p:cNvSpPr>
          <p:nvPr>
            <p:ph type="title"/>
          </p:nvPr>
        </p:nvSpPr>
        <p:spPr/>
        <p:txBody>
          <a:bodyPr/>
          <a:lstStyle/>
          <a:p>
            <a:r>
              <a:rPr kumimoji="1" lang="en-US" altLang="zh-CN" i="1">
                <a:latin typeface="Times New Roman" panose="02020603050405020304" pitchFamily="18" charset="0"/>
                <a:cs typeface="Times New Roman" panose="02020603050405020304" pitchFamily="18" charset="0"/>
              </a:rPr>
              <a:t>Today’s</a:t>
            </a:r>
            <a:br>
              <a:rPr kumimoji="1" lang="en-US" altLang="zh-CN" i="1">
                <a:latin typeface="Times New Roman" panose="02020603050405020304" pitchFamily="18" charset="0"/>
                <a:cs typeface="Times New Roman" panose="02020603050405020304" pitchFamily="18" charset="0"/>
              </a:rPr>
            </a:br>
            <a:r>
              <a:rPr kumimoji="1" lang="en-US" altLang="zh-CN" i="1">
                <a:latin typeface="Times New Roman" panose="02020603050405020304" pitchFamily="18" charset="0"/>
                <a:cs typeface="Times New Roman" panose="02020603050405020304" pitchFamily="18" charset="0"/>
              </a:rPr>
              <a:t>Focus</a:t>
            </a:r>
            <a:endParaRPr kumimoji="1" lang="zh-CN" altLang="en-US" i="1">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B97E2E86-354D-C262-E921-BF7C1C4D7C45}"/>
              </a:ext>
            </a:extLst>
          </p:cNvPr>
          <p:cNvSpPr>
            <a:spLocks noGrp="1"/>
          </p:cNvSpPr>
          <p:nvPr>
            <p:ph idx="1"/>
          </p:nvPr>
        </p:nvSpPr>
        <p:spPr>
          <a:xfrm>
            <a:off x="5782962" y="803186"/>
            <a:ext cx="5617358" cy="5248622"/>
          </a:xfrm>
        </p:spPr>
        <p:txBody>
          <a:bodyPr>
            <a:normAutofit/>
          </a:bodyPr>
          <a:lstStyle/>
          <a:p>
            <a:r>
              <a:rPr lang="de-DE" altLang="zh-CN" sz="2000" err="1"/>
              <a:t>We</a:t>
            </a:r>
            <a:r>
              <a:rPr lang="de-DE" altLang="zh-CN" sz="2000"/>
              <a:t> will </a:t>
            </a:r>
            <a:r>
              <a:rPr lang="de-DE" altLang="zh-CN" sz="2000" err="1"/>
              <a:t>narrow</a:t>
            </a:r>
            <a:r>
              <a:rPr lang="de-DE" altLang="zh-CN" sz="2000"/>
              <a:t> </a:t>
            </a:r>
            <a:r>
              <a:rPr lang="de-DE" altLang="zh-CN" sz="2000" err="1"/>
              <a:t>our</a:t>
            </a:r>
            <a:r>
              <a:rPr lang="de-DE" altLang="zh-CN" sz="2000"/>
              <a:t> </a:t>
            </a:r>
            <a:r>
              <a:rPr lang="de-DE" altLang="zh-CN" sz="2000" err="1"/>
              <a:t>lens</a:t>
            </a:r>
            <a:r>
              <a:rPr lang="de-DE" altLang="zh-CN" sz="2000"/>
              <a:t> </a:t>
            </a:r>
            <a:r>
              <a:rPr lang="de-DE" altLang="zh-CN" sz="2000" err="1"/>
              <a:t>to</a:t>
            </a:r>
            <a:r>
              <a:rPr lang="de-DE" altLang="zh-CN" sz="2000"/>
              <a:t> </a:t>
            </a:r>
            <a:r>
              <a:rPr lang="de-DE" altLang="zh-CN" sz="2000" err="1"/>
              <a:t>protocol</a:t>
            </a:r>
            <a:r>
              <a:rPr lang="de-DE" altLang="zh-CN" sz="2000"/>
              <a:t> </a:t>
            </a:r>
            <a:r>
              <a:rPr lang="de-DE" altLang="zh-CN" sz="2000" err="1"/>
              <a:t>as</a:t>
            </a:r>
            <a:r>
              <a:rPr lang="de-DE" altLang="zh-CN" sz="2000"/>
              <a:t> </a:t>
            </a:r>
          </a:p>
          <a:p>
            <a:pPr marL="0" indent="0">
              <a:buNone/>
            </a:pPr>
            <a:r>
              <a:rPr lang="zh-CN" altLang="en-US" sz="2000"/>
              <a:t>    </a:t>
            </a:r>
            <a:r>
              <a:rPr lang="de-DE" altLang="zh-CN" sz="2000"/>
              <a:t>an</a:t>
            </a:r>
            <a:r>
              <a:rPr lang="zh-CN" altLang="en-US" sz="2000"/>
              <a:t> </a:t>
            </a:r>
            <a:r>
              <a:rPr lang="de-DE" altLang="zh-CN" sz="2000" err="1"/>
              <a:t>answer</a:t>
            </a:r>
            <a:r>
              <a:rPr lang="de-DE" altLang="zh-CN" sz="2000"/>
              <a:t> </a:t>
            </a:r>
            <a:r>
              <a:rPr lang="de-DE" altLang="zh-CN" sz="2000" err="1"/>
              <a:t>to</a:t>
            </a:r>
            <a:r>
              <a:rPr lang="de-DE" altLang="zh-CN" sz="2000"/>
              <a:t>: </a:t>
            </a:r>
          </a:p>
          <a:p>
            <a:pPr marL="0" indent="0">
              <a:buNone/>
            </a:pPr>
            <a:r>
              <a:rPr lang="zh-CN" altLang="en-US" sz="2000" b="1"/>
              <a:t>        </a:t>
            </a:r>
            <a:r>
              <a:rPr lang="zh-CN" altLang="en-US" sz="2000" b="1" i="1"/>
              <a:t>“</a:t>
            </a:r>
            <a:r>
              <a:rPr lang="de-DE" altLang="zh-CN" sz="2000" b="1" i="1" err="1"/>
              <a:t>How</a:t>
            </a:r>
            <a:r>
              <a:rPr lang="de-DE" altLang="zh-CN" sz="2000" b="1" i="1"/>
              <a:t> do </a:t>
            </a:r>
            <a:r>
              <a:rPr lang="de-DE" altLang="zh-CN" sz="2000" b="1" i="1" err="1"/>
              <a:t>system</a:t>
            </a:r>
            <a:r>
              <a:rPr lang="zh-CN" altLang="en-US" sz="2000" b="1" i="1"/>
              <a:t> </a:t>
            </a:r>
            <a:r>
              <a:rPr lang="de-DE" altLang="zh-CN" sz="2000" b="1" i="1" err="1"/>
              <a:t>communicate</a:t>
            </a:r>
            <a:r>
              <a:rPr lang="de-DE" altLang="zh-CN" sz="2000" b="1" i="1"/>
              <a:t>?”</a:t>
            </a:r>
            <a:r>
              <a:rPr lang="de-DE" altLang="zh-CN" sz="2000" i="1"/>
              <a:t> </a:t>
            </a:r>
          </a:p>
        </p:txBody>
      </p:sp>
    </p:spTree>
    <p:extLst>
      <p:ext uri="{BB962C8B-B14F-4D97-AF65-F5344CB8AC3E}">
        <p14:creationId xmlns:p14="http://schemas.microsoft.com/office/powerpoint/2010/main" val="2100294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B52B7-538F-FF70-31D3-475597AC67E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8D1DDF3-991A-A050-D67D-9466D4195A4F}"/>
              </a:ext>
            </a:extLst>
          </p:cNvPr>
          <p:cNvSpPr>
            <a:spLocks noGrp="1"/>
          </p:cNvSpPr>
          <p:nvPr>
            <p:ph type="title"/>
          </p:nvPr>
        </p:nvSpPr>
        <p:spPr/>
        <p:txBody>
          <a:bodyPr>
            <a:noAutofit/>
          </a:bodyPr>
          <a:lstStyle/>
          <a:p>
            <a:r>
              <a:rPr lang="de-DE" altLang="zh-CN" sz="2800" i="1" dirty="0">
                <a:latin typeface="Times New Roman" panose="02020603050405020304" pitchFamily="18" charset="0"/>
                <a:ea typeface="FangSong" panose="02010609060101010101" pitchFamily="49" charset="-122"/>
                <a:cs typeface="Times New Roman" panose="02020603050405020304" pitchFamily="18" charset="0"/>
              </a:rPr>
              <a:t>Protocol </a:t>
            </a:r>
            <a:r>
              <a:rPr lang="de-DE" altLang="zh-CN" sz="2800" i="1" dirty="0" err="1">
                <a:latin typeface="Times New Roman" panose="02020603050405020304" pitchFamily="18" charset="0"/>
                <a:ea typeface="FangSong" panose="02010609060101010101" pitchFamily="49" charset="-122"/>
                <a:cs typeface="Times New Roman" panose="02020603050405020304" pitchFamily="18" charset="0"/>
              </a:rPr>
              <a:t>Perspective</a:t>
            </a:r>
            <a:r>
              <a:rPr lang="de-DE" altLang="zh-CN" sz="2800" i="1" dirty="0">
                <a:latin typeface="Times New Roman" panose="02020603050405020304" pitchFamily="18" charset="0"/>
                <a:ea typeface="FangSong" panose="02010609060101010101" pitchFamily="49" charset="-122"/>
                <a:cs typeface="Times New Roman" panose="02020603050405020304" pitchFamily="18" charset="0"/>
              </a:rPr>
              <a:t> in Natural Language &amp; </a:t>
            </a:r>
            <a:r>
              <a:rPr lang="de-DE" altLang="zh-CN" sz="2800" i="1" dirty="0" err="1">
                <a:latin typeface="Times New Roman" panose="02020603050405020304" pitchFamily="18" charset="0"/>
                <a:ea typeface="FangSong" panose="02010609060101010101" pitchFamily="49" charset="-122"/>
                <a:cs typeface="Times New Roman" panose="02020603050405020304" pitchFamily="18" charset="0"/>
              </a:rPr>
              <a:t>Socio</a:t>
            </a:r>
            <a:r>
              <a:rPr lang="de-DE" altLang="zh-CN" sz="2800" i="1" dirty="0">
                <a:latin typeface="Times New Roman" panose="02020603050405020304" pitchFamily="18" charset="0"/>
                <a:ea typeface="FangSong" panose="02010609060101010101" pitchFamily="49" charset="-122"/>
                <a:cs typeface="Times New Roman" panose="02020603050405020304" pitchFamily="18" charset="0"/>
              </a:rPr>
              <a:t>‐Cultural Communication</a:t>
            </a:r>
            <a:endParaRPr kumimoji="1" lang="zh-CN" altLang="en-US" sz="2800" i="1" dirty="0">
              <a:latin typeface="Times New Roman" panose="02020603050405020304" pitchFamily="18" charset="0"/>
              <a:ea typeface="FangSong" panose="02010609060101010101" pitchFamily="49" charset="-122"/>
              <a:cs typeface="Times New Roman" panose="02020603050405020304" pitchFamily="18" charset="0"/>
            </a:endParaRPr>
          </a:p>
        </p:txBody>
      </p:sp>
      <p:sp>
        <p:nvSpPr>
          <p:cNvPr id="3" name="内容占位符 2">
            <a:extLst>
              <a:ext uri="{FF2B5EF4-FFF2-40B4-BE49-F238E27FC236}">
                <a16:creationId xmlns:a16="http://schemas.microsoft.com/office/drawing/2014/main" id="{D14326FD-5110-A3FC-9FE4-255FD755CB66}"/>
              </a:ext>
            </a:extLst>
          </p:cNvPr>
          <p:cNvSpPr>
            <a:spLocks noGrp="1"/>
          </p:cNvSpPr>
          <p:nvPr>
            <p:ph idx="1"/>
          </p:nvPr>
        </p:nvSpPr>
        <p:spPr/>
        <p:txBody>
          <a:bodyPr/>
          <a:lstStyle/>
          <a:p>
            <a:r>
              <a:rPr lang="de-DE" altLang="zh-CN" dirty="0"/>
              <a:t>In </a:t>
            </a:r>
            <a:r>
              <a:rPr lang="de-DE" altLang="zh-CN" dirty="0" err="1"/>
              <a:t>linguistics</a:t>
            </a:r>
            <a:r>
              <a:rPr lang="de-DE" altLang="zh-CN" dirty="0"/>
              <a:t> and </a:t>
            </a:r>
            <a:r>
              <a:rPr lang="de-DE" altLang="zh-CN" dirty="0" err="1"/>
              <a:t>cross‐cultural</a:t>
            </a:r>
            <a:r>
              <a:rPr lang="de-DE" altLang="zh-CN" dirty="0"/>
              <a:t> </a:t>
            </a:r>
            <a:r>
              <a:rPr lang="de-DE" altLang="zh-CN" dirty="0" err="1"/>
              <a:t>studies</a:t>
            </a:r>
            <a:r>
              <a:rPr lang="de-DE" altLang="zh-CN" dirty="0"/>
              <a:t>, a </a:t>
            </a:r>
            <a:r>
              <a:rPr lang="de-DE" altLang="zh-CN" dirty="0" err="1"/>
              <a:t>protocol</a:t>
            </a:r>
            <a:r>
              <a:rPr lang="de-DE" altLang="zh-CN" dirty="0"/>
              <a:t> </a:t>
            </a:r>
            <a:r>
              <a:rPr lang="de-DE" altLang="zh-CN" dirty="0" err="1"/>
              <a:t>perspective</a:t>
            </a:r>
            <a:r>
              <a:rPr lang="de-DE" altLang="zh-CN" dirty="0"/>
              <a:t> </a:t>
            </a:r>
            <a:r>
              <a:rPr lang="de-DE" altLang="zh-CN" dirty="0" err="1"/>
              <a:t>might</a:t>
            </a:r>
            <a:r>
              <a:rPr lang="zh-CN" altLang="en-US" dirty="0"/>
              <a:t> </a:t>
            </a:r>
            <a:r>
              <a:rPr lang="de-DE" altLang="zh-CN" dirty="0"/>
              <a:t>highlight </a:t>
            </a:r>
            <a:r>
              <a:rPr lang="de-DE" altLang="zh-CN" dirty="0" err="1"/>
              <a:t>the</a:t>
            </a:r>
            <a:r>
              <a:rPr lang="de-DE" altLang="zh-CN" dirty="0"/>
              <a:t> explicit and </a:t>
            </a:r>
            <a:r>
              <a:rPr lang="de-DE" altLang="zh-CN" dirty="0" err="1"/>
              <a:t>implicit</a:t>
            </a:r>
            <a:r>
              <a:rPr lang="de-DE" altLang="zh-CN" dirty="0"/>
              <a:t> </a:t>
            </a:r>
            <a:r>
              <a:rPr lang="de-DE" altLang="zh-CN" dirty="0" err="1"/>
              <a:t>rules</a:t>
            </a:r>
            <a:r>
              <a:rPr lang="de-DE" altLang="zh-CN" dirty="0"/>
              <a:t> </a:t>
            </a:r>
            <a:r>
              <a:rPr lang="de-DE" altLang="zh-CN" dirty="0" err="1"/>
              <a:t>governing</a:t>
            </a:r>
            <a:r>
              <a:rPr lang="de-DE" altLang="zh-CN" dirty="0"/>
              <a:t> </a:t>
            </a:r>
            <a:r>
              <a:rPr lang="de-DE" altLang="zh-CN" dirty="0" err="1"/>
              <a:t>communication</a:t>
            </a:r>
            <a:endParaRPr lang="de-DE" altLang="zh-CN" dirty="0"/>
          </a:p>
          <a:p>
            <a:r>
              <a:rPr lang="de-DE" altLang="zh-CN" dirty="0" err="1"/>
              <a:t>Two</a:t>
            </a:r>
            <a:r>
              <a:rPr lang="zh-CN" altLang="en-US" dirty="0"/>
              <a:t> </a:t>
            </a:r>
            <a:r>
              <a:rPr lang="en-US" altLang="zh-CN" dirty="0"/>
              <a:t>examples</a:t>
            </a:r>
            <a:r>
              <a:rPr lang="zh-CN" altLang="en-US" dirty="0"/>
              <a:t>：</a:t>
            </a:r>
            <a:endParaRPr lang="en-US" altLang="zh-CN" dirty="0"/>
          </a:p>
          <a:p>
            <a:r>
              <a:rPr lang="de-DE" altLang="zh-CN" b="1" dirty="0" err="1"/>
              <a:t>Grice’s</a:t>
            </a:r>
            <a:r>
              <a:rPr lang="de-DE" altLang="zh-CN" b="1" dirty="0"/>
              <a:t> </a:t>
            </a:r>
            <a:r>
              <a:rPr lang="de-DE" altLang="zh-CN" b="1" dirty="0" err="1"/>
              <a:t>Cooperative</a:t>
            </a:r>
            <a:r>
              <a:rPr lang="de-DE" altLang="zh-CN" b="1" dirty="0"/>
              <a:t> </a:t>
            </a:r>
            <a:r>
              <a:rPr lang="de-DE" altLang="zh-CN" b="1" dirty="0" err="1"/>
              <a:t>Principles</a:t>
            </a:r>
            <a:r>
              <a:rPr lang="de-DE" altLang="zh-CN" b="1" dirty="0"/>
              <a:t>:</a:t>
            </a:r>
            <a:r>
              <a:rPr lang="de-DE" altLang="zh-CN" dirty="0"/>
              <a:t> </a:t>
            </a:r>
            <a:r>
              <a:rPr lang="de-DE" altLang="zh-CN" dirty="0" err="1"/>
              <a:t>Quantity</a:t>
            </a:r>
            <a:r>
              <a:rPr lang="de-DE" altLang="zh-CN" dirty="0"/>
              <a:t>, Quality, Relation, and Manner </a:t>
            </a:r>
            <a:r>
              <a:rPr lang="de-DE" altLang="zh-CN" dirty="0" err="1"/>
              <a:t>constitute</a:t>
            </a:r>
            <a:r>
              <a:rPr lang="de-DE" altLang="zh-CN" dirty="0"/>
              <a:t> an </a:t>
            </a:r>
            <a:r>
              <a:rPr lang="de-DE" altLang="zh-CN" dirty="0" err="1"/>
              <a:t>unspoken</a:t>
            </a:r>
            <a:r>
              <a:rPr lang="de-DE" altLang="zh-CN" dirty="0"/>
              <a:t> </a:t>
            </a:r>
            <a:r>
              <a:rPr lang="de-DE" altLang="zh-CN" dirty="0" err="1"/>
              <a:t>conversational</a:t>
            </a:r>
            <a:r>
              <a:rPr lang="de-DE" altLang="zh-CN" dirty="0"/>
              <a:t> </a:t>
            </a:r>
            <a:r>
              <a:rPr lang="de-DE" altLang="zh-CN" dirty="0" err="1"/>
              <a:t>protocol</a:t>
            </a:r>
            <a:r>
              <a:rPr lang="de-DE" altLang="zh-CN" dirty="0"/>
              <a:t>.</a:t>
            </a:r>
          </a:p>
          <a:p>
            <a:r>
              <a:rPr lang="de-DE" altLang="zh-CN" b="1" dirty="0" err="1"/>
              <a:t>Metapragmatic</a:t>
            </a:r>
            <a:r>
              <a:rPr lang="de-DE" altLang="zh-CN" b="1" dirty="0"/>
              <a:t> Awareness:</a:t>
            </a:r>
            <a:r>
              <a:rPr lang="de-DE" altLang="zh-CN" dirty="0"/>
              <a:t> </a:t>
            </a:r>
            <a:r>
              <a:rPr lang="de-DE" altLang="zh-CN" dirty="0" err="1"/>
              <a:t>Our</a:t>
            </a:r>
            <a:r>
              <a:rPr lang="de-DE" altLang="zh-CN" dirty="0"/>
              <a:t> </a:t>
            </a:r>
            <a:r>
              <a:rPr lang="de-DE" altLang="zh-CN" dirty="0" err="1"/>
              <a:t>capacity</a:t>
            </a:r>
            <a:r>
              <a:rPr lang="de-DE" altLang="zh-CN" dirty="0"/>
              <a:t> </a:t>
            </a:r>
            <a:r>
              <a:rPr lang="de-DE" altLang="zh-CN" dirty="0" err="1"/>
              <a:t>to</a:t>
            </a:r>
            <a:r>
              <a:rPr lang="de-DE" altLang="zh-CN" dirty="0"/>
              <a:t> </a:t>
            </a:r>
            <a:r>
              <a:rPr lang="de-DE" altLang="zh-CN" dirty="0" err="1"/>
              <a:t>reflect</a:t>
            </a:r>
            <a:r>
              <a:rPr lang="de-DE" altLang="zh-CN" dirty="0"/>
              <a:t> on </a:t>
            </a:r>
            <a:r>
              <a:rPr lang="de-DE" altLang="zh-CN" dirty="0" err="1"/>
              <a:t>these</a:t>
            </a:r>
            <a:r>
              <a:rPr lang="de-DE" altLang="zh-CN" dirty="0"/>
              <a:t> </a:t>
            </a:r>
            <a:r>
              <a:rPr lang="de-DE" altLang="zh-CN" dirty="0" err="1"/>
              <a:t>rules</a:t>
            </a:r>
            <a:r>
              <a:rPr lang="de-DE" altLang="zh-CN" dirty="0"/>
              <a:t>, </a:t>
            </a:r>
            <a:r>
              <a:rPr lang="de-DE" altLang="zh-CN" dirty="0" err="1"/>
              <a:t>adjust</a:t>
            </a:r>
            <a:r>
              <a:rPr lang="de-DE" altLang="zh-CN" dirty="0"/>
              <a:t> </a:t>
            </a:r>
            <a:r>
              <a:rPr lang="de-DE" altLang="zh-CN" dirty="0" err="1"/>
              <a:t>them</a:t>
            </a:r>
            <a:r>
              <a:rPr lang="de-DE" altLang="zh-CN" dirty="0"/>
              <a:t> </a:t>
            </a:r>
            <a:r>
              <a:rPr lang="de-DE" altLang="zh-CN" dirty="0" err="1"/>
              <a:t>across</a:t>
            </a:r>
            <a:r>
              <a:rPr lang="de-DE" altLang="zh-CN" dirty="0"/>
              <a:t> </a:t>
            </a:r>
            <a:r>
              <a:rPr lang="de-DE" altLang="zh-CN" dirty="0" err="1"/>
              <a:t>contexts</a:t>
            </a:r>
            <a:r>
              <a:rPr lang="de-DE" altLang="zh-CN" dirty="0"/>
              <a:t>, and </a:t>
            </a:r>
            <a:r>
              <a:rPr lang="de-DE" altLang="zh-CN" dirty="0" err="1"/>
              <a:t>negotiate</a:t>
            </a:r>
            <a:r>
              <a:rPr lang="de-DE" altLang="zh-CN" dirty="0"/>
              <a:t> </a:t>
            </a:r>
            <a:r>
              <a:rPr lang="de-DE" altLang="zh-CN" dirty="0" err="1"/>
              <a:t>new</a:t>
            </a:r>
            <a:r>
              <a:rPr lang="de-DE" altLang="zh-CN" dirty="0"/>
              <a:t> </a:t>
            </a:r>
            <a:r>
              <a:rPr lang="de-DE" altLang="zh-CN" dirty="0" err="1"/>
              <a:t>interaction</a:t>
            </a:r>
            <a:r>
              <a:rPr lang="de-DE" altLang="zh-CN" dirty="0"/>
              <a:t> </a:t>
            </a:r>
            <a:r>
              <a:rPr lang="de-DE" altLang="zh-CN" dirty="0" err="1"/>
              <a:t>protocols</a:t>
            </a:r>
            <a:r>
              <a:rPr lang="de-DE" altLang="zh-CN" dirty="0"/>
              <a:t>.</a:t>
            </a:r>
          </a:p>
          <a:p>
            <a:endParaRPr kumimoji="1" lang="zh-CN" altLang="en-US" dirty="0"/>
          </a:p>
        </p:txBody>
      </p:sp>
      <p:sp>
        <p:nvSpPr>
          <p:cNvPr id="4" name="文本框 3">
            <a:extLst>
              <a:ext uri="{FF2B5EF4-FFF2-40B4-BE49-F238E27FC236}">
                <a16:creationId xmlns:a16="http://schemas.microsoft.com/office/drawing/2014/main" id="{38804810-237B-0C7A-6FF3-F17768239C80}"/>
              </a:ext>
            </a:extLst>
          </p:cNvPr>
          <p:cNvSpPr txBox="1"/>
          <p:nvPr/>
        </p:nvSpPr>
        <p:spPr>
          <a:xfrm>
            <a:off x="2255060" y="1791730"/>
            <a:ext cx="766119" cy="369332"/>
          </a:xfrm>
          <a:prstGeom prst="rect">
            <a:avLst/>
          </a:prstGeom>
          <a:noFill/>
        </p:spPr>
        <p:txBody>
          <a:bodyPr wrap="square" rtlCol="0">
            <a:spAutoFit/>
          </a:bodyPr>
          <a:lstStyle/>
          <a:p>
            <a:r>
              <a:rPr kumimoji="1" lang="en-US" altLang="zh-CN">
                <a:solidFill>
                  <a:schemeClr val="bg1"/>
                </a:solidFill>
              </a:rPr>
              <a:t>【2】</a:t>
            </a:r>
            <a:endParaRPr kumimoji="1" lang="zh-CN" altLang="en-US">
              <a:solidFill>
                <a:schemeClr val="bg1"/>
              </a:solidFill>
            </a:endParaRPr>
          </a:p>
        </p:txBody>
      </p:sp>
    </p:spTree>
    <p:extLst>
      <p:ext uri="{BB962C8B-B14F-4D97-AF65-F5344CB8AC3E}">
        <p14:creationId xmlns:p14="http://schemas.microsoft.com/office/powerpoint/2010/main" val="794341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9E408-80ED-A25C-539D-56BBFF4149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51C1FA-68E6-DA37-AD36-84E918E7E2BB}"/>
              </a:ext>
            </a:extLst>
          </p:cNvPr>
          <p:cNvSpPr>
            <a:spLocks noGrp="1"/>
          </p:cNvSpPr>
          <p:nvPr>
            <p:ph type="title"/>
          </p:nvPr>
        </p:nvSpPr>
        <p:spPr/>
        <p:txBody>
          <a:bodyPr>
            <a:noAutofit/>
          </a:bodyPr>
          <a:lstStyle/>
          <a:p>
            <a:r>
              <a:rPr lang="de-DE" altLang="zh-CN" sz="2800" i="1">
                <a:latin typeface="Times New Roman" panose="02020603050405020304" pitchFamily="18" charset="0"/>
                <a:ea typeface="FangSong" panose="02010609060101010101" pitchFamily="49" charset="-122"/>
                <a:cs typeface="Times New Roman" panose="02020603050405020304" pitchFamily="18" charset="0"/>
              </a:rPr>
              <a:t>Protocol </a:t>
            </a:r>
            <a:r>
              <a:rPr lang="de-DE" altLang="zh-CN" sz="2800" i="1" err="1">
                <a:latin typeface="Times New Roman" panose="02020603050405020304" pitchFamily="18" charset="0"/>
                <a:ea typeface="FangSong" panose="02010609060101010101" pitchFamily="49" charset="-122"/>
                <a:cs typeface="Times New Roman" panose="02020603050405020304" pitchFamily="18" charset="0"/>
              </a:rPr>
              <a:t>Perspective</a:t>
            </a:r>
            <a:r>
              <a:rPr lang="de-DE" altLang="zh-CN" sz="2800" i="1">
                <a:latin typeface="Times New Roman" panose="02020603050405020304" pitchFamily="18" charset="0"/>
                <a:ea typeface="FangSong" panose="02010609060101010101" pitchFamily="49" charset="-122"/>
                <a:cs typeface="Times New Roman" panose="02020603050405020304" pitchFamily="18" charset="0"/>
              </a:rPr>
              <a:t> in Natural Language &amp; </a:t>
            </a:r>
            <a:r>
              <a:rPr lang="de-DE" altLang="zh-CN" sz="2800" i="1" err="1">
                <a:latin typeface="Times New Roman" panose="02020603050405020304" pitchFamily="18" charset="0"/>
                <a:ea typeface="FangSong" panose="02010609060101010101" pitchFamily="49" charset="-122"/>
                <a:cs typeface="Times New Roman" panose="02020603050405020304" pitchFamily="18" charset="0"/>
              </a:rPr>
              <a:t>Socio</a:t>
            </a:r>
            <a:r>
              <a:rPr lang="de-DE" altLang="zh-CN" sz="2800" i="1">
                <a:latin typeface="Times New Roman" panose="02020603050405020304" pitchFamily="18" charset="0"/>
                <a:ea typeface="FangSong" panose="02010609060101010101" pitchFamily="49" charset="-122"/>
                <a:cs typeface="Times New Roman" panose="02020603050405020304" pitchFamily="18" charset="0"/>
              </a:rPr>
              <a:t>‐Cultural Communication</a:t>
            </a:r>
            <a:endParaRPr kumimoji="1" lang="zh-CN" altLang="en-US" sz="2800"/>
          </a:p>
        </p:txBody>
      </p:sp>
      <p:sp>
        <p:nvSpPr>
          <p:cNvPr id="3" name="内容占位符 2">
            <a:extLst>
              <a:ext uri="{FF2B5EF4-FFF2-40B4-BE49-F238E27FC236}">
                <a16:creationId xmlns:a16="http://schemas.microsoft.com/office/drawing/2014/main" id="{6F9C159C-0ADA-95C4-FCF3-AC4F056F178C}"/>
              </a:ext>
            </a:extLst>
          </p:cNvPr>
          <p:cNvSpPr>
            <a:spLocks noGrp="1"/>
          </p:cNvSpPr>
          <p:nvPr>
            <p:ph idx="1"/>
          </p:nvPr>
        </p:nvSpPr>
        <p:spPr/>
        <p:txBody>
          <a:bodyPr/>
          <a:lstStyle/>
          <a:p>
            <a:r>
              <a:rPr lang="de-DE" altLang="zh-CN" b="1" dirty="0"/>
              <a:t>Cross‐Cultural </a:t>
            </a:r>
            <a:r>
              <a:rPr lang="de-DE" altLang="zh-CN" b="1" dirty="0" err="1"/>
              <a:t>Example</a:t>
            </a:r>
            <a:r>
              <a:rPr lang="de-DE" altLang="zh-CN" b="1" dirty="0"/>
              <a:t>:</a:t>
            </a:r>
            <a:endParaRPr lang="de-DE" altLang="zh-CN" dirty="0"/>
          </a:p>
          <a:p>
            <a:r>
              <a:rPr lang="de-DE" altLang="zh-CN" dirty="0"/>
              <a:t>In </a:t>
            </a:r>
            <a:r>
              <a:rPr lang="de-DE" altLang="zh-CN" dirty="0" err="1"/>
              <a:t>the</a:t>
            </a:r>
            <a:r>
              <a:rPr lang="de-DE" altLang="zh-CN" dirty="0"/>
              <a:t> U.S., a firm </a:t>
            </a:r>
            <a:r>
              <a:rPr lang="de-DE" altLang="zh-CN" dirty="0" err="1"/>
              <a:t>handshake</a:t>
            </a:r>
            <a:r>
              <a:rPr lang="de-DE" altLang="zh-CN" dirty="0"/>
              <a:t> </a:t>
            </a:r>
            <a:r>
              <a:rPr lang="de-DE" altLang="zh-CN" dirty="0" err="1"/>
              <a:t>signals</a:t>
            </a:r>
            <a:r>
              <a:rPr lang="de-DE" altLang="zh-CN" dirty="0"/>
              <a:t> mutual </a:t>
            </a:r>
            <a:r>
              <a:rPr lang="de-DE" altLang="zh-CN" dirty="0" err="1"/>
              <a:t>respect</a:t>
            </a:r>
            <a:r>
              <a:rPr lang="de-DE" altLang="zh-CN" dirty="0"/>
              <a:t>;</a:t>
            </a:r>
          </a:p>
          <a:p>
            <a:r>
              <a:rPr lang="de-DE" altLang="zh-CN" dirty="0"/>
              <a:t>In Japan, a </a:t>
            </a:r>
            <a:r>
              <a:rPr lang="de-DE" altLang="zh-CN" dirty="0" err="1"/>
              <a:t>bow</a:t>
            </a:r>
            <a:r>
              <a:rPr lang="de-DE" altLang="zh-CN" dirty="0"/>
              <a:t> (</a:t>
            </a:r>
            <a:r>
              <a:rPr lang="ja-JP" altLang="en-US"/>
              <a:t>お</a:t>
            </a:r>
            <a:r>
              <a:rPr lang="zh-CN" altLang="en-US" dirty="0"/>
              <a:t>辞儀</a:t>
            </a:r>
            <a:r>
              <a:rPr lang="en-US" altLang="zh-CN" dirty="0"/>
              <a:t>) </a:t>
            </a:r>
            <a:r>
              <a:rPr lang="de-DE" altLang="zh-CN" dirty="0" err="1"/>
              <a:t>encodes</a:t>
            </a:r>
            <a:r>
              <a:rPr lang="de-DE" altLang="zh-CN" dirty="0"/>
              <a:t> social </a:t>
            </a:r>
            <a:r>
              <a:rPr lang="de-DE" altLang="zh-CN" dirty="0" err="1"/>
              <a:t>hierarchy</a:t>
            </a:r>
            <a:r>
              <a:rPr lang="de-DE" altLang="zh-CN" dirty="0"/>
              <a:t> and emotional </a:t>
            </a:r>
            <a:r>
              <a:rPr lang="de-DE" altLang="zh-CN" dirty="0" err="1"/>
              <a:t>distance</a:t>
            </a:r>
            <a:r>
              <a:rPr lang="de-DE" altLang="zh-CN" dirty="0"/>
              <a:t>.</a:t>
            </a:r>
          </a:p>
          <a:p>
            <a:r>
              <a:rPr lang="de-DE" altLang="zh-CN" dirty="0" err="1"/>
              <a:t>Sometimes</a:t>
            </a:r>
            <a:r>
              <a:rPr lang="zh-CN" altLang="en-US" dirty="0"/>
              <a:t> </a:t>
            </a:r>
            <a:r>
              <a:rPr lang="de-DE" altLang="zh-CN" dirty="0" err="1"/>
              <a:t>the</a:t>
            </a:r>
            <a:r>
              <a:rPr lang="de-DE" altLang="zh-CN" dirty="0"/>
              <a:t> same </a:t>
            </a:r>
            <a:r>
              <a:rPr lang="de-DE" altLang="zh-CN" dirty="0" err="1"/>
              <a:t>gesture</a:t>
            </a:r>
            <a:r>
              <a:rPr lang="de-DE" altLang="zh-CN" dirty="0"/>
              <a:t> </a:t>
            </a:r>
            <a:r>
              <a:rPr lang="de-DE" altLang="zh-CN" dirty="0" err="1"/>
              <a:t>embodies</a:t>
            </a:r>
            <a:r>
              <a:rPr lang="de-DE" altLang="zh-CN" dirty="0"/>
              <a:t> </a:t>
            </a:r>
            <a:r>
              <a:rPr lang="de-DE" altLang="zh-CN" dirty="0" err="1"/>
              <a:t>very</a:t>
            </a:r>
            <a:r>
              <a:rPr lang="de-DE" altLang="zh-CN" dirty="0"/>
              <a:t> different </a:t>
            </a:r>
            <a:r>
              <a:rPr lang="de-DE" altLang="zh-CN" dirty="0" err="1"/>
              <a:t>protocols</a:t>
            </a:r>
            <a:r>
              <a:rPr lang="de-DE" altLang="zh-CN" dirty="0"/>
              <a:t>, </a:t>
            </a:r>
            <a:r>
              <a:rPr lang="de-DE" altLang="zh-CN" dirty="0" err="1"/>
              <a:t>shaping</a:t>
            </a:r>
            <a:r>
              <a:rPr lang="de-DE" altLang="zh-CN" dirty="0"/>
              <a:t> relational </a:t>
            </a:r>
            <a:r>
              <a:rPr lang="de-DE" altLang="zh-CN" dirty="0" err="1"/>
              <a:t>dynamics</a:t>
            </a:r>
            <a:r>
              <a:rPr lang="de-DE" altLang="zh-CN" dirty="0"/>
              <a:t> and </a:t>
            </a:r>
            <a:r>
              <a:rPr lang="de-DE" altLang="zh-CN" dirty="0" err="1"/>
              <a:t>meaning‐making</a:t>
            </a:r>
            <a:r>
              <a:rPr lang="de-DE" altLang="zh-CN" dirty="0"/>
              <a:t>.</a:t>
            </a:r>
          </a:p>
          <a:p>
            <a:r>
              <a:rPr lang="de-DE" altLang="zh-CN" dirty="0" err="1"/>
              <a:t>observations</a:t>
            </a:r>
            <a:r>
              <a:rPr lang="de-DE" altLang="zh-CN" dirty="0"/>
              <a:t> </a:t>
            </a:r>
            <a:r>
              <a:rPr lang="de-DE" altLang="zh-CN" dirty="0" err="1"/>
              <a:t>about</a:t>
            </a:r>
            <a:r>
              <a:rPr lang="de-DE" altLang="zh-CN" dirty="0"/>
              <a:t> </a:t>
            </a:r>
            <a:r>
              <a:rPr lang="de-DE" altLang="zh-CN" dirty="0" err="1"/>
              <a:t>nodding</a:t>
            </a:r>
            <a:endParaRPr lang="de-DE" altLang="zh-CN" dirty="0"/>
          </a:p>
          <a:p>
            <a:endParaRPr kumimoji="1" lang="zh-CN" altLang="en-US" dirty="0"/>
          </a:p>
        </p:txBody>
      </p:sp>
      <p:sp>
        <p:nvSpPr>
          <p:cNvPr id="4" name="文本框 3">
            <a:extLst>
              <a:ext uri="{FF2B5EF4-FFF2-40B4-BE49-F238E27FC236}">
                <a16:creationId xmlns:a16="http://schemas.microsoft.com/office/drawing/2014/main" id="{A6587145-B189-BD8E-5357-8AC21A5A9949}"/>
              </a:ext>
            </a:extLst>
          </p:cNvPr>
          <p:cNvSpPr txBox="1"/>
          <p:nvPr/>
        </p:nvSpPr>
        <p:spPr>
          <a:xfrm>
            <a:off x="2255060" y="1791730"/>
            <a:ext cx="766119" cy="369332"/>
          </a:xfrm>
          <a:prstGeom prst="rect">
            <a:avLst/>
          </a:prstGeom>
          <a:noFill/>
        </p:spPr>
        <p:txBody>
          <a:bodyPr wrap="square" rtlCol="0">
            <a:spAutoFit/>
          </a:bodyPr>
          <a:lstStyle/>
          <a:p>
            <a:r>
              <a:rPr kumimoji="1" lang="en-US" altLang="zh-CN">
                <a:solidFill>
                  <a:schemeClr val="bg1"/>
                </a:solidFill>
              </a:rPr>
              <a:t>【2】</a:t>
            </a:r>
            <a:endParaRPr kumimoji="1" lang="zh-CN" altLang="en-US">
              <a:solidFill>
                <a:schemeClr val="bg1"/>
              </a:solidFill>
            </a:endParaRPr>
          </a:p>
        </p:txBody>
      </p:sp>
    </p:spTree>
    <p:extLst>
      <p:ext uri="{BB962C8B-B14F-4D97-AF65-F5344CB8AC3E}">
        <p14:creationId xmlns:p14="http://schemas.microsoft.com/office/powerpoint/2010/main" val="4013597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B72BE-E2DB-F4BE-87D0-8B05D8F2928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7EFBFF5-6157-175B-3572-CB0427969420}"/>
              </a:ext>
            </a:extLst>
          </p:cNvPr>
          <p:cNvSpPr>
            <a:spLocks noGrp="1"/>
          </p:cNvSpPr>
          <p:nvPr>
            <p:ph type="title"/>
          </p:nvPr>
        </p:nvSpPr>
        <p:spPr/>
        <p:txBody>
          <a:bodyPr>
            <a:noAutofit/>
          </a:bodyPr>
          <a:lstStyle/>
          <a:p>
            <a:r>
              <a:rPr lang="de-DE" altLang="zh-CN" sz="2800" i="1">
                <a:latin typeface="Times New Roman" panose="02020603050405020304" pitchFamily="18" charset="0"/>
                <a:ea typeface="FangSong" panose="02010609060101010101" pitchFamily="49" charset="-122"/>
                <a:cs typeface="Times New Roman" panose="02020603050405020304" pitchFamily="18" charset="0"/>
              </a:rPr>
              <a:t>Protocol </a:t>
            </a:r>
            <a:r>
              <a:rPr lang="de-DE" altLang="zh-CN" sz="2800" i="1" err="1">
                <a:latin typeface="Times New Roman" panose="02020603050405020304" pitchFamily="18" charset="0"/>
                <a:ea typeface="FangSong" panose="02010609060101010101" pitchFamily="49" charset="-122"/>
                <a:cs typeface="Times New Roman" panose="02020603050405020304" pitchFamily="18" charset="0"/>
              </a:rPr>
              <a:t>Perspective</a:t>
            </a:r>
            <a:r>
              <a:rPr lang="de-DE" altLang="zh-CN" sz="2800" i="1">
                <a:latin typeface="Times New Roman" panose="02020603050405020304" pitchFamily="18" charset="0"/>
                <a:ea typeface="FangSong" panose="02010609060101010101" pitchFamily="49" charset="-122"/>
                <a:cs typeface="Times New Roman" panose="02020603050405020304" pitchFamily="18" charset="0"/>
              </a:rPr>
              <a:t> in Natural Language &amp; </a:t>
            </a:r>
            <a:r>
              <a:rPr lang="de-DE" altLang="zh-CN" sz="2800" i="1" err="1">
                <a:latin typeface="Times New Roman" panose="02020603050405020304" pitchFamily="18" charset="0"/>
                <a:ea typeface="FangSong" panose="02010609060101010101" pitchFamily="49" charset="-122"/>
                <a:cs typeface="Times New Roman" panose="02020603050405020304" pitchFamily="18" charset="0"/>
              </a:rPr>
              <a:t>Socio</a:t>
            </a:r>
            <a:r>
              <a:rPr lang="de-DE" altLang="zh-CN" sz="2800" i="1">
                <a:latin typeface="Times New Roman" panose="02020603050405020304" pitchFamily="18" charset="0"/>
                <a:ea typeface="FangSong" panose="02010609060101010101" pitchFamily="49" charset="-122"/>
                <a:cs typeface="Times New Roman" panose="02020603050405020304" pitchFamily="18" charset="0"/>
              </a:rPr>
              <a:t>‐Cultural Communication</a:t>
            </a:r>
            <a:endParaRPr kumimoji="1" lang="zh-CN" altLang="en-US" sz="2800"/>
          </a:p>
        </p:txBody>
      </p:sp>
      <p:sp>
        <p:nvSpPr>
          <p:cNvPr id="3" name="内容占位符 2">
            <a:extLst>
              <a:ext uri="{FF2B5EF4-FFF2-40B4-BE49-F238E27FC236}">
                <a16:creationId xmlns:a16="http://schemas.microsoft.com/office/drawing/2014/main" id="{1E4F0A7D-1805-2EE0-0F95-64F0BC6A910A}"/>
              </a:ext>
            </a:extLst>
          </p:cNvPr>
          <p:cNvSpPr>
            <a:spLocks noGrp="1"/>
          </p:cNvSpPr>
          <p:nvPr>
            <p:ph idx="1"/>
          </p:nvPr>
        </p:nvSpPr>
        <p:spPr/>
        <p:txBody>
          <a:bodyPr/>
          <a:lstStyle/>
          <a:p>
            <a:r>
              <a:rPr lang="de-DE" altLang="zh-CN" b="1" dirty="0" err="1"/>
              <a:t>Why</a:t>
            </a:r>
            <a:r>
              <a:rPr lang="de-DE" altLang="zh-CN" b="1" dirty="0"/>
              <a:t> This Matters</a:t>
            </a:r>
            <a:endParaRPr lang="de-DE" altLang="zh-CN" dirty="0"/>
          </a:p>
          <a:p>
            <a:r>
              <a:rPr lang="de-DE" altLang="zh-CN" dirty="0" err="1"/>
              <a:t>We</a:t>
            </a:r>
            <a:r>
              <a:rPr lang="de-DE" altLang="zh-CN" dirty="0"/>
              <a:t> </a:t>
            </a:r>
            <a:r>
              <a:rPr lang="de-DE" altLang="zh-CN" dirty="0" err="1"/>
              <a:t>deconstruct</a:t>
            </a:r>
            <a:r>
              <a:rPr lang="de-DE" altLang="zh-CN" dirty="0"/>
              <a:t> not just </a:t>
            </a:r>
            <a:r>
              <a:rPr lang="de-DE" altLang="zh-CN" dirty="0" err="1"/>
              <a:t>grammar</a:t>
            </a:r>
            <a:r>
              <a:rPr lang="de-DE" altLang="zh-CN" dirty="0"/>
              <a:t> but </a:t>
            </a:r>
            <a:r>
              <a:rPr lang="de-DE" altLang="zh-CN" dirty="0" err="1"/>
              <a:t>hidden</a:t>
            </a:r>
            <a:r>
              <a:rPr lang="de-DE" altLang="zh-CN" dirty="0"/>
              <a:t> </a:t>
            </a:r>
            <a:r>
              <a:rPr lang="de-DE" altLang="zh-CN" dirty="0" err="1"/>
              <a:t>pragmatic</a:t>
            </a:r>
            <a:r>
              <a:rPr lang="de-DE" altLang="zh-CN" dirty="0"/>
              <a:t> </a:t>
            </a:r>
            <a:r>
              <a:rPr lang="de-DE" altLang="zh-CN" dirty="0" err="1"/>
              <a:t>strategies</a:t>
            </a:r>
            <a:r>
              <a:rPr lang="de-DE" altLang="zh-CN" dirty="0"/>
              <a:t> (e.g., </a:t>
            </a:r>
            <a:r>
              <a:rPr lang="de-DE" altLang="zh-CN" dirty="0" err="1"/>
              <a:t>face‐saving</a:t>
            </a:r>
            <a:r>
              <a:rPr lang="de-DE" altLang="zh-CN" dirty="0"/>
              <a:t>, </a:t>
            </a:r>
            <a:r>
              <a:rPr lang="de-DE" altLang="zh-CN" dirty="0" err="1"/>
              <a:t>indirectness</a:t>
            </a:r>
            <a:r>
              <a:rPr lang="de-DE" altLang="zh-CN" dirty="0"/>
              <a:t>).</a:t>
            </a:r>
          </a:p>
          <a:p>
            <a:r>
              <a:rPr lang="de-DE" altLang="zh-CN" dirty="0" err="1"/>
              <a:t>We</a:t>
            </a:r>
            <a:r>
              <a:rPr lang="de-DE" altLang="zh-CN" dirty="0"/>
              <a:t> </a:t>
            </a:r>
            <a:r>
              <a:rPr lang="de-DE" altLang="zh-CN" dirty="0" err="1"/>
              <a:t>see</a:t>
            </a:r>
            <a:r>
              <a:rPr lang="de-DE" altLang="zh-CN" dirty="0"/>
              <a:t> </a:t>
            </a:r>
            <a:r>
              <a:rPr lang="de-DE" altLang="zh-CN" dirty="0" err="1"/>
              <a:t>protocols</a:t>
            </a:r>
            <a:r>
              <a:rPr lang="de-DE" altLang="zh-CN" dirty="0"/>
              <a:t> </a:t>
            </a:r>
            <a:r>
              <a:rPr lang="de-DE" altLang="zh-CN" dirty="0" err="1"/>
              <a:t>as</a:t>
            </a:r>
            <a:r>
              <a:rPr lang="de-DE" altLang="zh-CN" dirty="0"/>
              <a:t> </a:t>
            </a:r>
            <a:r>
              <a:rPr lang="de-DE" altLang="zh-CN" dirty="0" err="1"/>
              <a:t>dynamic</a:t>
            </a:r>
            <a:r>
              <a:rPr lang="de-DE" altLang="zh-CN" dirty="0"/>
              <a:t>—</a:t>
            </a:r>
            <a:r>
              <a:rPr lang="de-DE" altLang="zh-CN" dirty="0" err="1"/>
              <a:t>negotiable</a:t>
            </a:r>
            <a:r>
              <a:rPr lang="de-DE" altLang="zh-CN" dirty="0"/>
              <a:t> and mutable in </a:t>
            </a:r>
            <a:r>
              <a:rPr lang="de-DE" altLang="zh-CN" dirty="0" err="1"/>
              <a:t>intercultural</a:t>
            </a:r>
            <a:r>
              <a:rPr lang="de-DE" altLang="zh-CN" dirty="0"/>
              <a:t> </a:t>
            </a:r>
            <a:r>
              <a:rPr lang="de-DE" altLang="zh-CN" dirty="0" err="1"/>
              <a:t>exchange</a:t>
            </a:r>
            <a:r>
              <a:rPr lang="de-DE" altLang="zh-CN" dirty="0"/>
              <a:t>.</a:t>
            </a:r>
          </a:p>
          <a:p>
            <a:r>
              <a:rPr lang="de-DE" altLang="zh-CN" dirty="0" err="1"/>
              <a:t>We</a:t>
            </a:r>
            <a:r>
              <a:rPr lang="de-DE" altLang="zh-CN" dirty="0"/>
              <a:t> </a:t>
            </a:r>
            <a:r>
              <a:rPr lang="de-DE" altLang="zh-CN" dirty="0" err="1"/>
              <a:t>integrate</a:t>
            </a:r>
            <a:r>
              <a:rPr lang="de-DE" altLang="zh-CN" dirty="0"/>
              <a:t> digital </a:t>
            </a:r>
            <a:r>
              <a:rPr lang="de-DE" altLang="zh-CN" dirty="0" err="1"/>
              <a:t>protocols</a:t>
            </a:r>
            <a:r>
              <a:rPr lang="de-DE" altLang="zh-CN" dirty="0"/>
              <a:t> (</a:t>
            </a:r>
            <a:r>
              <a:rPr lang="de-DE" altLang="zh-CN" dirty="0" err="1"/>
              <a:t>emoji</a:t>
            </a:r>
            <a:r>
              <a:rPr lang="de-DE" altLang="zh-CN" dirty="0"/>
              <a:t>, </a:t>
            </a:r>
            <a:r>
              <a:rPr lang="de-DE" altLang="zh-CN" dirty="0" err="1"/>
              <a:t>reaction</a:t>
            </a:r>
            <a:r>
              <a:rPr lang="de-DE" altLang="zh-CN" dirty="0"/>
              <a:t> </a:t>
            </a:r>
            <a:r>
              <a:rPr lang="de-DE" altLang="zh-CN" dirty="0" err="1"/>
              <a:t>buttons</a:t>
            </a:r>
            <a:r>
              <a:rPr lang="de-DE" altLang="zh-CN" dirty="0"/>
              <a:t>) </a:t>
            </a:r>
            <a:r>
              <a:rPr lang="de-DE" altLang="zh-CN" dirty="0" err="1"/>
              <a:t>reshaping</a:t>
            </a:r>
            <a:r>
              <a:rPr lang="de-DE" altLang="zh-CN" dirty="0"/>
              <a:t> online </a:t>
            </a:r>
            <a:r>
              <a:rPr lang="de-DE" altLang="zh-CN" dirty="0" err="1"/>
              <a:t>discourse</a:t>
            </a:r>
            <a:r>
              <a:rPr lang="de-DE" altLang="zh-CN" dirty="0"/>
              <a:t>.</a:t>
            </a:r>
          </a:p>
          <a:p>
            <a:endParaRPr kumimoji="1" lang="zh-CN" altLang="en-US" dirty="0"/>
          </a:p>
        </p:txBody>
      </p:sp>
      <p:sp>
        <p:nvSpPr>
          <p:cNvPr id="5" name="文本框 4">
            <a:extLst>
              <a:ext uri="{FF2B5EF4-FFF2-40B4-BE49-F238E27FC236}">
                <a16:creationId xmlns:a16="http://schemas.microsoft.com/office/drawing/2014/main" id="{89B3CC33-DA7D-9086-5CF7-BE273A4140E9}"/>
              </a:ext>
            </a:extLst>
          </p:cNvPr>
          <p:cNvSpPr txBox="1"/>
          <p:nvPr/>
        </p:nvSpPr>
        <p:spPr>
          <a:xfrm>
            <a:off x="2258198" y="1755344"/>
            <a:ext cx="769207" cy="369332"/>
          </a:xfrm>
          <a:prstGeom prst="rect">
            <a:avLst/>
          </a:prstGeom>
          <a:noFill/>
        </p:spPr>
        <p:txBody>
          <a:bodyPr wrap="square">
            <a:spAutoFit/>
          </a:bodyPr>
          <a:lstStyle/>
          <a:p>
            <a:r>
              <a:rPr kumimoji="1" lang="en-US" altLang="zh-CN">
                <a:solidFill>
                  <a:schemeClr val="bg1"/>
                </a:solidFill>
              </a:rPr>
              <a:t>【2】</a:t>
            </a:r>
            <a:endParaRPr kumimoji="1" lang="zh-CN" altLang="en-US">
              <a:solidFill>
                <a:schemeClr val="bg1"/>
              </a:solidFill>
            </a:endParaRPr>
          </a:p>
        </p:txBody>
      </p:sp>
    </p:spTree>
    <p:extLst>
      <p:ext uri="{BB962C8B-B14F-4D97-AF65-F5344CB8AC3E}">
        <p14:creationId xmlns:p14="http://schemas.microsoft.com/office/powerpoint/2010/main" val="1362735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30101-52AE-EDC7-F3B7-CFC5879E2CE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E0C86BE-A877-6740-D0FD-7595A010E6DC}"/>
              </a:ext>
            </a:extLst>
          </p:cNvPr>
          <p:cNvSpPr>
            <a:spLocks noGrp="1"/>
          </p:cNvSpPr>
          <p:nvPr>
            <p:ph type="title"/>
          </p:nvPr>
        </p:nvSpPr>
        <p:spPr/>
        <p:txBody>
          <a:bodyPr>
            <a:normAutofit/>
          </a:bodyPr>
          <a:lstStyle/>
          <a:p>
            <a:r>
              <a:rPr kumimoji="1" lang="en-US" altLang="zh-CN" sz="3200" i="1">
                <a:latin typeface="Times New Roman" panose="02020603050405020304" pitchFamily="18" charset="0"/>
                <a:cs typeface="Times New Roman" panose="02020603050405020304" pitchFamily="18" charset="0"/>
              </a:rPr>
              <a:t>Understanding</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Civilization</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from</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protocol</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perspective</a:t>
            </a:r>
            <a:endParaRPr kumimoji="1" lang="zh-CN" altLang="en-US" sz="3200" i="1">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17595385-C636-22D7-A604-B68B27151D7B}"/>
              </a:ext>
            </a:extLst>
          </p:cNvPr>
          <p:cNvSpPr>
            <a:spLocks noGrp="1"/>
          </p:cNvSpPr>
          <p:nvPr>
            <p:ph idx="1"/>
          </p:nvPr>
        </p:nvSpPr>
        <p:spPr/>
        <p:txBody>
          <a:bodyPr/>
          <a:lstStyle/>
          <a:p>
            <a:r>
              <a:rPr lang="de-DE" altLang="zh-CN" dirty="0" err="1"/>
              <a:t>Broadly</a:t>
            </a:r>
            <a:r>
              <a:rPr lang="de-DE" altLang="zh-CN" dirty="0"/>
              <a:t> </a:t>
            </a:r>
            <a:r>
              <a:rPr lang="de-DE" altLang="zh-CN" dirty="0" err="1"/>
              <a:t>speaking</a:t>
            </a:r>
            <a:r>
              <a:rPr lang="de-DE" altLang="zh-CN" dirty="0"/>
              <a:t>, </a:t>
            </a:r>
            <a:r>
              <a:rPr lang="de-DE" altLang="zh-CN" dirty="0" err="1"/>
              <a:t>civilizations</a:t>
            </a:r>
            <a:r>
              <a:rPr lang="de-DE" altLang="zh-CN" dirty="0"/>
              <a:t> </a:t>
            </a:r>
            <a:r>
              <a:rPr lang="de-DE" altLang="zh-CN" dirty="0" err="1"/>
              <a:t>rise</a:t>
            </a:r>
            <a:r>
              <a:rPr lang="de-DE" altLang="zh-CN" dirty="0"/>
              <a:t> and fall </a:t>
            </a:r>
            <a:r>
              <a:rPr lang="de-DE" altLang="zh-CN" dirty="0" err="1"/>
              <a:t>through</a:t>
            </a:r>
            <a:r>
              <a:rPr lang="de-DE" altLang="zh-CN" dirty="0"/>
              <a:t> </a:t>
            </a:r>
            <a:r>
              <a:rPr lang="de-DE" altLang="zh-CN" dirty="0" err="1"/>
              <a:t>protocolization</a:t>
            </a:r>
            <a:r>
              <a:rPr lang="de-DE" altLang="zh-CN" dirty="0"/>
              <a:t> </a:t>
            </a:r>
            <a:r>
              <a:rPr lang="de-DE" altLang="zh-CN" dirty="0" err="1"/>
              <a:t>processes</a:t>
            </a:r>
            <a:r>
              <a:rPr lang="de-DE" altLang="zh-CN" dirty="0"/>
              <a:t>.</a:t>
            </a:r>
          </a:p>
          <a:p>
            <a:endParaRPr lang="de-DE" altLang="zh-CN" dirty="0"/>
          </a:p>
          <a:p>
            <a:endParaRPr kumimoji="1" lang="zh-CN" altLang="en-US" dirty="0"/>
          </a:p>
        </p:txBody>
      </p:sp>
      <p:sp>
        <p:nvSpPr>
          <p:cNvPr id="5" name="文本框 4">
            <a:extLst>
              <a:ext uri="{FF2B5EF4-FFF2-40B4-BE49-F238E27FC236}">
                <a16:creationId xmlns:a16="http://schemas.microsoft.com/office/drawing/2014/main" id="{81308674-4FF1-2125-602E-63E0E1560BEA}"/>
              </a:ext>
            </a:extLst>
          </p:cNvPr>
          <p:cNvSpPr txBox="1"/>
          <p:nvPr/>
        </p:nvSpPr>
        <p:spPr>
          <a:xfrm>
            <a:off x="2254507" y="1755344"/>
            <a:ext cx="767226" cy="369332"/>
          </a:xfrm>
          <a:prstGeom prst="rect">
            <a:avLst/>
          </a:prstGeom>
          <a:noFill/>
        </p:spPr>
        <p:txBody>
          <a:bodyPr wrap="square">
            <a:spAutoFit/>
          </a:bodyPr>
          <a:lstStyle/>
          <a:p>
            <a:r>
              <a:rPr kumimoji="1" lang="en-US" altLang="zh-CN">
                <a:solidFill>
                  <a:schemeClr val="bg1"/>
                </a:solidFill>
              </a:rPr>
              <a:t>【3】</a:t>
            </a:r>
            <a:endParaRPr kumimoji="1" lang="zh-CN" altLang="en-US">
              <a:solidFill>
                <a:schemeClr val="bg1"/>
              </a:solidFill>
            </a:endParaRPr>
          </a:p>
        </p:txBody>
      </p:sp>
    </p:spTree>
    <p:extLst>
      <p:ext uri="{BB962C8B-B14F-4D97-AF65-F5344CB8AC3E}">
        <p14:creationId xmlns:p14="http://schemas.microsoft.com/office/powerpoint/2010/main" val="405335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E0AE-679C-D980-F044-1B82D89A397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7791C58-21B6-34C7-1390-19D40B9ECE7E}"/>
              </a:ext>
            </a:extLst>
          </p:cNvPr>
          <p:cNvSpPr>
            <a:spLocks noGrp="1"/>
          </p:cNvSpPr>
          <p:nvPr>
            <p:ph type="title"/>
          </p:nvPr>
        </p:nvSpPr>
        <p:spPr/>
        <p:txBody>
          <a:bodyPr>
            <a:normAutofit/>
          </a:bodyPr>
          <a:lstStyle/>
          <a:p>
            <a:r>
              <a:rPr kumimoji="1" lang="en-US" altLang="zh-CN" sz="3200" i="1">
                <a:latin typeface="Times New Roman" panose="02020603050405020304" pitchFamily="18" charset="0"/>
                <a:cs typeface="Times New Roman" panose="02020603050405020304" pitchFamily="18" charset="0"/>
              </a:rPr>
              <a:t>Understanding</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Civilization</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from</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protocol</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perspective</a:t>
            </a:r>
            <a:endParaRPr kumimoji="1" lang="zh-CN" altLang="en-US" sz="3200"/>
          </a:p>
        </p:txBody>
      </p:sp>
      <p:sp>
        <p:nvSpPr>
          <p:cNvPr id="3" name="内容占位符 2">
            <a:extLst>
              <a:ext uri="{FF2B5EF4-FFF2-40B4-BE49-F238E27FC236}">
                <a16:creationId xmlns:a16="http://schemas.microsoft.com/office/drawing/2014/main" id="{9B5A4A24-6A65-8411-D3B9-B84A86549190}"/>
              </a:ext>
            </a:extLst>
          </p:cNvPr>
          <p:cNvSpPr>
            <a:spLocks noGrp="1"/>
          </p:cNvSpPr>
          <p:nvPr>
            <p:ph idx="1"/>
          </p:nvPr>
        </p:nvSpPr>
        <p:spPr/>
        <p:txBody>
          <a:bodyPr/>
          <a:lstStyle/>
          <a:p>
            <a:r>
              <a:rPr lang="de-DE" altLang="zh-CN" b="1" dirty="0"/>
              <a:t>3.1 </a:t>
            </a:r>
            <a:r>
              <a:rPr lang="de-DE" altLang="zh-CN" b="1" dirty="0" err="1"/>
              <a:t>Ancient</a:t>
            </a:r>
            <a:r>
              <a:rPr lang="de-DE" altLang="zh-CN" b="1" dirty="0"/>
              <a:t> Empires’ </a:t>
            </a:r>
            <a:r>
              <a:rPr lang="de-DE" altLang="zh-CN" b="1" dirty="0" err="1"/>
              <a:t>Foundational</a:t>
            </a:r>
            <a:r>
              <a:rPr lang="de-DE" altLang="zh-CN" b="1" dirty="0"/>
              <a:t> </a:t>
            </a:r>
            <a:r>
              <a:rPr lang="de-DE" altLang="zh-CN" b="1" dirty="0" err="1"/>
              <a:t>Protocols</a:t>
            </a:r>
            <a:r>
              <a:rPr lang="de-DE" altLang="zh-CN" b="1" dirty="0"/>
              <a:t>:</a:t>
            </a:r>
            <a:endParaRPr lang="de-DE" altLang="zh-CN" dirty="0"/>
          </a:p>
          <a:p>
            <a:endParaRPr lang="de-DE" altLang="zh-CN" b="1" dirty="0"/>
          </a:p>
          <a:p>
            <a:r>
              <a:rPr lang="de-DE" altLang="zh-CN" b="1" dirty="0"/>
              <a:t>Rome:</a:t>
            </a:r>
            <a:r>
              <a:rPr lang="de-DE" altLang="zh-CN" dirty="0"/>
              <a:t> Legal </a:t>
            </a:r>
            <a:r>
              <a:rPr lang="de-DE" altLang="zh-CN" dirty="0" err="1"/>
              <a:t>codes</a:t>
            </a:r>
            <a:r>
              <a:rPr lang="de-DE" altLang="zh-CN" dirty="0"/>
              <a:t>, </a:t>
            </a:r>
            <a:r>
              <a:rPr lang="de-DE" altLang="zh-CN" dirty="0" err="1"/>
              <a:t>military</a:t>
            </a:r>
            <a:r>
              <a:rPr lang="de-DE" altLang="zh-CN" dirty="0"/>
              <a:t> </a:t>
            </a:r>
            <a:r>
              <a:rPr lang="de-DE" altLang="zh-CN" dirty="0" err="1"/>
              <a:t>commands</a:t>
            </a:r>
            <a:r>
              <a:rPr lang="de-DE" altLang="zh-CN" dirty="0"/>
              <a:t>, </a:t>
            </a:r>
            <a:r>
              <a:rPr lang="de-DE" altLang="zh-CN" dirty="0" err="1"/>
              <a:t>Latin</a:t>
            </a:r>
            <a:r>
              <a:rPr lang="de-DE" altLang="zh-CN" dirty="0"/>
              <a:t> </a:t>
            </a:r>
            <a:r>
              <a:rPr lang="de-DE" altLang="zh-CN" dirty="0" err="1"/>
              <a:t>rituals</a:t>
            </a:r>
            <a:r>
              <a:rPr lang="de-DE" altLang="zh-CN" dirty="0"/>
              <a:t> </a:t>
            </a:r>
            <a:r>
              <a:rPr lang="de-DE" altLang="zh-CN" dirty="0" err="1"/>
              <a:t>unified</a:t>
            </a:r>
            <a:r>
              <a:rPr lang="de-DE" altLang="zh-CN" dirty="0"/>
              <a:t> </a:t>
            </a:r>
            <a:r>
              <a:rPr lang="de-DE" altLang="zh-CN" dirty="0" err="1"/>
              <a:t>the</a:t>
            </a:r>
            <a:r>
              <a:rPr lang="de-DE" altLang="zh-CN" dirty="0"/>
              <a:t> </a:t>
            </a:r>
            <a:r>
              <a:rPr lang="de-DE" altLang="zh-CN" dirty="0" err="1"/>
              <a:t>empire</a:t>
            </a:r>
            <a:r>
              <a:rPr lang="de-DE" altLang="zh-CN" dirty="0"/>
              <a:t>.</a:t>
            </a:r>
          </a:p>
          <a:p>
            <a:r>
              <a:rPr lang="de-DE" altLang="zh-CN" b="1" dirty="0"/>
              <a:t>Maya/</a:t>
            </a:r>
            <a:r>
              <a:rPr lang="de-DE" altLang="zh-CN" b="1" dirty="0" err="1"/>
              <a:t>Aztec</a:t>
            </a:r>
            <a:r>
              <a:rPr lang="de-DE" altLang="zh-CN" b="1" dirty="0"/>
              <a:t>:</a:t>
            </a:r>
            <a:r>
              <a:rPr lang="de-DE" altLang="zh-CN" dirty="0"/>
              <a:t> Ritual </a:t>
            </a:r>
            <a:r>
              <a:rPr lang="de-DE" altLang="zh-CN" dirty="0" err="1"/>
              <a:t>calendars</a:t>
            </a:r>
            <a:r>
              <a:rPr lang="de-DE" altLang="zh-CN" dirty="0"/>
              <a:t> and </a:t>
            </a:r>
            <a:r>
              <a:rPr lang="de-DE" altLang="zh-CN" dirty="0" err="1"/>
              <a:t>religious</a:t>
            </a:r>
            <a:r>
              <a:rPr lang="de-DE" altLang="zh-CN" dirty="0"/>
              <a:t> </a:t>
            </a:r>
            <a:r>
              <a:rPr lang="de-DE" altLang="zh-CN" dirty="0" err="1"/>
              <a:t>protocols</a:t>
            </a:r>
            <a:r>
              <a:rPr lang="de-DE" altLang="zh-CN" dirty="0"/>
              <a:t> </a:t>
            </a:r>
            <a:r>
              <a:rPr lang="de-DE" altLang="zh-CN" dirty="0" err="1"/>
              <a:t>legitimized</a:t>
            </a:r>
            <a:r>
              <a:rPr lang="de-DE" altLang="zh-CN" dirty="0"/>
              <a:t> power.</a:t>
            </a:r>
          </a:p>
          <a:p>
            <a:r>
              <a:rPr lang="de-DE" altLang="zh-CN" b="1" dirty="0"/>
              <a:t>China:</a:t>
            </a:r>
            <a:r>
              <a:rPr lang="de-DE" altLang="zh-CN" dirty="0"/>
              <a:t> </a:t>
            </a:r>
            <a:r>
              <a:rPr lang="de-DE" altLang="zh-CN" dirty="0" err="1"/>
              <a:t>From</a:t>
            </a:r>
            <a:r>
              <a:rPr lang="de-DE" altLang="zh-CN" dirty="0"/>
              <a:t> Zhou </a:t>
            </a:r>
            <a:r>
              <a:rPr lang="de-DE" altLang="zh-CN" dirty="0" err="1"/>
              <a:t>rituals</a:t>
            </a:r>
            <a:r>
              <a:rPr lang="de-DE" altLang="zh-CN" dirty="0"/>
              <a:t> </a:t>
            </a:r>
            <a:r>
              <a:rPr lang="en-US" altLang="zh-CN" dirty="0"/>
              <a:t>(</a:t>
            </a:r>
            <a:r>
              <a:rPr lang="zh-CN" altLang="en-US" dirty="0"/>
              <a:t>周礼</a:t>
            </a:r>
            <a:r>
              <a:rPr lang="en-US" altLang="zh-CN" dirty="0"/>
              <a:t>) </a:t>
            </a:r>
            <a:r>
              <a:rPr lang="de-DE" altLang="zh-CN" dirty="0" err="1"/>
              <a:t>to</a:t>
            </a:r>
            <a:r>
              <a:rPr lang="de-DE" altLang="zh-CN" dirty="0"/>
              <a:t> Qin </a:t>
            </a:r>
            <a:r>
              <a:rPr lang="de-DE" altLang="zh-CN" dirty="0" err="1"/>
              <a:t>legalism</a:t>
            </a:r>
            <a:r>
              <a:rPr lang="zh-CN" altLang="en-US" dirty="0"/>
              <a:t> </a:t>
            </a:r>
            <a:r>
              <a:rPr lang="en-US" altLang="zh-CN" dirty="0"/>
              <a:t>(</a:t>
            </a:r>
            <a:r>
              <a:rPr lang="zh-CN" altLang="en-US" dirty="0"/>
              <a:t>秦律</a:t>
            </a:r>
            <a:r>
              <a:rPr lang="en-US" altLang="zh-CN" dirty="0"/>
              <a:t>)</a:t>
            </a:r>
            <a:r>
              <a:rPr lang="de-DE" altLang="zh-CN" dirty="0"/>
              <a:t>, </a:t>
            </a:r>
            <a:r>
              <a:rPr lang="de-DE" altLang="zh-CN" dirty="0" err="1"/>
              <a:t>unified</a:t>
            </a:r>
            <a:r>
              <a:rPr lang="de-DE" altLang="zh-CN" dirty="0"/>
              <a:t> </a:t>
            </a:r>
            <a:r>
              <a:rPr lang="de-DE" altLang="zh-CN" dirty="0" err="1"/>
              <a:t>standards</a:t>
            </a:r>
            <a:r>
              <a:rPr lang="de-DE" altLang="zh-CN" dirty="0"/>
              <a:t> </a:t>
            </a:r>
            <a:r>
              <a:rPr lang="de-DE" altLang="zh-CN" dirty="0" err="1"/>
              <a:t>of</a:t>
            </a:r>
            <a:r>
              <a:rPr lang="de-DE" altLang="zh-CN" dirty="0"/>
              <a:t> </a:t>
            </a:r>
            <a:r>
              <a:rPr lang="de-DE" altLang="zh-CN" dirty="0" err="1"/>
              <a:t>measurement</a:t>
            </a:r>
            <a:r>
              <a:rPr lang="de-DE" altLang="zh-CN" dirty="0"/>
              <a:t>, </a:t>
            </a:r>
            <a:r>
              <a:rPr lang="de-DE" altLang="zh-CN" dirty="0" err="1"/>
              <a:t>script</a:t>
            </a:r>
            <a:r>
              <a:rPr lang="de-DE" altLang="zh-CN" dirty="0"/>
              <a:t>, and </a:t>
            </a:r>
            <a:r>
              <a:rPr lang="de-DE" altLang="zh-CN" dirty="0" err="1"/>
              <a:t>ceremony</a:t>
            </a:r>
            <a:r>
              <a:rPr lang="de-DE" altLang="zh-CN" dirty="0"/>
              <a:t> </a:t>
            </a:r>
            <a:r>
              <a:rPr lang="de-DE" altLang="zh-CN" dirty="0" err="1"/>
              <a:t>underpinned</a:t>
            </a:r>
            <a:r>
              <a:rPr lang="de-DE" altLang="zh-CN" dirty="0"/>
              <a:t> </a:t>
            </a:r>
            <a:r>
              <a:rPr lang="de-DE" altLang="zh-CN" dirty="0" err="1"/>
              <a:t>central</a:t>
            </a:r>
            <a:r>
              <a:rPr lang="de-DE" altLang="zh-CN" dirty="0"/>
              <a:t> </a:t>
            </a:r>
            <a:r>
              <a:rPr lang="de-DE" altLang="zh-CN" dirty="0" err="1"/>
              <a:t>authority</a:t>
            </a:r>
            <a:r>
              <a:rPr lang="de-DE" altLang="zh-CN" dirty="0"/>
              <a:t>.</a:t>
            </a:r>
          </a:p>
          <a:p>
            <a:endParaRPr kumimoji="1" lang="zh-CN" altLang="en-US" dirty="0"/>
          </a:p>
        </p:txBody>
      </p:sp>
    </p:spTree>
    <p:extLst>
      <p:ext uri="{BB962C8B-B14F-4D97-AF65-F5344CB8AC3E}">
        <p14:creationId xmlns:p14="http://schemas.microsoft.com/office/powerpoint/2010/main" val="2687021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0DD5C-48FF-E3A3-8758-2B43F08948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94F89F9-22A2-B6AD-35BA-AEEFDFADA16D}"/>
              </a:ext>
            </a:extLst>
          </p:cNvPr>
          <p:cNvSpPr>
            <a:spLocks noGrp="1"/>
          </p:cNvSpPr>
          <p:nvPr>
            <p:ph type="title"/>
          </p:nvPr>
        </p:nvSpPr>
        <p:spPr/>
        <p:txBody>
          <a:bodyPr>
            <a:normAutofit/>
          </a:bodyPr>
          <a:lstStyle/>
          <a:p>
            <a:r>
              <a:rPr kumimoji="1" lang="en-US" altLang="zh-CN" sz="3200" i="1">
                <a:latin typeface="Times New Roman" panose="02020603050405020304" pitchFamily="18" charset="0"/>
                <a:cs typeface="Times New Roman" panose="02020603050405020304" pitchFamily="18" charset="0"/>
              </a:rPr>
              <a:t>Understanding</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Civilization</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from</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protocol</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perspective</a:t>
            </a:r>
            <a:endParaRPr kumimoji="1" lang="zh-CN" altLang="en-US" sz="3200"/>
          </a:p>
        </p:txBody>
      </p:sp>
      <p:sp>
        <p:nvSpPr>
          <p:cNvPr id="3" name="内容占位符 2">
            <a:extLst>
              <a:ext uri="{FF2B5EF4-FFF2-40B4-BE49-F238E27FC236}">
                <a16:creationId xmlns:a16="http://schemas.microsoft.com/office/drawing/2014/main" id="{3493C58C-9357-5817-42B0-56A7AFFDEF1D}"/>
              </a:ext>
            </a:extLst>
          </p:cNvPr>
          <p:cNvSpPr>
            <a:spLocks noGrp="1"/>
          </p:cNvSpPr>
          <p:nvPr>
            <p:ph idx="1"/>
          </p:nvPr>
        </p:nvSpPr>
        <p:spPr/>
        <p:txBody>
          <a:bodyPr/>
          <a:lstStyle/>
          <a:p>
            <a:r>
              <a:rPr lang="de-DE" altLang="zh-CN" b="1" dirty="0"/>
              <a:t>3.2 Nation‐States &amp; </a:t>
            </a:r>
            <a:r>
              <a:rPr lang="de-DE" altLang="zh-CN" b="1" dirty="0" err="1"/>
              <a:t>Governance</a:t>
            </a:r>
            <a:r>
              <a:rPr lang="de-DE" altLang="zh-CN" b="1" dirty="0"/>
              <a:t>:</a:t>
            </a:r>
            <a:endParaRPr lang="de-DE" altLang="zh-CN" dirty="0"/>
          </a:p>
          <a:p>
            <a:r>
              <a:rPr lang="de-DE" altLang="zh-CN" b="1" dirty="0"/>
              <a:t>Military Competition:</a:t>
            </a:r>
            <a:r>
              <a:rPr lang="de-DE" altLang="zh-CN" dirty="0"/>
              <a:t> Wars-</a:t>
            </a:r>
            <a:r>
              <a:rPr lang="de-DE" altLang="zh-CN" dirty="0" err="1"/>
              <a:t>of</a:t>
            </a:r>
            <a:r>
              <a:rPr lang="de-DE" altLang="zh-CN" dirty="0"/>
              <a:t>-</a:t>
            </a:r>
            <a:r>
              <a:rPr lang="de-DE" altLang="zh-CN" dirty="0" err="1"/>
              <a:t>states</a:t>
            </a:r>
            <a:r>
              <a:rPr lang="de-DE" altLang="zh-CN" dirty="0"/>
              <a:t> </a:t>
            </a:r>
            <a:r>
              <a:rPr lang="de-DE" altLang="zh-CN" dirty="0" err="1"/>
              <a:t>protocols</a:t>
            </a:r>
            <a:r>
              <a:rPr lang="de-DE" altLang="zh-CN" dirty="0"/>
              <a:t> and </a:t>
            </a:r>
            <a:r>
              <a:rPr lang="de-DE" altLang="zh-CN" dirty="0" err="1"/>
              <a:t>the</a:t>
            </a:r>
            <a:r>
              <a:rPr lang="de-DE" altLang="zh-CN" dirty="0"/>
              <a:t> post-</a:t>
            </a:r>
            <a:r>
              <a:rPr lang="de-DE" altLang="zh-CN" dirty="0" err="1"/>
              <a:t>Napoleonic</a:t>
            </a:r>
            <a:r>
              <a:rPr lang="de-DE" altLang="zh-CN" dirty="0"/>
              <a:t> Concert </a:t>
            </a:r>
            <a:r>
              <a:rPr lang="de-DE" altLang="zh-CN" dirty="0" err="1"/>
              <a:t>of</a:t>
            </a:r>
            <a:r>
              <a:rPr lang="de-DE" altLang="zh-CN" dirty="0"/>
              <a:t> Europe </a:t>
            </a:r>
            <a:r>
              <a:rPr lang="de-DE" altLang="zh-CN" dirty="0" err="1"/>
              <a:t>illustrate</a:t>
            </a:r>
            <a:r>
              <a:rPr lang="de-DE" altLang="zh-CN" dirty="0"/>
              <a:t> </a:t>
            </a:r>
            <a:r>
              <a:rPr lang="de-DE" altLang="zh-CN" dirty="0" err="1"/>
              <a:t>protocol</a:t>
            </a:r>
            <a:r>
              <a:rPr lang="de-DE" altLang="zh-CN" dirty="0"/>
              <a:t> </a:t>
            </a:r>
            <a:r>
              <a:rPr lang="de-DE" altLang="zh-CN" dirty="0" err="1"/>
              <a:t>as</a:t>
            </a:r>
            <a:r>
              <a:rPr lang="de-DE" altLang="zh-CN" dirty="0"/>
              <a:t> </a:t>
            </a:r>
            <a:r>
              <a:rPr lang="de-DE" altLang="zh-CN" dirty="0" err="1"/>
              <a:t>both</a:t>
            </a:r>
            <a:r>
              <a:rPr lang="de-DE" altLang="zh-CN" dirty="0"/>
              <a:t> a </a:t>
            </a:r>
            <a:r>
              <a:rPr lang="de-DE" altLang="zh-CN" dirty="0" err="1"/>
              <a:t>means</a:t>
            </a:r>
            <a:r>
              <a:rPr lang="de-DE" altLang="zh-CN" dirty="0"/>
              <a:t> </a:t>
            </a:r>
            <a:r>
              <a:rPr lang="de-DE" altLang="zh-CN" dirty="0" err="1"/>
              <a:t>of</a:t>
            </a:r>
            <a:r>
              <a:rPr lang="de-DE" altLang="zh-CN" dirty="0"/>
              <a:t> </a:t>
            </a:r>
            <a:r>
              <a:rPr lang="de-DE" altLang="zh-CN" dirty="0" err="1"/>
              <a:t>communication</a:t>
            </a:r>
            <a:r>
              <a:rPr lang="de-DE" altLang="zh-CN" dirty="0"/>
              <a:t> and a power </a:t>
            </a:r>
            <a:r>
              <a:rPr lang="de-DE" altLang="zh-CN" dirty="0" err="1"/>
              <a:t>struggle</a:t>
            </a:r>
            <a:r>
              <a:rPr lang="de-DE" altLang="zh-CN" dirty="0"/>
              <a:t>.</a:t>
            </a:r>
          </a:p>
          <a:p>
            <a:r>
              <a:rPr lang="de-DE" altLang="zh-CN" b="1" dirty="0" err="1"/>
              <a:t>Courtly</a:t>
            </a:r>
            <a:r>
              <a:rPr lang="de-DE" altLang="zh-CN" b="1" dirty="0"/>
              <a:t> </a:t>
            </a:r>
            <a:r>
              <a:rPr lang="de-DE" altLang="zh-CN" b="1" dirty="0" err="1"/>
              <a:t>Etiquette</a:t>
            </a:r>
            <a:r>
              <a:rPr lang="de-DE" altLang="zh-CN" b="1" dirty="0"/>
              <a:t>:</a:t>
            </a:r>
            <a:r>
              <a:rPr lang="de-DE" altLang="zh-CN" dirty="0"/>
              <a:t> In Louis </a:t>
            </a:r>
            <a:r>
              <a:rPr lang="de-DE" altLang="zh-CN" dirty="0" err="1"/>
              <a:t>XIV’s</a:t>
            </a:r>
            <a:r>
              <a:rPr lang="de-DE" altLang="zh-CN" dirty="0"/>
              <a:t> France, </a:t>
            </a:r>
            <a:r>
              <a:rPr lang="de-DE" altLang="zh-CN" dirty="0" err="1"/>
              <a:t>evolving</a:t>
            </a:r>
            <a:r>
              <a:rPr lang="de-DE" altLang="zh-CN" dirty="0"/>
              <a:t> </a:t>
            </a:r>
            <a:r>
              <a:rPr lang="de-DE" altLang="zh-CN" dirty="0" err="1"/>
              <a:t>aristocratic</a:t>
            </a:r>
            <a:r>
              <a:rPr lang="de-DE" altLang="zh-CN" dirty="0"/>
              <a:t> </a:t>
            </a:r>
            <a:r>
              <a:rPr lang="de-DE" altLang="zh-CN" dirty="0" err="1"/>
              <a:t>protocols</a:t>
            </a:r>
            <a:r>
              <a:rPr lang="de-DE" altLang="zh-CN" dirty="0"/>
              <a:t> </a:t>
            </a:r>
            <a:r>
              <a:rPr lang="de-DE" altLang="zh-CN" dirty="0" err="1"/>
              <a:t>reduced</a:t>
            </a:r>
            <a:r>
              <a:rPr lang="de-DE" altLang="zh-CN" dirty="0"/>
              <a:t> </a:t>
            </a:r>
            <a:r>
              <a:rPr lang="de-DE" altLang="zh-CN" dirty="0" err="1"/>
              <a:t>overt</a:t>
            </a:r>
            <a:r>
              <a:rPr lang="de-DE" altLang="zh-CN" dirty="0"/>
              <a:t> </a:t>
            </a:r>
            <a:r>
              <a:rPr lang="de-DE" altLang="zh-CN" dirty="0" err="1"/>
              <a:t>violence</a:t>
            </a:r>
            <a:r>
              <a:rPr lang="de-DE" altLang="zh-CN" dirty="0"/>
              <a:t> but </a:t>
            </a:r>
            <a:r>
              <a:rPr lang="de-DE" altLang="zh-CN" dirty="0" err="1"/>
              <a:t>amplified</a:t>
            </a:r>
            <a:r>
              <a:rPr lang="de-DE" altLang="zh-CN" dirty="0"/>
              <a:t> </a:t>
            </a:r>
            <a:r>
              <a:rPr lang="de-DE" altLang="zh-CN" dirty="0" err="1"/>
              <a:t>symbolic</a:t>
            </a:r>
            <a:r>
              <a:rPr lang="de-DE" altLang="zh-CN" dirty="0"/>
              <a:t> </a:t>
            </a:r>
            <a:r>
              <a:rPr lang="de-DE" altLang="zh-CN" dirty="0" err="1"/>
              <a:t>displays</a:t>
            </a:r>
            <a:r>
              <a:rPr lang="de-DE" altLang="zh-CN" dirty="0"/>
              <a:t>.</a:t>
            </a:r>
          </a:p>
          <a:p>
            <a:endParaRPr kumimoji="1" lang="zh-CN" altLang="en-US" dirty="0"/>
          </a:p>
        </p:txBody>
      </p:sp>
      <p:sp>
        <p:nvSpPr>
          <p:cNvPr id="4" name="文本框 3">
            <a:extLst>
              <a:ext uri="{FF2B5EF4-FFF2-40B4-BE49-F238E27FC236}">
                <a16:creationId xmlns:a16="http://schemas.microsoft.com/office/drawing/2014/main" id="{AA4AB917-F0EA-7053-0860-69F86396030F}"/>
              </a:ext>
            </a:extLst>
          </p:cNvPr>
          <p:cNvSpPr txBox="1"/>
          <p:nvPr/>
        </p:nvSpPr>
        <p:spPr>
          <a:xfrm>
            <a:off x="2254507" y="1755344"/>
            <a:ext cx="767226" cy="369332"/>
          </a:xfrm>
          <a:prstGeom prst="rect">
            <a:avLst/>
          </a:prstGeom>
          <a:noFill/>
        </p:spPr>
        <p:txBody>
          <a:bodyPr wrap="square">
            <a:spAutoFit/>
          </a:bodyPr>
          <a:lstStyle/>
          <a:p>
            <a:r>
              <a:rPr kumimoji="1" lang="en-US" altLang="zh-CN">
                <a:solidFill>
                  <a:schemeClr val="bg1"/>
                </a:solidFill>
              </a:rPr>
              <a:t>【3】</a:t>
            </a:r>
            <a:endParaRPr kumimoji="1" lang="zh-CN" altLang="en-US">
              <a:solidFill>
                <a:schemeClr val="bg1"/>
              </a:solidFill>
            </a:endParaRPr>
          </a:p>
        </p:txBody>
      </p:sp>
    </p:spTree>
    <p:extLst>
      <p:ext uri="{BB962C8B-B14F-4D97-AF65-F5344CB8AC3E}">
        <p14:creationId xmlns:p14="http://schemas.microsoft.com/office/powerpoint/2010/main" val="4060960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CE8D1-BA54-681A-170A-41ECA01C367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D4A78C3-6EC8-6A3B-A6B3-019FD8C94584}"/>
              </a:ext>
            </a:extLst>
          </p:cNvPr>
          <p:cNvSpPr>
            <a:spLocks noGrp="1"/>
          </p:cNvSpPr>
          <p:nvPr>
            <p:ph type="title"/>
          </p:nvPr>
        </p:nvSpPr>
        <p:spPr/>
        <p:txBody>
          <a:bodyPr>
            <a:normAutofit/>
          </a:bodyPr>
          <a:lstStyle/>
          <a:p>
            <a:r>
              <a:rPr kumimoji="1" lang="en-US" altLang="zh-CN" sz="3200" i="1">
                <a:latin typeface="Times New Roman" panose="02020603050405020304" pitchFamily="18" charset="0"/>
                <a:cs typeface="Times New Roman" panose="02020603050405020304" pitchFamily="18" charset="0"/>
              </a:rPr>
              <a:t>Understanding</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Civilization</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from</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protocol</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perspective</a:t>
            </a:r>
            <a:endParaRPr kumimoji="1" lang="zh-CN" altLang="en-US" sz="3200"/>
          </a:p>
        </p:txBody>
      </p:sp>
      <p:sp>
        <p:nvSpPr>
          <p:cNvPr id="3" name="内容占位符 2">
            <a:extLst>
              <a:ext uri="{FF2B5EF4-FFF2-40B4-BE49-F238E27FC236}">
                <a16:creationId xmlns:a16="http://schemas.microsoft.com/office/drawing/2014/main" id="{DAE9303C-5C01-BA29-AA89-1552FD7F8BC4}"/>
              </a:ext>
            </a:extLst>
          </p:cNvPr>
          <p:cNvSpPr>
            <a:spLocks noGrp="1"/>
          </p:cNvSpPr>
          <p:nvPr>
            <p:ph idx="1"/>
          </p:nvPr>
        </p:nvSpPr>
        <p:spPr/>
        <p:txBody>
          <a:bodyPr/>
          <a:lstStyle/>
          <a:p>
            <a:r>
              <a:rPr lang="de-DE" altLang="zh-CN" b="1" dirty="0"/>
              <a:t>3.3 </a:t>
            </a:r>
            <a:r>
              <a:rPr lang="de-DE" altLang="zh-CN" b="1" dirty="0" err="1"/>
              <a:t>Bureaucracy</a:t>
            </a:r>
            <a:r>
              <a:rPr lang="de-DE" altLang="zh-CN" b="1" dirty="0"/>
              <a:t> &amp; </a:t>
            </a:r>
            <a:r>
              <a:rPr lang="de-DE" altLang="zh-CN" b="1" dirty="0" err="1"/>
              <a:t>Rationalization</a:t>
            </a:r>
            <a:r>
              <a:rPr lang="de-DE" altLang="zh-CN" b="1" dirty="0"/>
              <a:t>:</a:t>
            </a:r>
          </a:p>
          <a:p>
            <a:r>
              <a:rPr lang="de-DE" altLang="zh-CN" dirty="0" err="1"/>
              <a:t>Weber’s</a:t>
            </a:r>
            <a:r>
              <a:rPr lang="de-DE" altLang="zh-CN" dirty="0"/>
              <a:t> </a:t>
            </a:r>
            <a:r>
              <a:rPr lang="de-DE" altLang="zh-CN" dirty="0" err="1"/>
              <a:t>bureaucracy</a:t>
            </a:r>
            <a:r>
              <a:rPr lang="de-DE" altLang="zh-CN" dirty="0"/>
              <a:t> </a:t>
            </a:r>
            <a:r>
              <a:rPr lang="de-DE" altLang="zh-CN" dirty="0" err="1"/>
              <a:t>as</a:t>
            </a:r>
            <a:r>
              <a:rPr lang="de-DE" altLang="zh-CN" dirty="0"/>
              <a:t> an </a:t>
            </a:r>
            <a:r>
              <a:rPr lang="de-DE" altLang="zh-CN" dirty="0" err="1"/>
              <a:t>early</a:t>
            </a:r>
            <a:r>
              <a:rPr lang="de-DE" altLang="zh-CN" dirty="0"/>
              <a:t> </a:t>
            </a:r>
            <a:r>
              <a:rPr lang="de-DE" altLang="zh-CN" dirty="0" err="1"/>
              <a:t>protocol</a:t>
            </a:r>
            <a:r>
              <a:rPr lang="de-DE" altLang="zh-CN" dirty="0"/>
              <a:t> </a:t>
            </a:r>
            <a:r>
              <a:rPr lang="de-DE" altLang="zh-CN" dirty="0" err="1"/>
              <a:t>technology</a:t>
            </a:r>
            <a:r>
              <a:rPr lang="de-DE" altLang="zh-CN" dirty="0"/>
              <a:t>: </a:t>
            </a:r>
            <a:r>
              <a:rPr lang="de-DE" altLang="zh-CN" dirty="0" err="1"/>
              <a:t>fixed</a:t>
            </a:r>
            <a:r>
              <a:rPr lang="de-DE" altLang="zh-CN" dirty="0"/>
              <a:t> </a:t>
            </a:r>
            <a:r>
              <a:rPr lang="de-DE" altLang="zh-CN" dirty="0" err="1"/>
              <a:t>procedures</a:t>
            </a:r>
            <a:r>
              <a:rPr lang="de-DE" altLang="zh-CN" dirty="0"/>
              <a:t>, </a:t>
            </a:r>
            <a:r>
              <a:rPr lang="de-DE" altLang="zh-CN" dirty="0" err="1"/>
              <a:t>documentation</a:t>
            </a:r>
            <a:r>
              <a:rPr lang="de-DE" altLang="zh-CN" dirty="0"/>
              <a:t>, </a:t>
            </a:r>
            <a:r>
              <a:rPr lang="de-DE" altLang="zh-CN" dirty="0" err="1"/>
              <a:t>hierarchical</a:t>
            </a:r>
            <a:r>
              <a:rPr lang="de-DE" altLang="zh-CN" dirty="0"/>
              <a:t> </a:t>
            </a:r>
            <a:r>
              <a:rPr lang="de-DE" altLang="zh-CN" dirty="0" err="1"/>
              <a:t>authority</a:t>
            </a:r>
            <a:r>
              <a:rPr lang="de-DE" altLang="zh-CN" dirty="0"/>
              <a:t>… </a:t>
            </a:r>
          </a:p>
          <a:p>
            <a:r>
              <a:rPr lang="de-DE" altLang="zh-CN" dirty="0" err="1"/>
              <a:t>Yet</a:t>
            </a:r>
            <a:r>
              <a:rPr lang="de-DE" altLang="zh-CN" dirty="0"/>
              <a:t> like </a:t>
            </a:r>
            <a:r>
              <a:rPr lang="de-DE" altLang="zh-CN" dirty="0" err="1"/>
              <a:t>the</a:t>
            </a:r>
            <a:r>
              <a:rPr lang="de-DE" altLang="zh-CN" dirty="0"/>
              <a:t> Tower </a:t>
            </a:r>
            <a:r>
              <a:rPr lang="de-DE" altLang="zh-CN" dirty="0" err="1"/>
              <a:t>of</a:t>
            </a:r>
            <a:r>
              <a:rPr lang="de-DE" altLang="zh-CN" dirty="0"/>
              <a:t> Babel </a:t>
            </a:r>
            <a:r>
              <a:rPr lang="de-DE" altLang="zh-CN" dirty="0" err="1"/>
              <a:t>metaphor</a:t>
            </a:r>
            <a:r>
              <a:rPr lang="de-DE" altLang="zh-CN" dirty="0"/>
              <a:t>, </a:t>
            </a:r>
            <a:r>
              <a:rPr lang="de-DE" altLang="zh-CN" dirty="0" err="1"/>
              <a:t>over‐formalization</a:t>
            </a:r>
            <a:r>
              <a:rPr lang="de-DE" altLang="zh-CN" dirty="0"/>
              <a:t> </a:t>
            </a:r>
            <a:r>
              <a:rPr lang="de-DE" altLang="zh-CN" dirty="0" err="1"/>
              <a:t>can</a:t>
            </a:r>
            <a:r>
              <a:rPr lang="de-DE" altLang="zh-CN" dirty="0"/>
              <a:t> </a:t>
            </a:r>
            <a:r>
              <a:rPr lang="de-DE" altLang="zh-CN" dirty="0" err="1"/>
              <a:t>stifle</a:t>
            </a:r>
            <a:r>
              <a:rPr lang="de-DE" altLang="zh-CN" dirty="0"/>
              <a:t> </a:t>
            </a:r>
            <a:r>
              <a:rPr lang="de-DE" altLang="zh-CN" dirty="0" err="1"/>
              <a:t>creativity</a:t>
            </a:r>
            <a:r>
              <a:rPr lang="de-DE" altLang="zh-CN" dirty="0"/>
              <a:t> and </a:t>
            </a:r>
            <a:r>
              <a:rPr lang="de-DE" altLang="zh-CN" dirty="0" err="1"/>
              <a:t>agency</a:t>
            </a:r>
            <a:r>
              <a:rPr lang="de-DE" altLang="zh-CN" dirty="0"/>
              <a:t>.</a:t>
            </a:r>
          </a:p>
          <a:p>
            <a:r>
              <a:rPr kumimoji="1" lang="de-DE" altLang="zh-CN" dirty="0"/>
              <a:t>[</a:t>
            </a:r>
            <a:r>
              <a:rPr kumimoji="1" lang="de-DE" altLang="zh-CN" dirty="0" err="1"/>
              <a:t>two</a:t>
            </a:r>
            <a:r>
              <a:rPr kumimoji="1" lang="de-DE" altLang="zh-CN" dirty="0"/>
              <a:t> different </a:t>
            </a:r>
            <a:r>
              <a:rPr kumimoji="1" lang="de-DE" altLang="zh-CN" dirty="0" err="1"/>
              <a:t>logic</a:t>
            </a:r>
            <a:r>
              <a:rPr kumimoji="1" lang="de-DE" altLang="zh-CN" dirty="0"/>
              <a:t>: Building vs. </a:t>
            </a:r>
            <a:r>
              <a:rPr kumimoji="1" lang="de-DE" altLang="zh-CN" dirty="0" err="1"/>
              <a:t>Creation</a:t>
            </a:r>
            <a:r>
              <a:rPr kumimoji="1" lang="de-DE" altLang="zh-CN" dirty="0"/>
              <a:t> – </a:t>
            </a:r>
            <a:r>
              <a:rPr kumimoji="1" lang="de-DE" altLang="zh-CN" dirty="0" err="1"/>
              <a:t>rationalization</a:t>
            </a:r>
            <a:r>
              <a:rPr kumimoji="1" lang="de-DE" altLang="zh-CN" dirty="0"/>
              <a:t> vs. </a:t>
            </a:r>
            <a:r>
              <a:rPr kumimoji="1" lang="de-DE" altLang="zh-CN" dirty="0" err="1"/>
              <a:t>creative</a:t>
            </a:r>
            <a:r>
              <a:rPr kumimoji="1" lang="de-DE" altLang="zh-CN" dirty="0"/>
              <a:t> </a:t>
            </a:r>
            <a:r>
              <a:rPr kumimoji="1" lang="de-DE" altLang="zh-CN" dirty="0" err="1"/>
              <a:t>destruction</a:t>
            </a:r>
            <a:r>
              <a:rPr kumimoji="1" lang="de-DE" altLang="zh-CN" dirty="0"/>
              <a:t>…]</a:t>
            </a:r>
            <a:endParaRPr kumimoji="1" lang="zh-CN" altLang="en-US" dirty="0"/>
          </a:p>
        </p:txBody>
      </p:sp>
      <p:sp>
        <p:nvSpPr>
          <p:cNvPr id="4" name="文本框 3">
            <a:extLst>
              <a:ext uri="{FF2B5EF4-FFF2-40B4-BE49-F238E27FC236}">
                <a16:creationId xmlns:a16="http://schemas.microsoft.com/office/drawing/2014/main" id="{269BC4A8-F890-7302-F822-770FD9BF94E2}"/>
              </a:ext>
            </a:extLst>
          </p:cNvPr>
          <p:cNvSpPr txBox="1"/>
          <p:nvPr/>
        </p:nvSpPr>
        <p:spPr>
          <a:xfrm>
            <a:off x="2254507" y="1755344"/>
            <a:ext cx="767226" cy="369332"/>
          </a:xfrm>
          <a:prstGeom prst="rect">
            <a:avLst/>
          </a:prstGeom>
          <a:noFill/>
        </p:spPr>
        <p:txBody>
          <a:bodyPr wrap="square">
            <a:spAutoFit/>
          </a:bodyPr>
          <a:lstStyle/>
          <a:p>
            <a:r>
              <a:rPr kumimoji="1" lang="en-US" altLang="zh-CN">
                <a:solidFill>
                  <a:schemeClr val="bg1"/>
                </a:solidFill>
              </a:rPr>
              <a:t>【3】</a:t>
            </a:r>
            <a:endParaRPr kumimoji="1" lang="zh-CN" altLang="en-US">
              <a:solidFill>
                <a:schemeClr val="bg1"/>
              </a:solidFill>
            </a:endParaRPr>
          </a:p>
        </p:txBody>
      </p:sp>
    </p:spTree>
    <p:extLst>
      <p:ext uri="{BB962C8B-B14F-4D97-AF65-F5344CB8AC3E}">
        <p14:creationId xmlns:p14="http://schemas.microsoft.com/office/powerpoint/2010/main" val="3131559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043E0-7B27-4334-2103-38E3B016706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61CD2EF-AA27-0067-D5EC-5DC2E1915E2A}"/>
              </a:ext>
            </a:extLst>
          </p:cNvPr>
          <p:cNvSpPr>
            <a:spLocks noGrp="1"/>
          </p:cNvSpPr>
          <p:nvPr>
            <p:ph type="title"/>
          </p:nvPr>
        </p:nvSpPr>
        <p:spPr/>
        <p:txBody>
          <a:bodyPr>
            <a:normAutofit/>
          </a:bodyPr>
          <a:lstStyle/>
          <a:p>
            <a:r>
              <a:rPr kumimoji="1" lang="en-US" altLang="zh-CN" sz="3200" i="1">
                <a:latin typeface="Times New Roman" panose="02020603050405020304" pitchFamily="18" charset="0"/>
                <a:cs typeface="Times New Roman" panose="02020603050405020304" pitchFamily="18" charset="0"/>
              </a:rPr>
              <a:t>Understanding</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Civilization</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from</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protocol</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perspective</a:t>
            </a:r>
            <a:endParaRPr kumimoji="1" lang="zh-CN" altLang="en-US" sz="3200"/>
          </a:p>
        </p:txBody>
      </p:sp>
      <p:sp>
        <p:nvSpPr>
          <p:cNvPr id="3" name="内容占位符 2">
            <a:extLst>
              <a:ext uri="{FF2B5EF4-FFF2-40B4-BE49-F238E27FC236}">
                <a16:creationId xmlns:a16="http://schemas.microsoft.com/office/drawing/2014/main" id="{764472F1-1DA1-D70C-F914-D7790CE05781}"/>
              </a:ext>
            </a:extLst>
          </p:cNvPr>
          <p:cNvSpPr>
            <a:spLocks noGrp="1"/>
          </p:cNvSpPr>
          <p:nvPr>
            <p:ph idx="1"/>
          </p:nvPr>
        </p:nvSpPr>
        <p:spPr/>
        <p:txBody>
          <a:bodyPr/>
          <a:lstStyle/>
          <a:p>
            <a:r>
              <a:rPr lang="de-DE" altLang="zh-CN" b="1"/>
              <a:t>3.4 Industrial Systems’ Key </a:t>
            </a:r>
            <a:r>
              <a:rPr lang="de-DE" altLang="zh-CN" b="1" err="1"/>
              <a:t>Evolutions</a:t>
            </a:r>
            <a:r>
              <a:rPr lang="de-DE" altLang="zh-CN" b="1"/>
              <a:t>:</a:t>
            </a:r>
            <a:endParaRPr lang="de-DE" altLang="zh-CN"/>
          </a:p>
          <a:p>
            <a:r>
              <a:rPr lang="de-DE" altLang="zh-CN" b="1" err="1"/>
              <a:t>Contract</a:t>
            </a:r>
            <a:r>
              <a:rPr lang="de-DE" altLang="zh-CN" b="1"/>
              <a:t> Theory vs. Protocol Studies:</a:t>
            </a:r>
            <a:r>
              <a:rPr lang="de-DE" altLang="zh-CN"/>
              <a:t> </a:t>
            </a:r>
            <a:r>
              <a:rPr lang="de-DE" altLang="zh-CN" err="1"/>
              <a:t>Contracts</a:t>
            </a:r>
            <a:r>
              <a:rPr lang="de-DE" altLang="zh-CN"/>
              <a:t> </a:t>
            </a:r>
            <a:r>
              <a:rPr lang="de-DE" altLang="zh-CN" err="1"/>
              <a:t>focus</a:t>
            </a:r>
            <a:r>
              <a:rPr lang="de-DE" altLang="zh-CN"/>
              <a:t> on </a:t>
            </a:r>
            <a:r>
              <a:rPr lang="de-DE" altLang="zh-CN" err="1"/>
              <a:t>principal</a:t>
            </a:r>
            <a:r>
              <a:rPr lang="de-DE" altLang="zh-CN"/>
              <a:t>–</a:t>
            </a:r>
            <a:r>
              <a:rPr lang="de-DE" altLang="zh-CN" err="1"/>
              <a:t>agent</a:t>
            </a:r>
            <a:r>
              <a:rPr lang="de-DE" altLang="zh-CN"/>
              <a:t> </a:t>
            </a:r>
            <a:r>
              <a:rPr lang="de-DE" altLang="zh-CN" err="1"/>
              <a:t>incentives</a:t>
            </a:r>
            <a:r>
              <a:rPr lang="de-DE" altLang="zh-CN"/>
              <a:t>; </a:t>
            </a:r>
            <a:r>
              <a:rPr lang="de-DE" altLang="zh-CN" err="1"/>
              <a:t>protocol</a:t>
            </a:r>
            <a:r>
              <a:rPr lang="de-DE" altLang="zh-CN"/>
              <a:t> </a:t>
            </a:r>
            <a:r>
              <a:rPr lang="de-DE" altLang="zh-CN" err="1"/>
              <a:t>studies</a:t>
            </a:r>
            <a:r>
              <a:rPr lang="de-DE" altLang="zh-CN"/>
              <a:t> </a:t>
            </a:r>
            <a:r>
              <a:rPr lang="de-DE" altLang="zh-CN" err="1"/>
              <a:t>emphasize</a:t>
            </a:r>
            <a:r>
              <a:rPr lang="de-DE" altLang="zh-CN"/>
              <a:t> </a:t>
            </a:r>
            <a:r>
              <a:rPr lang="de-DE" altLang="zh-CN" err="1"/>
              <a:t>information</a:t>
            </a:r>
            <a:r>
              <a:rPr lang="de-DE" altLang="zh-CN"/>
              <a:t> </a:t>
            </a:r>
            <a:r>
              <a:rPr lang="de-DE" altLang="zh-CN" err="1"/>
              <a:t>packets</a:t>
            </a:r>
            <a:r>
              <a:rPr lang="de-DE" altLang="zh-CN"/>
              <a:t>, </a:t>
            </a:r>
            <a:r>
              <a:rPr lang="de-DE" altLang="zh-CN" err="1"/>
              <a:t>consensus</a:t>
            </a:r>
            <a:r>
              <a:rPr lang="de-DE" altLang="zh-CN"/>
              <a:t> </a:t>
            </a:r>
            <a:r>
              <a:rPr lang="de-DE" altLang="zh-CN" err="1"/>
              <a:t>mechanisms</a:t>
            </a:r>
            <a:r>
              <a:rPr lang="de-DE" altLang="zh-CN"/>
              <a:t>, and </a:t>
            </a:r>
            <a:r>
              <a:rPr lang="de-DE" altLang="zh-CN" err="1"/>
              <a:t>evolutionary</a:t>
            </a:r>
            <a:r>
              <a:rPr lang="de-DE" altLang="zh-CN"/>
              <a:t> </a:t>
            </a:r>
            <a:r>
              <a:rPr lang="de-DE" altLang="zh-CN" err="1"/>
              <a:t>fitness</a:t>
            </a:r>
            <a:endParaRPr lang="de-DE" altLang="zh-CN"/>
          </a:p>
          <a:p>
            <a:r>
              <a:rPr lang="de-DE" altLang="zh-CN" b="1"/>
              <a:t>E.g. </a:t>
            </a:r>
            <a:r>
              <a:rPr lang="de-DE" altLang="zh-CN" b="1" err="1"/>
              <a:t>China’s</a:t>
            </a:r>
            <a:r>
              <a:rPr lang="de-DE" altLang="zh-CN" b="1"/>
              <a:t> </a:t>
            </a:r>
            <a:r>
              <a:rPr lang="de-DE" altLang="zh-CN" b="1" err="1"/>
              <a:t>five</a:t>
            </a:r>
            <a:r>
              <a:rPr lang="de-DE" altLang="zh-CN" b="1"/>
              <a:t> </a:t>
            </a:r>
            <a:r>
              <a:rPr lang="de-DE" altLang="zh-CN" b="1" err="1"/>
              <a:t>waves</a:t>
            </a:r>
            <a:r>
              <a:rPr lang="de-DE" altLang="zh-CN" b="1"/>
              <a:t> </a:t>
            </a:r>
            <a:r>
              <a:rPr lang="de-DE" altLang="zh-CN" b="1" err="1"/>
              <a:t>of</a:t>
            </a:r>
            <a:r>
              <a:rPr lang="de-DE" altLang="zh-CN" b="1"/>
              <a:t> </a:t>
            </a:r>
            <a:r>
              <a:rPr lang="de-DE" altLang="zh-CN" b="1" err="1"/>
              <a:t>industrializations</a:t>
            </a:r>
            <a:r>
              <a:rPr lang="de-DE" altLang="zh-CN" b="1"/>
              <a:t> </a:t>
            </a:r>
            <a:r>
              <a:rPr lang="de-DE" altLang="zh-CN" b="1" err="1"/>
              <a:t>since</a:t>
            </a:r>
            <a:r>
              <a:rPr lang="de-DE" altLang="zh-CN" b="1"/>
              <a:t> 1840s:</a:t>
            </a:r>
            <a:r>
              <a:rPr lang="de-DE" altLang="zh-CN"/>
              <a:t> </a:t>
            </a:r>
          </a:p>
          <a:p>
            <a:r>
              <a:rPr lang="de-DE" altLang="zh-CN" err="1"/>
              <a:t>From</a:t>
            </a:r>
            <a:r>
              <a:rPr lang="de-DE" altLang="zh-CN"/>
              <a:t> </a:t>
            </a:r>
            <a:r>
              <a:rPr lang="de-DE" altLang="zh-CN" err="1"/>
              <a:t>late</a:t>
            </a:r>
            <a:r>
              <a:rPr lang="de-DE" altLang="zh-CN"/>
              <a:t> Qing‐</a:t>
            </a:r>
            <a:r>
              <a:rPr lang="de-DE" altLang="zh-CN" err="1"/>
              <a:t>era</a:t>
            </a:r>
            <a:r>
              <a:rPr lang="de-DE" altLang="zh-CN"/>
              <a:t> </a:t>
            </a:r>
            <a:r>
              <a:rPr lang="de-DE" altLang="zh-CN" err="1"/>
              <a:t>adoption</a:t>
            </a:r>
            <a:r>
              <a:rPr lang="de-DE" altLang="zh-CN"/>
              <a:t> </a:t>
            </a:r>
            <a:r>
              <a:rPr lang="de-DE" altLang="zh-CN" err="1"/>
              <a:t>of</a:t>
            </a:r>
            <a:r>
              <a:rPr lang="de-DE" altLang="zh-CN"/>
              <a:t> </a:t>
            </a:r>
            <a:r>
              <a:rPr lang="de-DE" altLang="zh-CN" err="1"/>
              <a:t>foreign</a:t>
            </a:r>
            <a:r>
              <a:rPr lang="de-DE" altLang="zh-CN"/>
              <a:t> </a:t>
            </a:r>
            <a:r>
              <a:rPr lang="de-DE" altLang="zh-CN" err="1"/>
              <a:t>arsenals</a:t>
            </a:r>
            <a:r>
              <a:rPr lang="de-DE" altLang="zh-CN"/>
              <a:t> </a:t>
            </a:r>
            <a:r>
              <a:rPr lang="de-DE" altLang="zh-CN" err="1"/>
              <a:t>to</a:t>
            </a:r>
            <a:r>
              <a:rPr lang="de-DE" altLang="zh-CN"/>
              <a:t> post‐1978 international </a:t>
            </a:r>
            <a:r>
              <a:rPr lang="de-DE" altLang="zh-CN" err="1"/>
              <a:t>standardization</a:t>
            </a:r>
            <a:r>
              <a:rPr lang="de-DE" altLang="zh-CN"/>
              <a:t>, </a:t>
            </a:r>
            <a:r>
              <a:rPr lang="de-DE" altLang="zh-CN" err="1"/>
              <a:t>each</a:t>
            </a:r>
            <a:r>
              <a:rPr lang="de-DE" altLang="zh-CN"/>
              <a:t> </a:t>
            </a:r>
            <a:r>
              <a:rPr lang="de-DE" altLang="zh-CN" err="1"/>
              <a:t>wave</a:t>
            </a:r>
            <a:r>
              <a:rPr lang="de-DE" altLang="zh-CN"/>
              <a:t> </a:t>
            </a:r>
            <a:r>
              <a:rPr lang="de-DE" altLang="zh-CN" err="1"/>
              <a:t>involved</a:t>
            </a:r>
            <a:r>
              <a:rPr lang="de-DE" altLang="zh-CN"/>
              <a:t> </a:t>
            </a:r>
            <a:r>
              <a:rPr lang="de-DE" altLang="zh-CN" err="1"/>
              <a:t>new</a:t>
            </a:r>
            <a:r>
              <a:rPr lang="de-DE" altLang="zh-CN"/>
              <a:t> </a:t>
            </a:r>
            <a:r>
              <a:rPr lang="de-DE" altLang="zh-CN" err="1"/>
              <a:t>production</a:t>
            </a:r>
            <a:r>
              <a:rPr lang="de-DE" altLang="zh-CN"/>
              <a:t> and trade </a:t>
            </a:r>
            <a:r>
              <a:rPr lang="de-DE" altLang="zh-CN" err="1"/>
              <a:t>protocols</a:t>
            </a:r>
            <a:r>
              <a:rPr lang="de-DE" altLang="zh-CN"/>
              <a:t> </a:t>
            </a:r>
            <a:r>
              <a:rPr lang="de-DE" altLang="zh-CN" err="1"/>
              <a:t>reshaping</a:t>
            </a:r>
            <a:r>
              <a:rPr lang="de-DE" altLang="zh-CN"/>
              <a:t> </a:t>
            </a:r>
            <a:r>
              <a:rPr lang="de-DE" altLang="zh-CN" err="1"/>
              <a:t>China’s</a:t>
            </a:r>
            <a:r>
              <a:rPr lang="de-DE" altLang="zh-CN"/>
              <a:t> global </a:t>
            </a:r>
            <a:r>
              <a:rPr lang="de-DE" altLang="zh-CN" err="1"/>
              <a:t>integration</a:t>
            </a:r>
            <a:r>
              <a:rPr lang="de-DE" altLang="zh-CN"/>
              <a:t>.</a:t>
            </a:r>
          </a:p>
          <a:p>
            <a:endParaRPr kumimoji="1" lang="zh-CN" altLang="en-US"/>
          </a:p>
        </p:txBody>
      </p:sp>
      <p:sp>
        <p:nvSpPr>
          <p:cNvPr id="4" name="文本框 3">
            <a:extLst>
              <a:ext uri="{FF2B5EF4-FFF2-40B4-BE49-F238E27FC236}">
                <a16:creationId xmlns:a16="http://schemas.microsoft.com/office/drawing/2014/main" id="{B52D2B12-87D0-8BA8-8321-4899B80BCA7B}"/>
              </a:ext>
            </a:extLst>
          </p:cNvPr>
          <p:cNvSpPr txBox="1"/>
          <p:nvPr/>
        </p:nvSpPr>
        <p:spPr>
          <a:xfrm>
            <a:off x="2254507" y="1755344"/>
            <a:ext cx="767226" cy="369332"/>
          </a:xfrm>
          <a:prstGeom prst="rect">
            <a:avLst/>
          </a:prstGeom>
          <a:noFill/>
        </p:spPr>
        <p:txBody>
          <a:bodyPr wrap="square">
            <a:spAutoFit/>
          </a:bodyPr>
          <a:lstStyle/>
          <a:p>
            <a:r>
              <a:rPr kumimoji="1" lang="en-US" altLang="zh-CN">
                <a:solidFill>
                  <a:schemeClr val="bg1"/>
                </a:solidFill>
              </a:rPr>
              <a:t>【3】</a:t>
            </a:r>
            <a:endParaRPr kumimoji="1" lang="zh-CN" altLang="en-US">
              <a:solidFill>
                <a:schemeClr val="bg1"/>
              </a:solidFill>
            </a:endParaRPr>
          </a:p>
        </p:txBody>
      </p:sp>
    </p:spTree>
    <p:extLst>
      <p:ext uri="{BB962C8B-B14F-4D97-AF65-F5344CB8AC3E}">
        <p14:creationId xmlns:p14="http://schemas.microsoft.com/office/powerpoint/2010/main" val="2823751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836FF-9980-B067-6319-AC6AC8D2F97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FC759DE-237B-EC02-D5EF-D63A8F36FC44}"/>
              </a:ext>
            </a:extLst>
          </p:cNvPr>
          <p:cNvSpPr>
            <a:spLocks noGrp="1"/>
          </p:cNvSpPr>
          <p:nvPr>
            <p:ph type="title"/>
          </p:nvPr>
        </p:nvSpPr>
        <p:spPr/>
        <p:txBody>
          <a:bodyPr>
            <a:normAutofit/>
          </a:bodyPr>
          <a:lstStyle/>
          <a:p>
            <a:r>
              <a:rPr kumimoji="1" lang="en-US" altLang="zh-CN" sz="3200" i="1">
                <a:latin typeface="Times New Roman" panose="02020603050405020304" pitchFamily="18" charset="0"/>
                <a:cs typeface="Times New Roman" panose="02020603050405020304" pitchFamily="18" charset="0"/>
              </a:rPr>
              <a:t>Understanding</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Civilization</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from</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protocol</a:t>
            </a:r>
            <a:r>
              <a:rPr kumimoji="1" lang="zh-CN" altLang="en-US" sz="3200" i="1">
                <a:latin typeface="Times New Roman" panose="02020603050405020304" pitchFamily="18" charset="0"/>
                <a:cs typeface="Times New Roman" panose="02020603050405020304" pitchFamily="18" charset="0"/>
              </a:rPr>
              <a:t> </a:t>
            </a:r>
            <a:r>
              <a:rPr kumimoji="1" lang="en-US" altLang="zh-CN" sz="3200" i="1">
                <a:latin typeface="Times New Roman" panose="02020603050405020304" pitchFamily="18" charset="0"/>
                <a:cs typeface="Times New Roman" panose="02020603050405020304" pitchFamily="18" charset="0"/>
              </a:rPr>
              <a:t>perspective</a:t>
            </a:r>
            <a:endParaRPr kumimoji="1" lang="zh-CN" altLang="en-US" sz="3200"/>
          </a:p>
        </p:txBody>
      </p:sp>
      <p:sp>
        <p:nvSpPr>
          <p:cNvPr id="3" name="内容占位符 2">
            <a:extLst>
              <a:ext uri="{FF2B5EF4-FFF2-40B4-BE49-F238E27FC236}">
                <a16:creationId xmlns:a16="http://schemas.microsoft.com/office/drawing/2014/main" id="{B1B5B62C-03D8-E890-640F-832CE23E3B87}"/>
              </a:ext>
            </a:extLst>
          </p:cNvPr>
          <p:cNvSpPr>
            <a:spLocks noGrp="1"/>
          </p:cNvSpPr>
          <p:nvPr>
            <p:ph idx="1"/>
          </p:nvPr>
        </p:nvSpPr>
        <p:spPr/>
        <p:txBody>
          <a:bodyPr/>
          <a:lstStyle/>
          <a:p>
            <a:r>
              <a:rPr lang="de-DE" altLang="zh-CN" b="1"/>
              <a:t>3.5 Post‐WWII International Order:</a:t>
            </a:r>
            <a:endParaRPr lang="de-DE" altLang="zh-CN"/>
          </a:p>
          <a:p>
            <a:r>
              <a:rPr lang="de-DE" altLang="zh-CN" b="1" err="1"/>
              <a:t>Successes</a:t>
            </a:r>
            <a:r>
              <a:rPr lang="de-DE" altLang="zh-CN" b="1"/>
              <a:t>:</a:t>
            </a:r>
            <a:r>
              <a:rPr lang="de-DE" altLang="zh-CN"/>
              <a:t> The United </a:t>
            </a:r>
            <a:r>
              <a:rPr lang="de-DE" altLang="zh-CN" err="1"/>
              <a:t>Nations</a:t>
            </a:r>
            <a:r>
              <a:rPr lang="de-DE" altLang="zh-CN"/>
              <a:t> Charter </a:t>
            </a:r>
            <a:r>
              <a:rPr lang="de-DE" altLang="zh-CN" err="1"/>
              <a:t>protocols</a:t>
            </a:r>
            <a:r>
              <a:rPr lang="de-DE" altLang="zh-CN"/>
              <a:t>, </a:t>
            </a:r>
            <a:r>
              <a:rPr lang="de-DE" altLang="zh-CN" err="1"/>
              <a:t>the</a:t>
            </a:r>
            <a:r>
              <a:rPr lang="de-DE" altLang="zh-CN"/>
              <a:t> European Single Market;</a:t>
            </a:r>
          </a:p>
          <a:p>
            <a:r>
              <a:rPr lang="de-DE" altLang="zh-CN" b="1" err="1"/>
              <a:t>Failures</a:t>
            </a:r>
            <a:r>
              <a:rPr lang="de-DE" altLang="zh-CN" b="1"/>
              <a:t>:</a:t>
            </a:r>
            <a:r>
              <a:rPr lang="de-DE" altLang="zh-CN"/>
              <a:t> The Kyoto </a:t>
            </a:r>
            <a:r>
              <a:rPr lang="de-DE" altLang="zh-CN" err="1"/>
              <a:t>Protocol’s</a:t>
            </a:r>
            <a:r>
              <a:rPr lang="de-DE" altLang="zh-CN"/>
              <a:t> </a:t>
            </a:r>
            <a:r>
              <a:rPr lang="de-DE" altLang="zh-CN" err="1"/>
              <a:t>weak</a:t>
            </a:r>
            <a:r>
              <a:rPr lang="de-DE" altLang="zh-CN"/>
              <a:t> </a:t>
            </a:r>
            <a:r>
              <a:rPr lang="de-DE" altLang="zh-CN" err="1"/>
              <a:t>enforcement</a:t>
            </a:r>
            <a:r>
              <a:rPr lang="de-DE" altLang="zh-CN"/>
              <a:t>.</a:t>
            </a:r>
          </a:p>
          <a:p>
            <a:r>
              <a:rPr lang="de-DE" altLang="zh-CN"/>
              <a:t>* These </a:t>
            </a:r>
            <a:r>
              <a:rPr lang="de-DE" altLang="zh-CN" err="1"/>
              <a:t>cases</a:t>
            </a:r>
            <a:r>
              <a:rPr lang="de-DE" altLang="zh-CN"/>
              <a:t> </a:t>
            </a:r>
            <a:r>
              <a:rPr lang="de-DE" altLang="zh-CN" err="1"/>
              <a:t>reveal</a:t>
            </a:r>
            <a:r>
              <a:rPr lang="de-DE" altLang="zh-CN"/>
              <a:t> </a:t>
            </a:r>
            <a:r>
              <a:rPr lang="de-DE" altLang="zh-CN" err="1"/>
              <a:t>tensions</a:t>
            </a:r>
            <a:r>
              <a:rPr lang="de-DE" altLang="zh-CN"/>
              <a:t> </a:t>
            </a:r>
            <a:r>
              <a:rPr lang="de-DE" altLang="zh-CN" err="1"/>
              <a:t>between</a:t>
            </a:r>
            <a:r>
              <a:rPr lang="de-DE" altLang="zh-CN"/>
              <a:t> </a:t>
            </a:r>
            <a:r>
              <a:rPr lang="de-DE" altLang="zh-CN" err="1"/>
              <a:t>consensus‐building</a:t>
            </a:r>
            <a:r>
              <a:rPr lang="de-DE" altLang="zh-CN"/>
              <a:t> and </a:t>
            </a:r>
            <a:r>
              <a:rPr lang="de-DE" altLang="zh-CN" err="1"/>
              <a:t>enforceability</a:t>
            </a:r>
            <a:r>
              <a:rPr lang="de-DE" altLang="zh-CN"/>
              <a:t>, </a:t>
            </a:r>
            <a:r>
              <a:rPr lang="de-DE" altLang="zh-CN" err="1"/>
              <a:t>information</a:t>
            </a:r>
            <a:r>
              <a:rPr lang="de-DE" altLang="zh-CN"/>
              <a:t> </a:t>
            </a:r>
            <a:r>
              <a:rPr lang="de-DE" altLang="zh-CN" err="1"/>
              <a:t>asymmetry</a:t>
            </a:r>
            <a:r>
              <a:rPr lang="de-DE" altLang="zh-CN"/>
              <a:t>, and </a:t>
            </a:r>
            <a:r>
              <a:rPr lang="de-DE" altLang="zh-CN" err="1"/>
              <a:t>competing</a:t>
            </a:r>
            <a:r>
              <a:rPr lang="de-DE" altLang="zh-CN"/>
              <a:t> </a:t>
            </a:r>
            <a:r>
              <a:rPr lang="de-DE" altLang="zh-CN" err="1"/>
              <a:t>interests</a:t>
            </a:r>
            <a:endParaRPr lang="de-DE" altLang="zh-CN"/>
          </a:p>
          <a:p>
            <a:endParaRPr kumimoji="1" lang="zh-CN" altLang="en-US"/>
          </a:p>
        </p:txBody>
      </p:sp>
      <p:sp>
        <p:nvSpPr>
          <p:cNvPr id="4" name="文本框 3">
            <a:extLst>
              <a:ext uri="{FF2B5EF4-FFF2-40B4-BE49-F238E27FC236}">
                <a16:creationId xmlns:a16="http://schemas.microsoft.com/office/drawing/2014/main" id="{8AD1F81C-44F3-6776-7CF8-AA22315F0880}"/>
              </a:ext>
            </a:extLst>
          </p:cNvPr>
          <p:cNvSpPr txBox="1"/>
          <p:nvPr/>
        </p:nvSpPr>
        <p:spPr>
          <a:xfrm>
            <a:off x="2254507" y="1755344"/>
            <a:ext cx="767226" cy="369332"/>
          </a:xfrm>
          <a:prstGeom prst="rect">
            <a:avLst/>
          </a:prstGeom>
          <a:noFill/>
        </p:spPr>
        <p:txBody>
          <a:bodyPr wrap="square">
            <a:spAutoFit/>
          </a:bodyPr>
          <a:lstStyle/>
          <a:p>
            <a:r>
              <a:rPr kumimoji="1" lang="en-US" altLang="zh-CN">
                <a:solidFill>
                  <a:schemeClr val="bg1"/>
                </a:solidFill>
              </a:rPr>
              <a:t>【3】</a:t>
            </a:r>
            <a:endParaRPr kumimoji="1" lang="zh-CN" altLang="en-US">
              <a:solidFill>
                <a:schemeClr val="bg1"/>
              </a:solidFill>
            </a:endParaRPr>
          </a:p>
        </p:txBody>
      </p:sp>
    </p:spTree>
    <p:extLst>
      <p:ext uri="{BB962C8B-B14F-4D97-AF65-F5344CB8AC3E}">
        <p14:creationId xmlns:p14="http://schemas.microsoft.com/office/powerpoint/2010/main" val="3994426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93AF5-6086-783A-49CE-3469975050A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4A5343C-F865-6C95-089B-302149F8BD32}"/>
              </a:ext>
            </a:extLst>
          </p:cNvPr>
          <p:cNvSpPr>
            <a:spLocks noGrp="1"/>
          </p:cNvSpPr>
          <p:nvPr>
            <p:ph type="title"/>
          </p:nvPr>
        </p:nvSpPr>
        <p:spPr/>
        <p:txBody>
          <a:bodyPr>
            <a:normAutofit/>
          </a:bodyPr>
          <a:lstStyle/>
          <a:p>
            <a:r>
              <a:rPr lang="de-DE" altLang="zh-CN" sz="3200" i="1">
                <a:latin typeface="Times New Roman" panose="02020603050405020304" pitchFamily="18" charset="0"/>
                <a:cs typeface="Times New Roman" panose="02020603050405020304" pitchFamily="18" charset="0"/>
              </a:rPr>
              <a:t>Further </a:t>
            </a:r>
            <a:r>
              <a:rPr lang="de-DE" altLang="zh-CN" sz="3200" i="1" err="1">
                <a:latin typeface="Times New Roman" panose="02020603050405020304" pitchFamily="18" charset="0"/>
                <a:cs typeface="Times New Roman" panose="02020603050405020304" pitchFamily="18" charset="0"/>
              </a:rPr>
              <a:t>Thematic</a:t>
            </a:r>
            <a:r>
              <a:rPr lang="de-DE" altLang="zh-CN" sz="3200" i="1">
                <a:latin typeface="Times New Roman" panose="02020603050405020304" pitchFamily="18" charset="0"/>
                <a:cs typeface="Times New Roman" panose="02020603050405020304" pitchFamily="18" charset="0"/>
              </a:rPr>
              <a:t> </a:t>
            </a:r>
            <a:r>
              <a:rPr lang="de-DE" altLang="zh-CN" sz="3200" i="1" err="1">
                <a:latin typeface="Times New Roman" panose="02020603050405020304" pitchFamily="18" charset="0"/>
                <a:cs typeface="Times New Roman" panose="02020603050405020304" pitchFamily="18" charset="0"/>
              </a:rPr>
              <a:t>Explorations</a:t>
            </a:r>
            <a:endParaRPr kumimoji="1" lang="zh-CN" altLang="en-US" sz="2400" i="1">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EEC16CB8-0152-35C7-09C2-A5E2D212097C}"/>
              </a:ext>
            </a:extLst>
          </p:cNvPr>
          <p:cNvSpPr>
            <a:spLocks noGrp="1"/>
          </p:cNvSpPr>
          <p:nvPr>
            <p:ph idx="1"/>
          </p:nvPr>
        </p:nvSpPr>
        <p:spPr/>
        <p:txBody>
          <a:bodyPr/>
          <a:lstStyle/>
          <a:p>
            <a:r>
              <a:rPr lang="de-DE" altLang="zh-CN" b="1" dirty="0"/>
              <a:t>4.1 </a:t>
            </a:r>
            <a:r>
              <a:rPr lang="de-DE" altLang="zh-CN" b="1" dirty="0" err="1"/>
              <a:t>Ontology</a:t>
            </a:r>
            <a:r>
              <a:rPr lang="de-DE" altLang="zh-CN" b="1" dirty="0"/>
              <a:t> &amp; </a:t>
            </a:r>
            <a:r>
              <a:rPr lang="de-DE" altLang="zh-CN" b="1" dirty="0" err="1"/>
              <a:t>Epistemology</a:t>
            </a:r>
            <a:r>
              <a:rPr lang="de-DE" altLang="zh-CN" b="1" dirty="0"/>
              <a:t> </a:t>
            </a:r>
            <a:r>
              <a:rPr lang="de-DE" altLang="zh-CN" b="1" dirty="0" err="1"/>
              <a:t>of</a:t>
            </a:r>
            <a:r>
              <a:rPr lang="de-DE" altLang="zh-CN" b="1" dirty="0"/>
              <a:t> “</a:t>
            </a:r>
            <a:r>
              <a:rPr lang="de-DE" altLang="zh-CN" b="1" dirty="0" err="1"/>
              <a:t>Bringing</a:t>
            </a:r>
            <a:r>
              <a:rPr lang="de-DE" altLang="zh-CN" b="1" dirty="0"/>
              <a:t> Back </a:t>
            </a:r>
            <a:r>
              <a:rPr lang="de-DE" altLang="zh-CN" b="1" dirty="0" err="1"/>
              <a:t>the</a:t>
            </a:r>
            <a:r>
              <a:rPr lang="de-DE" altLang="zh-CN" b="1" dirty="0"/>
              <a:t> Objects”: </a:t>
            </a:r>
            <a:endParaRPr lang="de-DE" altLang="zh-CN" dirty="0"/>
          </a:p>
          <a:p>
            <a:r>
              <a:rPr lang="de-DE" altLang="zh-CN" b="1" dirty="0" err="1"/>
              <a:t>Latour’s</a:t>
            </a:r>
            <a:r>
              <a:rPr lang="de-DE" altLang="zh-CN" b="1" dirty="0"/>
              <a:t> Actor‐Network Theory (ANT)</a:t>
            </a:r>
          </a:p>
          <a:p>
            <a:r>
              <a:rPr lang="de-DE" altLang="zh-CN" dirty="0" err="1"/>
              <a:t>Treats</a:t>
            </a:r>
            <a:r>
              <a:rPr lang="de-DE" altLang="zh-CN" dirty="0"/>
              <a:t> </a:t>
            </a:r>
            <a:r>
              <a:rPr lang="de-DE" altLang="zh-CN" dirty="0" err="1"/>
              <a:t>protocols</a:t>
            </a:r>
            <a:r>
              <a:rPr lang="de-DE" altLang="zh-CN" dirty="0"/>
              <a:t> </a:t>
            </a:r>
            <a:r>
              <a:rPr lang="de-DE" altLang="zh-CN" dirty="0" err="1"/>
              <a:t>as</a:t>
            </a:r>
            <a:r>
              <a:rPr lang="de-DE" altLang="zh-CN" dirty="0"/>
              <a:t> </a:t>
            </a:r>
            <a:r>
              <a:rPr lang="de-DE" altLang="zh-CN" dirty="0" err="1"/>
              <a:t>translations</a:t>
            </a:r>
            <a:r>
              <a:rPr lang="de-DE" altLang="zh-CN" dirty="0"/>
              <a:t> </a:t>
            </a:r>
            <a:r>
              <a:rPr lang="de-DE" altLang="zh-CN" dirty="0" err="1"/>
              <a:t>among</a:t>
            </a:r>
            <a:r>
              <a:rPr lang="de-DE" altLang="zh-CN" dirty="0"/>
              <a:t> human and </a:t>
            </a:r>
            <a:r>
              <a:rPr lang="de-DE" altLang="zh-CN" dirty="0" err="1"/>
              <a:t>nonhuman</a:t>
            </a:r>
            <a:r>
              <a:rPr lang="de-DE" altLang="zh-CN" dirty="0"/>
              <a:t> </a:t>
            </a:r>
            <a:r>
              <a:rPr lang="de-DE" altLang="zh-CN" dirty="0" err="1"/>
              <a:t>actors</a:t>
            </a:r>
            <a:r>
              <a:rPr lang="de-DE" altLang="zh-CN" dirty="0"/>
              <a:t>.</a:t>
            </a:r>
          </a:p>
          <a:p>
            <a:endParaRPr lang="de-DE" altLang="zh-CN" dirty="0"/>
          </a:p>
          <a:p>
            <a:endParaRPr lang="de-DE" altLang="zh-CN" dirty="0"/>
          </a:p>
          <a:p>
            <a:r>
              <a:rPr lang="de-DE" altLang="zh-CN" b="1" dirty="0"/>
              <a:t>*** Thousand‐Brain Theory:</a:t>
            </a:r>
            <a:r>
              <a:rPr lang="de-DE" altLang="zh-CN" dirty="0"/>
              <a:t> The </a:t>
            </a:r>
            <a:r>
              <a:rPr lang="de-DE" altLang="zh-CN" dirty="0" err="1"/>
              <a:t>cortex’s</a:t>
            </a:r>
            <a:r>
              <a:rPr lang="de-DE" altLang="zh-CN" dirty="0"/>
              <a:t> </a:t>
            </a:r>
            <a:r>
              <a:rPr lang="de-DE" altLang="zh-CN" dirty="0" err="1"/>
              <a:t>six‐layer</a:t>
            </a:r>
            <a:r>
              <a:rPr lang="de-DE" altLang="zh-CN" dirty="0"/>
              <a:t> </a:t>
            </a:r>
            <a:r>
              <a:rPr lang="de-DE" altLang="zh-CN" dirty="0" err="1"/>
              <a:t>columns</a:t>
            </a:r>
            <a:r>
              <a:rPr lang="de-DE" altLang="zh-CN" dirty="0"/>
              <a:t> </a:t>
            </a:r>
            <a:r>
              <a:rPr lang="de-DE" altLang="zh-CN" dirty="0" err="1"/>
              <a:t>resemble</a:t>
            </a:r>
            <a:r>
              <a:rPr lang="de-DE" altLang="zh-CN" dirty="0"/>
              <a:t> </a:t>
            </a:r>
            <a:r>
              <a:rPr lang="de-DE" altLang="zh-CN" dirty="0" err="1"/>
              <a:t>layered</a:t>
            </a:r>
            <a:r>
              <a:rPr lang="de-DE" altLang="zh-CN" dirty="0"/>
              <a:t> </a:t>
            </a:r>
            <a:r>
              <a:rPr lang="de-DE" altLang="zh-CN" dirty="0" err="1"/>
              <a:t>protocols</a:t>
            </a:r>
            <a:r>
              <a:rPr lang="de-DE" altLang="zh-CN" dirty="0"/>
              <a:t>; “</a:t>
            </a:r>
            <a:r>
              <a:rPr lang="de-DE" altLang="zh-CN" dirty="0" err="1"/>
              <a:t>voting</a:t>
            </a:r>
            <a:r>
              <a:rPr lang="de-DE" altLang="zh-CN" dirty="0"/>
              <a:t> </a:t>
            </a:r>
            <a:r>
              <a:rPr lang="de-DE" altLang="zh-CN" dirty="0" err="1"/>
              <a:t>for</a:t>
            </a:r>
            <a:r>
              <a:rPr lang="de-DE" altLang="zh-CN" dirty="0"/>
              <a:t> </a:t>
            </a:r>
            <a:r>
              <a:rPr lang="de-DE" altLang="zh-CN" dirty="0" err="1"/>
              <a:t>consensus</a:t>
            </a:r>
            <a:r>
              <a:rPr lang="de-DE" altLang="zh-CN" dirty="0"/>
              <a:t>” in </a:t>
            </a:r>
            <a:r>
              <a:rPr lang="de-DE" altLang="zh-CN" dirty="0" err="1"/>
              <a:t>cortical</a:t>
            </a:r>
            <a:r>
              <a:rPr lang="de-DE" altLang="zh-CN" dirty="0"/>
              <a:t> </a:t>
            </a:r>
            <a:r>
              <a:rPr lang="de-DE" altLang="zh-CN" dirty="0" err="1"/>
              <a:t>processing</a:t>
            </a:r>
            <a:r>
              <a:rPr lang="de-DE" altLang="zh-CN" dirty="0"/>
              <a:t> </a:t>
            </a:r>
            <a:r>
              <a:rPr lang="de-DE" altLang="zh-CN" dirty="0" err="1"/>
              <a:t>parallels</a:t>
            </a:r>
            <a:r>
              <a:rPr lang="de-DE" altLang="zh-CN" dirty="0"/>
              <a:t> </a:t>
            </a:r>
            <a:r>
              <a:rPr lang="de-DE" altLang="zh-CN" dirty="0" err="1"/>
              <a:t>distributed</a:t>
            </a:r>
            <a:r>
              <a:rPr lang="de-DE" altLang="zh-CN" dirty="0"/>
              <a:t> </a:t>
            </a:r>
            <a:r>
              <a:rPr lang="de-DE" altLang="zh-CN" dirty="0" err="1"/>
              <a:t>consensus</a:t>
            </a:r>
            <a:r>
              <a:rPr lang="de-DE" altLang="zh-CN" dirty="0"/>
              <a:t> </a:t>
            </a:r>
            <a:r>
              <a:rPr lang="de-DE" altLang="zh-CN" dirty="0" err="1"/>
              <a:t>algorithms</a:t>
            </a:r>
            <a:r>
              <a:rPr lang="de-DE" altLang="zh-CN" dirty="0"/>
              <a:t> </a:t>
            </a:r>
          </a:p>
          <a:p>
            <a:endParaRPr kumimoji="1" lang="zh-CN" altLang="en-US" dirty="0"/>
          </a:p>
        </p:txBody>
      </p:sp>
      <p:sp>
        <p:nvSpPr>
          <p:cNvPr id="4" name="文本框 3">
            <a:extLst>
              <a:ext uri="{FF2B5EF4-FFF2-40B4-BE49-F238E27FC236}">
                <a16:creationId xmlns:a16="http://schemas.microsoft.com/office/drawing/2014/main" id="{3C85CD5A-046D-A3BE-403A-2F4309675401}"/>
              </a:ext>
            </a:extLst>
          </p:cNvPr>
          <p:cNvSpPr txBox="1"/>
          <p:nvPr/>
        </p:nvSpPr>
        <p:spPr>
          <a:xfrm>
            <a:off x="2254507" y="1755344"/>
            <a:ext cx="767226" cy="369332"/>
          </a:xfrm>
          <a:prstGeom prst="rect">
            <a:avLst/>
          </a:prstGeom>
          <a:noFill/>
        </p:spPr>
        <p:txBody>
          <a:bodyPr wrap="square">
            <a:spAutoFit/>
          </a:bodyPr>
          <a:lstStyle/>
          <a:p>
            <a:r>
              <a:rPr kumimoji="1" lang="en-US" altLang="zh-CN">
                <a:solidFill>
                  <a:schemeClr val="bg1"/>
                </a:solidFill>
              </a:rPr>
              <a:t>【4】</a:t>
            </a:r>
            <a:endParaRPr kumimoji="1" lang="zh-CN" altLang="en-US">
              <a:solidFill>
                <a:schemeClr val="bg1"/>
              </a:solidFill>
            </a:endParaRPr>
          </a:p>
        </p:txBody>
      </p:sp>
    </p:spTree>
    <p:extLst>
      <p:ext uri="{BB962C8B-B14F-4D97-AF65-F5344CB8AC3E}">
        <p14:creationId xmlns:p14="http://schemas.microsoft.com/office/powerpoint/2010/main" val="1906175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AFE63-5446-CA07-DA84-FF1BE92300D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A254FD4-4777-1546-B0C3-0A250821B814}"/>
              </a:ext>
            </a:extLst>
          </p:cNvPr>
          <p:cNvSpPr>
            <a:spLocks noGrp="1"/>
          </p:cNvSpPr>
          <p:nvPr>
            <p:ph type="title"/>
          </p:nvPr>
        </p:nvSpPr>
        <p:spPr/>
        <p:txBody>
          <a:bodyPr>
            <a:normAutofit/>
          </a:bodyPr>
          <a:lstStyle/>
          <a:p>
            <a:r>
              <a:rPr lang="de-DE" altLang="zh-CN" sz="3200" i="1">
                <a:latin typeface="Times New Roman" panose="02020603050405020304" pitchFamily="18" charset="0"/>
                <a:cs typeface="Times New Roman" panose="02020603050405020304" pitchFamily="18" charset="0"/>
              </a:rPr>
              <a:t>Further </a:t>
            </a:r>
            <a:r>
              <a:rPr lang="de-DE" altLang="zh-CN" sz="3200" i="1" err="1">
                <a:latin typeface="Times New Roman" panose="02020603050405020304" pitchFamily="18" charset="0"/>
                <a:cs typeface="Times New Roman" panose="02020603050405020304" pitchFamily="18" charset="0"/>
              </a:rPr>
              <a:t>Thematic</a:t>
            </a:r>
            <a:r>
              <a:rPr lang="de-DE" altLang="zh-CN" sz="3200" i="1">
                <a:latin typeface="Times New Roman" panose="02020603050405020304" pitchFamily="18" charset="0"/>
                <a:cs typeface="Times New Roman" panose="02020603050405020304" pitchFamily="18" charset="0"/>
              </a:rPr>
              <a:t> </a:t>
            </a:r>
            <a:r>
              <a:rPr lang="de-DE" altLang="zh-CN" sz="3200" i="1" err="1">
                <a:latin typeface="Times New Roman" panose="02020603050405020304" pitchFamily="18" charset="0"/>
                <a:cs typeface="Times New Roman" panose="02020603050405020304" pitchFamily="18" charset="0"/>
              </a:rPr>
              <a:t>Explorations</a:t>
            </a:r>
            <a:endParaRPr kumimoji="1" lang="zh-CN" altLang="en-US" sz="3200"/>
          </a:p>
        </p:txBody>
      </p:sp>
      <p:sp>
        <p:nvSpPr>
          <p:cNvPr id="3" name="内容占位符 2">
            <a:extLst>
              <a:ext uri="{FF2B5EF4-FFF2-40B4-BE49-F238E27FC236}">
                <a16:creationId xmlns:a16="http://schemas.microsoft.com/office/drawing/2014/main" id="{2AC41C4C-4ECF-CCF5-4213-780E9949E7B3}"/>
              </a:ext>
            </a:extLst>
          </p:cNvPr>
          <p:cNvSpPr>
            <a:spLocks noGrp="1"/>
          </p:cNvSpPr>
          <p:nvPr>
            <p:ph idx="1"/>
          </p:nvPr>
        </p:nvSpPr>
        <p:spPr/>
        <p:txBody>
          <a:bodyPr/>
          <a:lstStyle/>
          <a:p>
            <a:r>
              <a:rPr lang="de-DE" altLang="zh-CN" b="1"/>
              <a:t>4.2 Protocol </a:t>
            </a:r>
            <a:r>
              <a:rPr lang="de-DE" altLang="zh-CN" b="1" err="1"/>
              <a:t>Monoculture</a:t>
            </a:r>
            <a:r>
              <a:rPr lang="de-DE" altLang="zh-CN" b="1"/>
              <a:t> vs. </a:t>
            </a:r>
            <a:r>
              <a:rPr lang="de-DE" altLang="zh-CN" b="1" err="1"/>
              <a:t>Pluralism</a:t>
            </a:r>
            <a:r>
              <a:rPr lang="de-DE" altLang="zh-CN" b="1"/>
              <a:t>:</a:t>
            </a:r>
            <a:endParaRPr lang="de-DE" altLang="zh-CN"/>
          </a:p>
          <a:p>
            <a:r>
              <a:rPr lang="de-DE" altLang="zh-CN" b="1"/>
              <a:t>Western </a:t>
            </a:r>
            <a:r>
              <a:rPr lang="de-DE" altLang="zh-CN" b="1" err="1"/>
              <a:t>Civilization</a:t>
            </a:r>
            <a:r>
              <a:rPr lang="de-DE" altLang="zh-CN" b="1"/>
              <a:t>:</a:t>
            </a:r>
            <a:r>
              <a:rPr lang="de-DE" altLang="zh-CN"/>
              <a:t> Multiple </a:t>
            </a:r>
            <a:r>
              <a:rPr lang="de-DE" altLang="zh-CN" err="1"/>
              <a:t>protocol</a:t>
            </a:r>
            <a:r>
              <a:rPr lang="de-DE" altLang="zh-CN"/>
              <a:t> </a:t>
            </a:r>
            <a:r>
              <a:rPr lang="de-DE" altLang="zh-CN" err="1"/>
              <a:t>mutations</a:t>
            </a:r>
            <a:r>
              <a:rPr lang="de-DE" altLang="zh-CN"/>
              <a:t> </a:t>
            </a:r>
            <a:r>
              <a:rPr lang="de-DE" altLang="zh-CN" err="1"/>
              <a:t>from</a:t>
            </a:r>
            <a:r>
              <a:rPr lang="de-DE" altLang="zh-CN"/>
              <a:t> </a:t>
            </a:r>
            <a:r>
              <a:rPr lang="de-DE" altLang="zh-CN" err="1"/>
              <a:t>Greece</a:t>
            </a:r>
            <a:r>
              <a:rPr lang="de-DE" altLang="zh-CN"/>
              <a:t> </a:t>
            </a:r>
            <a:r>
              <a:rPr lang="de-DE" altLang="zh-CN" err="1"/>
              <a:t>through</a:t>
            </a:r>
            <a:r>
              <a:rPr lang="de-DE" altLang="zh-CN"/>
              <a:t> </a:t>
            </a:r>
            <a:r>
              <a:rPr lang="de-DE" altLang="zh-CN" err="1"/>
              <a:t>the</a:t>
            </a:r>
            <a:r>
              <a:rPr lang="de-DE" altLang="zh-CN"/>
              <a:t> modern </a:t>
            </a:r>
            <a:r>
              <a:rPr lang="de-DE" altLang="zh-CN" err="1"/>
              <a:t>nation‐state</a:t>
            </a:r>
            <a:r>
              <a:rPr lang="de-DE" altLang="zh-CN"/>
              <a:t> </a:t>
            </a:r>
            <a:r>
              <a:rPr lang="de-DE" altLang="zh-CN" err="1"/>
              <a:t>fostered</a:t>
            </a:r>
            <a:r>
              <a:rPr lang="de-DE" altLang="zh-CN"/>
              <a:t> </a:t>
            </a:r>
            <a:r>
              <a:rPr lang="de-DE" altLang="zh-CN" err="1"/>
              <a:t>innovation</a:t>
            </a:r>
            <a:r>
              <a:rPr lang="de-DE" altLang="zh-CN"/>
              <a:t>.</a:t>
            </a:r>
          </a:p>
          <a:p>
            <a:r>
              <a:rPr lang="de-DE" altLang="zh-CN" b="1"/>
              <a:t>Chinese </a:t>
            </a:r>
            <a:r>
              <a:rPr lang="de-DE" altLang="zh-CN" b="1" err="1"/>
              <a:t>Civilization</a:t>
            </a:r>
            <a:r>
              <a:rPr lang="de-DE" altLang="zh-CN" b="1"/>
              <a:t>:</a:t>
            </a:r>
            <a:r>
              <a:rPr lang="de-DE" altLang="zh-CN"/>
              <a:t> </a:t>
            </a:r>
            <a:r>
              <a:rPr lang="de-DE" altLang="zh-CN" err="1"/>
              <a:t>Pre</a:t>
            </a:r>
            <a:r>
              <a:rPr lang="de-DE" altLang="zh-CN"/>
              <a:t>‐Qin </a:t>
            </a:r>
            <a:r>
              <a:rPr lang="de-DE" altLang="zh-CN" err="1"/>
              <a:t>fragmentation</a:t>
            </a:r>
            <a:r>
              <a:rPr lang="de-DE" altLang="zh-CN"/>
              <a:t> </a:t>
            </a:r>
            <a:r>
              <a:rPr lang="de-DE" altLang="zh-CN" err="1"/>
              <a:t>gave</a:t>
            </a:r>
            <a:r>
              <a:rPr lang="de-DE" altLang="zh-CN"/>
              <a:t> </a:t>
            </a:r>
            <a:r>
              <a:rPr lang="de-DE" altLang="zh-CN" err="1"/>
              <a:t>way</a:t>
            </a:r>
            <a:r>
              <a:rPr lang="de-DE" altLang="zh-CN"/>
              <a:t> </a:t>
            </a:r>
            <a:r>
              <a:rPr lang="de-DE" altLang="zh-CN" err="1"/>
              <a:t>to</a:t>
            </a:r>
            <a:r>
              <a:rPr lang="de-DE" altLang="zh-CN"/>
              <a:t> </a:t>
            </a:r>
            <a:r>
              <a:rPr lang="de-DE" altLang="zh-CN" err="1"/>
              <a:t>Qin’s</a:t>
            </a:r>
            <a:r>
              <a:rPr lang="de-DE" altLang="zh-CN"/>
              <a:t> </a:t>
            </a:r>
            <a:r>
              <a:rPr lang="de-DE" altLang="zh-CN" err="1"/>
              <a:t>monolithic</a:t>
            </a:r>
            <a:r>
              <a:rPr lang="de-DE" altLang="zh-CN"/>
              <a:t> </a:t>
            </a:r>
            <a:r>
              <a:rPr lang="de-DE" altLang="zh-CN" err="1"/>
              <a:t>unification</a:t>
            </a:r>
            <a:r>
              <a:rPr lang="de-DE" altLang="zh-CN"/>
              <a:t> </a:t>
            </a:r>
            <a:r>
              <a:rPr lang="de-DE" altLang="zh-CN" err="1"/>
              <a:t>of</a:t>
            </a:r>
            <a:r>
              <a:rPr lang="de-DE" altLang="zh-CN"/>
              <a:t> </a:t>
            </a:r>
            <a:r>
              <a:rPr lang="de-DE" altLang="zh-CN" err="1"/>
              <a:t>script</a:t>
            </a:r>
            <a:r>
              <a:rPr lang="de-DE" altLang="zh-CN"/>
              <a:t>, </a:t>
            </a:r>
            <a:r>
              <a:rPr lang="de-DE" altLang="zh-CN" err="1"/>
              <a:t>weights</a:t>
            </a:r>
            <a:r>
              <a:rPr lang="de-DE" altLang="zh-CN"/>
              <a:t>, ceremonies, and </a:t>
            </a:r>
            <a:r>
              <a:rPr lang="de-DE" altLang="zh-CN" err="1"/>
              <a:t>even</a:t>
            </a:r>
            <a:r>
              <a:rPr lang="de-DE" altLang="zh-CN"/>
              <a:t> </a:t>
            </a:r>
            <a:r>
              <a:rPr lang="de-DE" altLang="zh-CN" err="1"/>
              <a:t>axle</a:t>
            </a:r>
            <a:r>
              <a:rPr lang="de-DE" altLang="zh-CN"/>
              <a:t> </a:t>
            </a:r>
            <a:r>
              <a:rPr lang="de-DE" altLang="zh-CN" err="1"/>
              <a:t>lengths</a:t>
            </a:r>
            <a:r>
              <a:rPr lang="de-DE" altLang="zh-CN"/>
              <a:t>—</a:t>
            </a:r>
            <a:r>
              <a:rPr lang="de-DE" altLang="zh-CN" err="1"/>
              <a:t>yielding</a:t>
            </a:r>
            <a:r>
              <a:rPr lang="de-DE" altLang="zh-CN"/>
              <a:t> </a:t>
            </a:r>
            <a:r>
              <a:rPr lang="de-DE" altLang="zh-CN" err="1"/>
              <a:t>centuries</a:t>
            </a:r>
            <a:r>
              <a:rPr lang="de-DE" altLang="zh-CN"/>
              <a:t> </a:t>
            </a:r>
            <a:r>
              <a:rPr lang="de-DE" altLang="zh-CN" err="1"/>
              <a:t>of</a:t>
            </a:r>
            <a:r>
              <a:rPr lang="de-DE" altLang="zh-CN"/>
              <a:t> </a:t>
            </a:r>
            <a:r>
              <a:rPr lang="de-DE" altLang="zh-CN" err="1"/>
              <a:t>stability</a:t>
            </a:r>
            <a:r>
              <a:rPr lang="de-DE" altLang="zh-CN"/>
              <a:t> but, </a:t>
            </a:r>
            <a:r>
              <a:rPr lang="de-DE" altLang="zh-CN" err="1"/>
              <a:t>by</a:t>
            </a:r>
            <a:r>
              <a:rPr lang="de-DE" altLang="zh-CN"/>
              <a:t> </a:t>
            </a:r>
            <a:r>
              <a:rPr lang="de-DE" altLang="zh-CN" err="1"/>
              <a:t>around</a:t>
            </a:r>
            <a:r>
              <a:rPr lang="de-DE" altLang="zh-CN"/>
              <a:t> 1500, </a:t>
            </a:r>
            <a:r>
              <a:rPr lang="de-DE" altLang="zh-CN" err="1"/>
              <a:t>technological</a:t>
            </a:r>
            <a:r>
              <a:rPr lang="de-DE" altLang="zh-CN"/>
              <a:t> </a:t>
            </a:r>
            <a:r>
              <a:rPr lang="de-DE" altLang="zh-CN" err="1"/>
              <a:t>stagnation</a:t>
            </a:r>
            <a:r>
              <a:rPr lang="de-DE" altLang="zh-CN"/>
              <a:t> relative </a:t>
            </a:r>
            <a:r>
              <a:rPr lang="de-DE" altLang="zh-CN" err="1"/>
              <a:t>to</a:t>
            </a:r>
            <a:r>
              <a:rPr lang="de-DE" altLang="zh-CN"/>
              <a:t> </a:t>
            </a:r>
            <a:r>
              <a:rPr lang="de-DE" altLang="zh-CN" err="1"/>
              <a:t>protocol‐competitive</a:t>
            </a:r>
            <a:r>
              <a:rPr lang="de-DE" altLang="zh-CN"/>
              <a:t> Western </a:t>
            </a:r>
            <a:r>
              <a:rPr lang="de-DE" altLang="zh-CN" err="1"/>
              <a:t>systems</a:t>
            </a:r>
            <a:r>
              <a:rPr lang="de-DE" altLang="zh-CN"/>
              <a:t>.</a:t>
            </a:r>
          </a:p>
          <a:p>
            <a:r>
              <a:rPr lang="de-DE" altLang="zh-CN"/>
              <a:t>This </a:t>
            </a:r>
            <a:r>
              <a:rPr lang="de-DE" altLang="zh-CN" err="1"/>
              <a:t>historical</a:t>
            </a:r>
            <a:r>
              <a:rPr lang="de-DE" altLang="zh-CN"/>
              <a:t> </a:t>
            </a:r>
            <a:r>
              <a:rPr lang="de-DE" altLang="zh-CN" err="1"/>
              <a:t>contrast</a:t>
            </a:r>
            <a:r>
              <a:rPr lang="de-DE" altLang="zh-CN"/>
              <a:t> </a:t>
            </a:r>
            <a:r>
              <a:rPr lang="de-DE" altLang="zh-CN" err="1"/>
              <a:t>informs</a:t>
            </a:r>
            <a:r>
              <a:rPr lang="de-DE" altLang="zh-CN"/>
              <a:t> </a:t>
            </a:r>
            <a:r>
              <a:rPr lang="de-DE" altLang="zh-CN" err="1"/>
              <a:t>our</a:t>
            </a:r>
            <a:r>
              <a:rPr lang="de-DE" altLang="zh-CN"/>
              <a:t> </a:t>
            </a:r>
            <a:r>
              <a:rPr lang="de-DE" altLang="zh-CN" err="1"/>
              <a:t>vision</a:t>
            </a:r>
            <a:r>
              <a:rPr lang="de-DE" altLang="zh-CN"/>
              <a:t> </a:t>
            </a:r>
            <a:r>
              <a:rPr lang="de-DE" altLang="zh-CN" err="1"/>
              <a:t>of</a:t>
            </a:r>
            <a:r>
              <a:rPr lang="de-DE" altLang="zh-CN"/>
              <a:t> a </a:t>
            </a:r>
            <a:r>
              <a:rPr lang="de-DE" altLang="zh-CN" err="1"/>
              <a:t>future</a:t>
            </a:r>
            <a:r>
              <a:rPr lang="de-DE" altLang="zh-CN"/>
              <a:t> “</a:t>
            </a:r>
            <a:r>
              <a:rPr lang="de-DE" altLang="zh-CN" err="1"/>
              <a:t>protocolized</a:t>
            </a:r>
            <a:r>
              <a:rPr lang="de-DE" altLang="zh-CN"/>
              <a:t> </a:t>
            </a:r>
            <a:r>
              <a:rPr lang="de-DE" altLang="zh-CN" err="1"/>
              <a:t>world</a:t>
            </a:r>
            <a:r>
              <a:rPr lang="de-DE" altLang="zh-CN"/>
              <a:t>”: </a:t>
            </a:r>
            <a:r>
              <a:rPr lang="de-DE" altLang="zh-CN" err="1"/>
              <a:t>the</a:t>
            </a:r>
            <a:r>
              <a:rPr lang="de-DE" altLang="zh-CN"/>
              <a:t> </a:t>
            </a:r>
            <a:r>
              <a:rPr lang="de-DE" altLang="zh-CN" err="1"/>
              <a:t>risk</a:t>
            </a:r>
            <a:r>
              <a:rPr lang="de-DE" altLang="zh-CN"/>
              <a:t> </a:t>
            </a:r>
            <a:r>
              <a:rPr lang="de-DE" altLang="zh-CN" err="1"/>
              <a:t>of</a:t>
            </a:r>
            <a:r>
              <a:rPr lang="de-DE" altLang="zh-CN"/>
              <a:t> </a:t>
            </a:r>
            <a:r>
              <a:rPr lang="de-DE" altLang="zh-CN" err="1"/>
              <a:t>monocultures</a:t>
            </a:r>
            <a:r>
              <a:rPr lang="de-DE" altLang="zh-CN"/>
              <a:t> versus </a:t>
            </a:r>
            <a:r>
              <a:rPr lang="de-DE" altLang="zh-CN" err="1"/>
              <a:t>the</a:t>
            </a:r>
            <a:r>
              <a:rPr lang="de-DE" altLang="zh-CN"/>
              <a:t> </a:t>
            </a:r>
            <a:r>
              <a:rPr lang="de-DE" altLang="zh-CN" err="1"/>
              <a:t>dynamism</a:t>
            </a:r>
            <a:r>
              <a:rPr lang="de-DE" altLang="zh-CN"/>
              <a:t> </a:t>
            </a:r>
            <a:r>
              <a:rPr lang="de-DE" altLang="zh-CN" err="1"/>
              <a:t>of</a:t>
            </a:r>
            <a:r>
              <a:rPr lang="de-DE" altLang="zh-CN"/>
              <a:t> </a:t>
            </a:r>
            <a:r>
              <a:rPr lang="de-DE" altLang="zh-CN" err="1"/>
              <a:t>pluralistic</a:t>
            </a:r>
            <a:r>
              <a:rPr lang="de-DE" altLang="zh-CN"/>
              <a:t> </a:t>
            </a:r>
            <a:r>
              <a:rPr lang="de-DE" altLang="zh-CN" err="1"/>
              <a:t>competition</a:t>
            </a:r>
            <a:endParaRPr lang="de-DE" altLang="zh-CN"/>
          </a:p>
          <a:p>
            <a:endParaRPr kumimoji="1" lang="zh-CN" altLang="en-US"/>
          </a:p>
        </p:txBody>
      </p:sp>
      <p:sp>
        <p:nvSpPr>
          <p:cNvPr id="4" name="文本框 3">
            <a:extLst>
              <a:ext uri="{FF2B5EF4-FFF2-40B4-BE49-F238E27FC236}">
                <a16:creationId xmlns:a16="http://schemas.microsoft.com/office/drawing/2014/main" id="{1C52FA5D-925F-6E28-2C82-E60D316BE479}"/>
              </a:ext>
            </a:extLst>
          </p:cNvPr>
          <p:cNvSpPr txBox="1"/>
          <p:nvPr/>
        </p:nvSpPr>
        <p:spPr>
          <a:xfrm>
            <a:off x="2254507" y="1755344"/>
            <a:ext cx="767226" cy="369332"/>
          </a:xfrm>
          <a:prstGeom prst="rect">
            <a:avLst/>
          </a:prstGeom>
          <a:noFill/>
        </p:spPr>
        <p:txBody>
          <a:bodyPr wrap="square">
            <a:spAutoFit/>
          </a:bodyPr>
          <a:lstStyle/>
          <a:p>
            <a:r>
              <a:rPr kumimoji="1" lang="en-US" altLang="zh-CN">
                <a:solidFill>
                  <a:schemeClr val="bg1"/>
                </a:solidFill>
              </a:rPr>
              <a:t>【4】</a:t>
            </a:r>
            <a:endParaRPr kumimoji="1" lang="zh-CN" altLang="en-US">
              <a:solidFill>
                <a:schemeClr val="bg1"/>
              </a:solidFill>
            </a:endParaRPr>
          </a:p>
        </p:txBody>
      </p:sp>
    </p:spTree>
    <p:extLst>
      <p:ext uri="{BB962C8B-B14F-4D97-AF65-F5344CB8AC3E}">
        <p14:creationId xmlns:p14="http://schemas.microsoft.com/office/powerpoint/2010/main" val="493230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6A7AF-3A64-0166-F1FE-11EB2685772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921DC3B-5B67-FBD9-5415-5067E929C238}"/>
              </a:ext>
            </a:extLst>
          </p:cNvPr>
          <p:cNvSpPr>
            <a:spLocks noGrp="1"/>
          </p:cNvSpPr>
          <p:nvPr>
            <p:ph type="title"/>
          </p:nvPr>
        </p:nvSpPr>
        <p:spPr/>
        <p:txBody>
          <a:bodyPr>
            <a:normAutofit/>
          </a:bodyPr>
          <a:lstStyle/>
          <a:p>
            <a:r>
              <a:rPr lang="de-DE" altLang="zh-CN" sz="3200" i="1">
                <a:latin typeface="Times New Roman" panose="02020603050405020304" pitchFamily="18" charset="0"/>
                <a:cs typeface="Times New Roman" panose="02020603050405020304" pitchFamily="18" charset="0"/>
              </a:rPr>
              <a:t>Further </a:t>
            </a:r>
            <a:r>
              <a:rPr lang="de-DE" altLang="zh-CN" sz="3200" i="1" err="1">
                <a:latin typeface="Times New Roman" panose="02020603050405020304" pitchFamily="18" charset="0"/>
                <a:cs typeface="Times New Roman" panose="02020603050405020304" pitchFamily="18" charset="0"/>
              </a:rPr>
              <a:t>Thematic</a:t>
            </a:r>
            <a:r>
              <a:rPr lang="de-DE" altLang="zh-CN" sz="3200" i="1">
                <a:latin typeface="Times New Roman" panose="02020603050405020304" pitchFamily="18" charset="0"/>
                <a:cs typeface="Times New Roman" panose="02020603050405020304" pitchFamily="18" charset="0"/>
              </a:rPr>
              <a:t> </a:t>
            </a:r>
            <a:r>
              <a:rPr lang="de-DE" altLang="zh-CN" sz="3200" i="1" err="1">
                <a:latin typeface="Times New Roman" panose="02020603050405020304" pitchFamily="18" charset="0"/>
                <a:cs typeface="Times New Roman" panose="02020603050405020304" pitchFamily="18" charset="0"/>
              </a:rPr>
              <a:t>Explorations</a:t>
            </a:r>
            <a:endParaRPr kumimoji="1" lang="zh-CN" altLang="en-US" sz="3200"/>
          </a:p>
        </p:txBody>
      </p:sp>
      <p:sp>
        <p:nvSpPr>
          <p:cNvPr id="3" name="内容占位符 2">
            <a:extLst>
              <a:ext uri="{FF2B5EF4-FFF2-40B4-BE49-F238E27FC236}">
                <a16:creationId xmlns:a16="http://schemas.microsoft.com/office/drawing/2014/main" id="{F31F8D56-4159-21FC-F7E6-9052722B308A}"/>
              </a:ext>
            </a:extLst>
          </p:cNvPr>
          <p:cNvSpPr>
            <a:spLocks noGrp="1"/>
          </p:cNvSpPr>
          <p:nvPr>
            <p:ph idx="1"/>
          </p:nvPr>
        </p:nvSpPr>
        <p:spPr/>
        <p:txBody>
          <a:bodyPr>
            <a:normAutofit/>
          </a:bodyPr>
          <a:lstStyle/>
          <a:p>
            <a:r>
              <a:rPr lang="de-DE" altLang="zh-CN" b="1" dirty="0"/>
              <a:t>4.3 </a:t>
            </a:r>
            <a:r>
              <a:rPr lang="de-DE" altLang="zh-CN" b="1" dirty="0" err="1"/>
              <a:t>Systemic</a:t>
            </a:r>
            <a:r>
              <a:rPr lang="de-DE" altLang="zh-CN" b="1" dirty="0"/>
              <a:t> vs. Agent‐</a:t>
            </a:r>
            <a:r>
              <a:rPr lang="de-DE" altLang="zh-CN" b="1" dirty="0" err="1"/>
              <a:t>Centered</a:t>
            </a:r>
            <a:r>
              <a:rPr lang="de-DE" altLang="zh-CN" b="1" dirty="0"/>
              <a:t> Lenses</a:t>
            </a:r>
          </a:p>
          <a:p>
            <a:r>
              <a:rPr lang="de-DE" altLang="zh-CN" dirty="0"/>
              <a:t>* Angela </a:t>
            </a:r>
            <a:r>
              <a:rPr lang="de-DE" altLang="zh-CN" dirty="0" err="1"/>
              <a:t>Walch’s</a:t>
            </a:r>
            <a:r>
              <a:rPr lang="de-DE" altLang="zh-CN" dirty="0"/>
              <a:t> “The Protocol System Experience“</a:t>
            </a:r>
            <a:endParaRPr lang="de-DE" altLang="zh-CN" b="1" dirty="0"/>
          </a:p>
          <a:p>
            <a:r>
              <a:rPr lang="de-DE" altLang="zh-CN" dirty="0" err="1"/>
              <a:t>Seeing</a:t>
            </a:r>
            <a:r>
              <a:rPr lang="de-DE" altLang="zh-CN" dirty="0"/>
              <a:t> </a:t>
            </a:r>
            <a:r>
              <a:rPr lang="de-DE" altLang="zh-CN" dirty="0" err="1"/>
              <a:t>protocols</a:t>
            </a:r>
            <a:r>
              <a:rPr lang="de-DE" altLang="zh-CN" dirty="0"/>
              <a:t> </a:t>
            </a:r>
            <a:r>
              <a:rPr lang="de-DE" altLang="zh-CN" dirty="0" err="1"/>
              <a:t>as</a:t>
            </a:r>
            <a:r>
              <a:rPr lang="de-DE" altLang="zh-CN" dirty="0"/>
              <a:t> </a:t>
            </a:r>
            <a:r>
              <a:rPr lang="de-DE" altLang="zh-CN" dirty="0" err="1"/>
              <a:t>system‐communication</a:t>
            </a:r>
            <a:r>
              <a:rPr lang="de-DE" altLang="zh-CN" dirty="0"/>
              <a:t> </a:t>
            </a:r>
            <a:r>
              <a:rPr lang="de-DE" altLang="zh-CN" dirty="0" err="1"/>
              <a:t>excels</a:t>
            </a:r>
            <a:r>
              <a:rPr lang="de-DE" altLang="zh-CN" dirty="0"/>
              <a:t> at </a:t>
            </a:r>
            <a:r>
              <a:rPr lang="de-DE" altLang="zh-CN" dirty="0" err="1"/>
              <a:t>efficiency</a:t>
            </a:r>
            <a:r>
              <a:rPr lang="de-DE" altLang="zh-CN" dirty="0"/>
              <a:t> and </a:t>
            </a:r>
            <a:r>
              <a:rPr lang="de-DE" altLang="zh-CN" dirty="0" err="1"/>
              <a:t>stability</a:t>
            </a:r>
            <a:r>
              <a:rPr lang="de-DE" altLang="zh-CN" dirty="0"/>
              <a:t> but </a:t>
            </a:r>
            <a:r>
              <a:rPr lang="de-DE" altLang="zh-CN" dirty="0" err="1"/>
              <a:t>may</a:t>
            </a:r>
            <a:r>
              <a:rPr lang="de-DE" altLang="zh-CN" dirty="0"/>
              <a:t> </a:t>
            </a:r>
            <a:r>
              <a:rPr lang="de-DE" altLang="zh-CN" dirty="0" err="1"/>
              <a:t>obscure</a:t>
            </a:r>
            <a:r>
              <a:rPr lang="de-DE" altLang="zh-CN" dirty="0"/>
              <a:t> human </a:t>
            </a:r>
            <a:r>
              <a:rPr lang="de-DE" altLang="zh-CN" dirty="0" err="1"/>
              <a:t>agency</a:t>
            </a:r>
            <a:r>
              <a:rPr lang="de-DE" altLang="zh-CN" dirty="0"/>
              <a:t> and </a:t>
            </a:r>
            <a:r>
              <a:rPr lang="de-DE" altLang="zh-CN" dirty="0" err="1"/>
              <a:t>creativity</a:t>
            </a:r>
            <a:r>
              <a:rPr lang="de-DE" altLang="zh-CN" dirty="0"/>
              <a:t>.</a:t>
            </a:r>
          </a:p>
          <a:p>
            <a:r>
              <a:rPr lang="de-DE" altLang="zh-CN" dirty="0" err="1"/>
              <a:t>Protocols</a:t>
            </a:r>
            <a:r>
              <a:rPr lang="de-DE" altLang="zh-CN" dirty="0"/>
              <a:t> mediate not </a:t>
            </a:r>
            <a:r>
              <a:rPr lang="de-DE" altLang="zh-CN" dirty="0" err="1"/>
              <a:t>only</a:t>
            </a:r>
            <a:r>
              <a:rPr lang="de-DE" altLang="zh-CN" dirty="0"/>
              <a:t> </a:t>
            </a:r>
            <a:r>
              <a:rPr lang="de-DE" altLang="zh-CN" dirty="0" err="1"/>
              <a:t>data</a:t>
            </a:r>
            <a:r>
              <a:rPr lang="de-DE" altLang="zh-CN" dirty="0"/>
              <a:t> but </a:t>
            </a:r>
            <a:r>
              <a:rPr lang="de-DE" altLang="zh-CN" dirty="0" err="1"/>
              <a:t>lived</a:t>
            </a:r>
            <a:r>
              <a:rPr lang="de-DE" altLang="zh-CN" dirty="0"/>
              <a:t> </a:t>
            </a:r>
            <a:r>
              <a:rPr lang="de-DE" altLang="zh-CN" dirty="0" err="1"/>
              <a:t>experience</a:t>
            </a:r>
            <a:endParaRPr lang="de-DE" altLang="zh-CN" dirty="0"/>
          </a:p>
          <a:p>
            <a:pPr marL="0" indent="0">
              <a:buNone/>
            </a:pPr>
            <a:r>
              <a:rPr lang="de-DE" altLang="zh-CN" dirty="0"/>
              <a:t>     </a:t>
            </a:r>
            <a:r>
              <a:rPr lang="de-DE" altLang="zh-CN" dirty="0" err="1"/>
              <a:t>protocol</a:t>
            </a:r>
            <a:r>
              <a:rPr lang="de-DE" altLang="zh-CN" dirty="0"/>
              <a:t> </a:t>
            </a:r>
            <a:r>
              <a:rPr lang="de-DE" altLang="zh-CN" dirty="0" err="1"/>
              <a:t>of</a:t>
            </a:r>
            <a:r>
              <a:rPr lang="de-DE" altLang="zh-CN" dirty="0"/>
              <a:t> </a:t>
            </a:r>
            <a:r>
              <a:rPr lang="de-DE" altLang="zh-CN" dirty="0" err="1"/>
              <a:t>subjective</a:t>
            </a:r>
            <a:r>
              <a:rPr lang="de-DE" altLang="zh-CN" dirty="0"/>
              <a:t> </a:t>
            </a:r>
            <a:r>
              <a:rPr lang="de-DE" altLang="zh-CN" dirty="0" err="1"/>
              <a:t>experience</a:t>
            </a:r>
            <a:r>
              <a:rPr lang="de-DE" altLang="zh-CN" dirty="0"/>
              <a:t> </a:t>
            </a:r>
            <a:r>
              <a:rPr lang="de-DE" altLang="zh-CN" dirty="0" err="1"/>
              <a:t>or</a:t>
            </a:r>
            <a:r>
              <a:rPr lang="de-DE" altLang="zh-CN" dirty="0"/>
              <a:t> </a:t>
            </a:r>
            <a:r>
              <a:rPr lang="de-DE" altLang="zh-CN" dirty="0" err="1"/>
              <a:t>protocol</a:t>
            </a:r>
            <a:r>
              <a:rPr lang="de-DE" altLang="zh-CN" dirty="0"/>
              <a:t> </a:t>
            </a:r>
            <a:r>
              <a:rPr lang="de-DE" altLang="zh-CN" dirty="0" err="1"/>
              <a:t>of</a:t>
            </a:r>
            <a:r>
              <a:rPr lang="de-DE" altLang="zh-CN" dirty="0"/>
              <a:t> </a:t>
            </a:r>
            <a:r>
              <a:rPr lang="de-DE" altLang="zh-CN" dirty="0" err="1"/>
              <a:t>sensation</a:t>
            </a:r>
            <a:r>
              <a:rPr lang="de-DE" altLang="zh-CN" dirty="0"/>
              <a:t>? </a:t>
            </a:r>
            <a:r>
              <a:rPr lang="de-DE" altLang="zh-CN" dirty="0" err="1"/>
              <a:t>Reflection</a:t>
            </a:r>
            <a:r>
              <a:rPr lang="de-DE" altLang="zh-CN" dirty="0"/>
              <a:t> on </a:t>
            </a:r>
            <a:r>
              <a:rPr lang="de-DE" altLang="zh-CN" dirty="0" err="1"/>
              <a:t>protocol</a:t>
            </a:r>
            <a:r>
              <a:rPr lang="de-DE" altLang="zh-CN" dirty="0"/>
              <a:t> and </a:t>
            </a:r>
            <a:r>
              <a:rPr lang="de-DE" altLang="zh-CN" dirty="0" err="1"/>
              <a:t>Gnosticism</a:t>
            </a:r>
            <a:r>
              <a:rPr lang="de-DE" altLang="zh-CN" dirty="0"/>
              <a:t> …</a:t>
            </a:r>
          </a:p>
          <a:p>
            <a:pPr marL="0" indent="0">
              <a:buNone/>
            </a:pPr>
            <a:r>
              <a:rPr lang="de-DE" altLang="zh-CN" dirty="0"/>
              <a:t>      *</a:t>
            </a:r>
            <a:r>
              <a:rPr lang="de-DE" altLang="zh-CN" dirty="0" err="1"/>
              <a:t>Wittgenstein‘s</a:t>
            </a:r>
            <a:r>
              <a:rPr lang="de-DE" altLang="zh-CN" dirty="0"/>
              <a:t> private </a:t>
            </a:r>
            <a:r>
              <a:rPr lang="de-DE" altLang="zh-CN" dirty="0" err="1"/>
              <a:t>language</a:t>
            </a:r>
            <a:r>
              <a:rPr lang="de-DE" altLang="zh-CN" dirty="0"/>
              <a:t> </a:t>
            </a:r>
            <a:r>
              <a:rPr lang="de-DE" altLang="zh-CN" dirty="0" err="1"/>
              <a:t>has</a:t>
            </a:r>
            <a:r>
              <a:rPr lang="de-DE" altLang="zh-CN" dirty="0"/>
              <a:t> </a:t>
            </a:r>
            <a:r>
              <a:rPr lang="de-DE" altLang="zh-CN" dirty="0" err="1"/>
              <a:t>no</a:t>
            </a:r>
            <a:r>
              <a:rPr lang="de-DE" altLang="zh-CN" dirty="0"/>
              <a:t> </a:t>
            </a:r>
            <a:r>
              <a:rPr lang="de-DE" altLang="zh-CN" dirty="0" err="1"/>
              <a:t>meaning</a:t>
            </a:r>
            <a:r>
              <a:rPr lang="de-DE" altLang="zh-CN" dirty="0"/>
              <a:t> </a:t>
            </a:r>
          </a:p>
          <a:p>
            <a:r>
              <a:rPr lang="de-DE" altLang="zh-CN" dirty="0"/>
              <a:t>“Hard” vs. “soft,” “</a:t>
            </a:r>
            <a:r>
              <a:rPr lang="de-DE" altLang="zh-CN" dirty="0" err="1"/>
              <a:t>atomic</a:t>
            </a:r>
            <a:r>
              <a:rPr lang="de-DE" altLang="zh-CN" dirty="0"/>
              <a:t>” vs. “</a:t>
            </a:r>
            <a:r>
              <a:rPr lang="de-DE" altLang="zh-CN" dirty="0" err="1"/>
              <a:t>system</a:t>
            </a:r>
            <a:r>
              <a:rPr lang="de-DE" altLang="zh-CN" dirty="0"/>
              <a:t>” </a:t>
            </a:r>
            <a:r>
              <a:rPr lang="de-DE" altLang="zh-CN" dirty="0" err="1"/>
              <a:t>protocols</a:t>
            </a:r>
            <a:r>
              <a:rPr lang="de-DE" altLang="zh-CN" dirty="0"/>
              <a:t> </a:t>
            </a:r>
            <a:r>
              <a:rPr lang="de-DE" altLang="zh-CN" dirty="0" err="1"/>
              <a:t>have</a:t>
            </a:r>
            <a:r>
              <a:rPr lang="de-DE" altLang="zh-CN" dirty="0"/>
              <a:t> </a:t>
            </a:r>
            <a:r>
              <a:rPr lang="de-DE" altLang="zh-CN" dirty="0" err="1"/>
              <a:t>distinct</a:t>
            </a:r>
            <a:r>
              <a:rPr lang="de-DE" altLang="zh-CN" dirty="0"/>
              <a:t> </a:t>
            </a:r>
            <a:r>
              <a:rPr lang="de-DE" altLang="zh-CN" dirty="0" err="1"/>
              <a:t>experiential</a:t>
            </a:r>
            <a:r>
              <a:rPr lang="de-DE" altLang="zh-CN" dirty="0"/>
              <a:t> </a:t>
            </a:r>
            <a:r>
              <a:rPr lang="de-DE" altLang="zh-CN" dirty="0" err="1"/>
              <a:t>effects</a:t>
            </a:r>
            <a:endParaRPr lang="de-DE" altLang="zh-CN" dirty="0"/>
          </a:p>
          <a:p>
            <a:r>
              <a:rPr lang="de-DE" altLang="zh-CN" dirty="0" err="1"/>
              <a:t>How</a:t>
            </a:r>
            <a:r>
              <a:rPr lang="de-DE" altLang="zh-CN" dirty="0"/>
              <a:t> </a:t>
            </a:r>
            <a:r>
              <a:rPr lang="de-DE" altLang="zh-CN" dirty="0" err="1"/>
              <a:t>to</a:t>
            </a:r>
            <a:r>
              <a:rPr lang="de-DE" altLang="zh-CN" dirty="0"/>
              <a:t> </a:t>
            </a:r>
            <a:r>
              <a:rPr lang="de-DE" altLang="zh-CN" dirty="0" err="1"/>
              <a:t>balancing</a:t>
            </a:r>
            <a:r>
              <a:rPr lang="de-DE" altLang="zh-CN" dirty="0"/>
              <a:t> </a:t>
            </a:r>
            <a:r>
              <a:rPr lang="de-DE" altLang="zh-CN" dirty="0" err="1"/>
              <a:t>rule‐of‐law</a:t>
            </a:r>
            <a:r>
              <a:rPr lang="de-DE" altLang="zh-CN" dirty="0"/>
              <a:t> </a:t>
            </a:r>
            <a:r>
              <a:rPr lang="de-DE" altLang="zh-CN" dirty="0" err="1"/>
              <a:t>with</a:t>
            </a:r>
            <a:r>
              <a:rPr lang="de-DE" altLang="zh-CN" dirty="0"/>
              <a:t> humane </a:t>
            </a:r>
            <a:r>
              <a:rPr lang="de-DE" altLang="zh-CN" dirty="0" err="1"/>
              <a:t>considerations</a:t>
            </a:r>
            <a:r>
              <a:rPr lang="de-DE" altLang="zh-CN" dirty="0"/>
              <a:t> in a </a:t>
            </a:r>
            <a:r>
              <a:rPr lang="de-DE" altLang="zh-CN" dirty="0" err="1"/>
              <a:t>protocolized</a:t>
            </a:r>
            <a:r>
              <a:rPr lang="de-DE" altLang="zh-CN" dirty="0"/>
              <a:t> </a:t>
            </a:r>
            <a:r>
              <a:rPr lang="de-DE" altLang="zh-CN" dirty="0" err="1"/>
              <a:t>future</a:t>
            </a:r>
            <a:endParaRPr lang="de-DE" altLang="zh-CN" dirty="0"/>
          </a:p>
        </p:txBody>
      </p:sp>
      <p:sp>
        <p:nvSpPr>
          <p:cNvPr id="4" name="文本框 3">
            <a:extLst>
              <a:ext uri="{FF2B5EF4-FFF2-40B4-BE49-F238E27FC236}">
                <a16:creationId xmlns:a16="http://schemas.microsoft.com/office/drawing/2014/main" id="{FF88495C-43D9-5C8C-73DD-3126FE13CD73}"/>
              </a:ext>
            </a:extLst>
          </p:cNvPr>
          <p:cNvSpPr txBox="1"/>
          <p:nvPr/>
        </p:nvSpPr>
        <p:spPr>
          <a:xfrm>
            <a:off x="2254507" y="1755344"/>
            <a:ext cx="767226" cy="369332"/>
          </a:xfrm>
          <a:prstGeom prst="rect">
            <a:avLst/>
          </a:prstGeom>
          <a:noFill/>
        </p:spPr>
        <p:txBody>
          <a:bodyPr wrap="square">
            <a:spAutoFit/>
          </a:bodyPr>
          <a:lstStyle/>
          <a:p>
            <a:r>
              <a:rPr kumimoji="1" lang="en-US" altLang="zh-CN">
                <a:solidFill>
                  <a:schemeClr val="bg1"/>
                </a:solidFill>
              </a:rPr>
              <a:t>【4】</a:t>
            </a:r>
            <a:endParaRPr kumimoji="1" lang="zh-CN" altLang="en-US">
              <a:solidFill>
                <a:schemeClr val="bg1"/>
              </a:solidFill>
            </a:endParaRPr>
          </a:p>
        </p:txBody>
      </p:sp>
    </p:spTree>
    <p:extLst>
      <p:ext uri="{BB962C8B-B14F-4D97-AF65-F5344CB8AC3E}">
        <p14:creationId xmlns:p14="http://schemas.microsoft.com/office/powerpoint/2010/main" val="368385395"/>
      </p:ext>
    </p:extLst>
  </p:cSld>
  <p:clrMapOvr>
    <a:masterClrMapping/>
  </p:clrMapOvr>
</p:sld>
</file>

<file path=ppt/theme/theme1.xml><?xml version="1.0" encoding="utf-8"?>
<a:theme xmlns:a="http://schemas.openxmlformats.org/drawingml/2006/main" name="地图集">
  <a:themeElements>
    <a:clrScheme name="地图集">
      <a:dk1>
        <a:sysClr val="windowText" lastClr="000000"/>
      </a:dk1>
      <a:lt1>
        <a:sysClr val="window" lastClr="FFFFFF"/>
      </a:lt1>
      <a:dk2>
        <a:srgbClr val="454545"/>
      </a:dk2>
      <a:lt2>
        <a:srgbClr val="E0E0E0"/>
      </a:lt2>
      <a:accent1>
        <a:srgbClr val="F3960F"/>
      </a:accent1>
      <a:accent2>
        <a:srgbClr val="E04116"/>
      </a:accent2>
      <a:accent3>
        <a:srgbClr val="9D4DE7"/>
      </a:accent3>
      <a:accent4>
        <a:srgbClr val="449EF3"/>
      </a:accent4>
      <a:accent5>
        <a:srgbClr val="39C6BE"/>
      </a:accent5>
      <a:accent6>
        <a:srgbClr val="88C933"/>
      </a:accent6>
      <a:hlink>
        <a:srgbClr val="EBB41F"/>
      </a:hlink>
      <a:folHlink>
        <a:srgbClr val="E1D676"/>
      </a:folHlink>
    </a:clrScheme>
    <a:fontScheme name="地图集">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地图集">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29B3952A-A5A2-4E72-A5C9-A88B41734E0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{C863AF64-E852-9D4F-8B0E-1C24760D4A1C}tf16401369</Template>
  <TotalTime>14336</TotalTime>
  <Words>1229</Words>
  <Application>Microsoft Macintosh PowerPoint</Application>
  <PresentationFormat>宽屏</PresentationFormat>
  <Paragraphs>116</Paragraphs>
  <Slides>18</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等线</vt:lpstr>
      <vt:lpstr>Arial</vt:lpstr>
      <vt:lpstr>Calibri Light</vt:lpstr>
      <vt:lpstr>Rockwell</vt:lpstr>
      <vt:lpstr>Times New Roman</vt:lpstr>
      <vt:lpstr>Wingdings</vt:lpstr>
      <vt:lpstr>地图集</vt:lpstr>
      <vt:lpstr>Toward a social science of protocol</vt:lpstr>
      <vt:lpstr>Core Concepts &amp; Three Theoretical Lenses </vt:lpstr>
      <vt:lpstr>Core Concepts &amp; Three Theoretical Lenses </vt:lpstr>
      <vt:lpstr>PowerPoint 演示文稿</vt:lpstr>
      <vt:lpstr>PowerPoint 演示文稿</vt:lpstr>
      <vt:lpstr>Today’s Focus</vt:lpstr>
      <vt:lpstr>Protocol Perspective in Natural Language &amp; Socio‐Cultural Communication</vt:lpstr>
      <vt:lpstr>Protocol Perspective in Natural Language &amp; Socio‐Cultural Communication</vt:lpstr>
      <vt:lpstr>Protocol Perspective in Natural Language &amp; Socio‐Cultural Communication</vt:lpstr>
      <vt:lpstr>Understanding Civilization from protocol perspective</vt:lpstr>
      <vt:lpstr>Understanding Civilization from protocol perspective</vt:lpstr>
      <vt:lpstr>Understanding Civilization from protocol perspective</vt:lpstr>
      <vt:lpstr>Understanding Civilization from protocol perspective</vt:lpstr>
      <vt:lpstr>Understanding Civilization from protocol perspective</vt:lpstr>
      <vt:lpstr>Understanding Civilization from protocol perspective</vt:lpstr>
      <vt:lpstr>Further Thematic Explorations</vt:lpstr>
      <vt:lpstr>Further Thematic Explorations</vt:lpstr>
      <vt:lpstr>Further Thematic Explorations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_ G</dc:creator>
  <cp:lastModifiedBy>_ G</cp:lastModifiedBy>
  <cp:revision>9</cp:revision>
  <dcterms:created xsi:type="dcterms:W3CDTF">2025-07-16T12:07:37Z</dcterms:created>
  <dcterms:modified xsi:type="dcterms:W3CDTF">2025-09-10T08:46:51Z</dcterms:modified>
</cp:coreProperties>
</file>